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line, then pause. Let people actually remember. Do not rush to the second line. Nobody needs a citation for this one because everybody has lived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 not rush it and do not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 If asked about the date: the gap it describes was measured again by Statistics Canada in 2022 and by the US Bureau of Labor Statistics in 2025, and it has not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371600"/>
            <a:ext cx="10424160" cy="822960"/>
          </a:xfrm>
          <a:prstGeom prst="rect">
            <a:avLst/>
          </a:prstGeom>
          <a:noFill/>
          <a:ln/>
        </p:spPr>
        <p:txBody>
          <a:bodyPr wrap="square" lIns="0" tIns="0" rIns="0" bIns="0" rtlCol="0" anchor="ctr"/>
          <a:lstStyle/>
          <a:p>
            <a:pPr indent="0" marL="0">
              <a:buNone/>
            </a:pPr>
            <a:r>
              <a:rPr lang="en-US" sz="4200" b="1" dirty="0">
                <a:solidFill>
                  <a:srgbClr val="F7F5EF"/>
                </a:solidFill>
                <a:latin typeface="Cambria" pitchFamily="34" charset="0"/>
                <a:ea typeface="Cambria" pitchFamily="34" charset="-122"/>
                <a:cs typeface="Cambria" pitchFamily="34" charset="-120"/>
              </a:rPr>
              <a:t>You have already done this.</a:t>
            </a:r>
            <a:endParaRPr lang="en-US" sz="4200" dirty="0"/>
          </a:p>
        </p:txBody>
      </p:sp>
      <p:sp>
        <p:nvSpPr>
          <p:cNvPr id="3" name="Text 1"/>
          <p:cNvSpPr txBox="1"/>
          <p:nvPr/>
        </p:nvSpPr>
        <p:spPr>
          <a:xfrm>
            <a:off x="777240" y="2514600"/>
            <a:ext cx="9966960" cy="91440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Think of the last time something at work was quietly hard. The chair. The light. A meeting at the wrong hour for your body.</a:t>
            </a:r>
            <a:endParaRPr lang="en-US" sz="2100" dirty="0"/>
          </a:p>
        </p:txBody>
      </p:sp>
      <p:sp>
        <p:nvSpPr>
          <p:cNvPr id="4" name="Text 2"/>
          <p:cNvSpPr txBox="1"/>
          <p:nvPr/>
        </p:nvSpPr>
        <p:spPr>
          <a:xfrm>
            <a:off x="777240" y="3611880"/>
            <a:ext cx="9966960" cy="100584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You worked out what it would take to ask. Who you would have to tell. How it would sound. And you decided it was not worth the conversation.</a:t>
            </a:r>
            <a:endParaRPr lang="en-US" sz="2100" dirty="0"/>
          </a:p>
        </p:txBody>
      </p:sp>
      <p:sp>
        <p:nvSpPr>
          <p:cNvPr id="5" name="Text 3"/>
          <p:cNvSpPr txBox="1"/>
          <p:nvPr/>
        </p:nvSpPr>
        <p:spPr>
          <a:xfrm>
            <a:off x="777240" y="4892040"/>
            <a:ext cx="9966960" cy="731520"/>
          </a:xfrm>
          <a:prstGeom prst="rect">
            <a:avLst/>
          </a:prstGeom>
          <a:noFill/>
          <a:ln/>
        </p:spPr>
        <p:txBody>
          <a:bodyPr wrap="square" lIns="0" tIns="0" rIns="0" bIns="0" rtlCol="0" anchor="ctr"/>
          <a:lstStyle/>
          <a:p>
            <a:pPr indent="0" marL="0">
              <a:buNone/>
            </a:pPr>
            <a:r>
              <a:rPr lang="en-US" sz="2600" i="1" dirty="0">
                <a:solidFill>
                  <a:srgbClr val="E8C87A"/>
                </a:solidFill>
                <a:latin typeface="Cambria" pitchFamily="34" charset="0"/>
                <a:ea typeface="Cambria" pitchFamily="34" charset="-122"/>
                <a:cs typeface="Cambria" pitchFamily="34" charset="-120"/>
              </a:rPr>
              <a:t>Now make it permanent, and make the conversation about your body.</a:t>
            </a:r>
            <a:endParaRPr lang="en-US" sz="2600" dirty="0"/>
          </a:p>
        </p:txBody>
      </p:sp>
      <p:sp>
        <p:nvSpPr>
          <p:cNvPr id="6" name="Text 4"/>
          <p:cNvSpPr txBox="1"/>
          <p:nvPr/>
        </p:nvSpPr>
        <p:spPr>
          <a:xfrm>
            <a:off x="777240" y="5897880"/>
            <a:ext cx="10058400" cy="45720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That is the whole problem. Everyone in this room has felt the small version of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YOU DECIDED NOT TO DO</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Now imagine the form was mandatory.</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You did that calculation privately and moved on.</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For roughly three in ten people at work, that calculation is not occasional. It is a standing condition of the job, and the price of getting it wrong is not an awkward moment. It is being seen as difficult, or fragile, or not worth staffing.</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And the way through is almost never a conversation. It is this.</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 not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 not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is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The form, the login, the policy nobody can find,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say everyone is equal. In a market, everyone is a transaction. It should not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things, and an appendix.</a:t>
            </a:r>
            <a:endParaRPr lang="en-US" sz="3300" dirty="0"/>
          </a:p>
        </p:txBody>
      </p:sp>
      <p:sp>
        <p:nvSpPr>
          <p:cNvPr id="4" name="Text 2"/>
          <p:cNvSpPr txBox="1"/>
          <p:nvPr/>
        </p:nvSpPr>
        <p:spPr>
          <a:xfrm>
            <a:off x="777240" y="171907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01</a:t>
            </a:r>
            <a:endParaRPr lang="en-US" sz="1900" dirty="0"/>
          </a:p>
        </p:txBody>
      </p:sp>
      <p:sp>
        <p:nvSpPr>
          <p:cNvPr id="5" name="Text 3"/>
          <p:cNvSpPr txBox="1"/>
          <p:nvPr/>
        </p:nvSpPr>
        <p:spPr>
          <a:xfrm>
            <a:off x="1645920" y="171907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cost of telling</a:t>
            </a:r>
            <a:endParaRPr lang="en-US" sz="1700" dirty="0"/>
          </a:p>
        </p:txBody>
      </p:sp>
      <p:sp>
        <p:nvSpPr>
          <p:cNvPr id="6" name="Text 4"/>
          <p:cNvSpPr txBox="1"/>
          <p:nvPr/>
        </p:nvSpPr>
        <p:spPr>
          <a:xfrm>
            <a:off x="4846320" y="174650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200" dirty="0"/>
          </a:p>
        </p:txBody>
      </p:sp>
      <p:sp>
        <p:nvSpPr>
          <p:cNvPr id="7" name="Text 5"/>
          <p:cNvSpPr txBox="1"/>
          <p:nvPr/>
        </p:nvSpPr>
        <p:spPr>
          <a:xfrm>
            <a:off x="777240" y="2377440"/>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02</a:t>
            </a:r>
            <a:endParaRPr lang="en-US" sz="1900" dirty="0"/>
          </a:p>
        </p:txBody>
      </p:sp>
      <p:sp>
        <p:nvSpPr>
          <p:cNvPr id="8" name="Text 6"/>
          <p:cNvSpPr txBox="1"/>
          <p:nvPr/>
        </p:nvSpPr>
        <p:spPr>
          <a:xfrm>
            <a:off x="1645920" y="2377440"/>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evidence</a:t>
            </a:r>
            <a:endParaRPr lang="en-US" sz="1700" dirty="0"/>
          </a:p>
        </p:txBody>
      </p:sp>
      <p:sp>
        <p:nvSpPr>
          <p:cNvPr id="9" name="Text 7"/>
          <p:cNvSpPr txBox="1"/>
          <p:nvPr/>
        </p:nvSpPr>
        <p:spPr>
          <a:xfrm>
            <a:off x="4846320" y="2404872"/>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200" dirty="0"/>
          </a:p>
        </p:txBody>
      </p:sp>
      <p:sp>
        <p:nvSpPr>
          <p:cNvPr id="10" name="Text 8"/>
          <p:cNvSpPr txBox="1"/>
          <p:nvPr/>
        </p:nvSpPr>
        <p:spPr>
          <a:xfrm>
            <a:off x="777240" y="3035808"/>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03</a:t>
            </a:r>
            <a:endParaRPr lang="en-US" sz="1900" dirty="0"/>
          </a:p>
        </p:txBody>
      </p:sp>
      <p:sp>
        <p:nvSpPr>
          <p:cNvPr id="11" name="Text 9"/>
          <p:cNvSpPr txBox="1"/>
          <p:nvPr/>
        </p:nvSpPr>
        <p:spPr>
          <a:xfrm>
            <a:off x="1645920" y="3035808"/>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build</a:t>
            </a:r>
            <a:endParaRPr lang="en-US" sz="1700" dirty="0"/>
          </a:p>
        </p:txBody>
      </p:sp>
      <p:sp>
        <p:nvSpPr>
          <p:cNvPr id="12" name="Text 10"/>
          <p:cNvSpPr txBox="1"/>
          <p:nvPr/>
        </p:nvSpPr>
        <p:spPr>
          <a:xfrm>
            <a:off x="4846320" y="3063240"/>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Reference architecture, the channel layer, the grounding path, and the three rules the system will not break</a:t>
            </a:r>
            <a:endParaRPr lang="en-US" sz="1200" dirty="0"/>
          </a:p>
        </p:txBody>
      </p:sp>
      <p:sp>
        <p:nvSpPr>
          <p:cNvPr id="13" name="Text 11"/>
          <p:cNvSpPr txBox="1"/>
          <p:nvPr/>
        </p:nvSpPr>
        <p:spPr>
          <a:xfrm>
            <a:off x="777240" y="3694176"/>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04</a:t>
            </a:r>
            <a:endParaRPr lang="en-US" sz="1900" dirty="0"/>
          </a:p>
        </p:txBody>
      </p:sp>
      <p:sp>
        <p:nvSpPr>
          <p:cNvPr id="14" name="Text 12"/>
          <p:cNvSpPr txBox="1"/>
          <p:nvPr/>
        </p:nvSpPr>
        <p:spPr>
          <a:xfrm>
            <a:off x="1645920" y="3694176"/>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honest part</a:t>
            </a:r>
            <a:endParaRPr lang="en-US" sz="1700" dirty="0"/>
          </a:p>
        </p:txBody>
      </p:sp>
      <p:sp>
        <p:nvSpPr>
          <p:cNvPr id="15" name="Text 13"/>
          <p:cNvSpPr txBox="1"/>
          <p:nvPr/>
        </p:nvSpPr>
        <p:spPr>
          <a:xfrm>
            <a:off x="4846320" y="3721608"/>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we shipped wrong, what two audits found, and what still fails</a:t>
            </a:r>
            <a:endParaRPr lang="en-US" sz="1200" dirty="0"/>
          </a:p>
        </p:txBody>
      </p:sp>
      <p:sp>
        <p:nvSpPr>
          <p:cNvPr id="16" name="Text 14"/>
          <p:cNvSpPr txBox="1"/>
          <p:nvPr/>
        </p:nvSpPr>
        <p:spPr>
          <a:xfrm>
            <a:off x="777240" y="4352544"/>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05</a:t>
            </a:r>
            <a:endParaRPr lang="en-US" sz="1900" dirty="0"/>
          </a:p>
        </p:txBody>
      </p:sp>
      <p:sp>
        <p:nvSpPr>
          <p:cNvPr id="17" name="Text 15"/>
          <p:cNvSpPr txBox="1"/>
          <p:nvPr/>
        </p:nvSpPr>
        <p:spPr>
          <a:xfrm>
            <a:off x="1645920" y="4352544"/>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offer</a:t>
            </a:r>
            <a:endParaRPr lang="en-US" sz="1700" dirty="0"/>
          </a:p>
        </p:txBody>
      </p:sp>
      <p:sp>
        <p:nvSpPr>
          <p:cNvPr id="18" name="Text 16"/>
          <p:cNvSpPr txBox="1"/>
          <p:nvPr/>
        </p:nvSpPr>
        <p:spPr>
          <a:xfrm>
            <a:off x="4846320" y="4379976"/>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Why good employers have not done this, and what we will give the first ten who will</a:t>
            </a:r>
            <a:endParaRPr lang="en-US" sz="1200" dirty="0"/>
          </a:p>
        </p:txBody>
      </p:sp>
      <p:sp>
        <p:nvSpPr>
          <p:cNvPr id="19" name="Text 17"/>
          <p:cNvSpPr txBox="1"/>
          <p:nvPr/>
        </p:nvSpPr>
        <p:spPr>
          <a:xfrm>
            <a:off x="777240" y="501091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A</a:t>
            </a:r>
            <a:endParaRPr lang="en-US" sz="1900" dirty="0"/>
          </a:p>
        </p:txBody>
      </p:sp>
      <p:sp>
        <p:nvSpPr>
          <p:cNvPr id="20" name="Text 18"/>
          <p:cNvSpPr txBox="1"/>
          <p:nvPr/>
        </p:nvSpPr>
        <p:spPr>
          <a:xfrm>
            <a:off x="1645920" y="501091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Appendix</a:t>
            </a:r>
            <a:endParaRPr lang="en-US" sz="1700" dirty="0"/>
          </a:p>
        </p:txBody>
      </p:sp>
      <p:sp>
        <p:nvSpPr>
          <p:cNvPr id="21" name="Text 19"/>
          <p:cNvSpPr txBox="1"/>
          <p:nvPr/>
        </p:nvSpPr>
        <p:spPr>
          <a:xfrm>
            <a:off x="4846320" y="503834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Every figure with its source, and the command that proves each one</a:t>
            </a:r>
            <a:endParaRPr lang="en-US" sz="1200" dirty="0"/>
          </a:p>
        </p:txBody>
      </p:sp>
      <p:sp>
        <p:nvSpPr>
          <p:cNvPr id="22" name="Text 2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Interview participant, workplace disclosure study, Proceedings of the ACM on</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Human-Computer Interaction. One of eight people with invisible chronic conditions.</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Measured again in 2022 and 2025. It has not closed.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1.3bn</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16% of the world</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significant disability</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WHO,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27%</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Canadians 15+</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one or more disabilities</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Statistics Canada, 2022</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2025</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US white-collar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broad federal definition</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Coqual</a:t>
            </a:r>
            <a:endParaRPr lang="en-US" sz="950" dirty="0"/>
          </a:p>
        </p:txBody>
      </p:sp>
      <p:sp>
        <p:nvSpPr>
          <p:cNvPr id="24" name="Text 22"/>
          <p:cNvSpPr txBox="1"/>
          <p:nvPr/>
        </p:nvSpPr>
        <p:spPr>
          <a:xfrm>
            <a:off x="777240" y="4343400"/>
            <a:ext cx="10698480" cy="4572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They disagree because they count different things. WHO measures significant disability. The national definitions are broader.</a:t>
            </a:r>
            <a:endParaRPr lang="en-US" sz="140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who.int  |  statcan.gc.ca Canadian Survey on Disability 2022  |  bls.gov Current Population Survey, about 60,000 households monthly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user buys nothing. That is deliberate.</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8" name="Shape 6"/>
          <p:cNvSpPr/>
          <p:nvPr/>
        </p:nvSpPr>
        <p:spPr>
          <a:xfrm>
            <a:off x="777240" y="301752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92608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0" name="Text 8"/>
          <p:cNvSpPr txBox="1"/>
          <p:nvPr/>
        </p:nvSpPr>
        <p:spPr>
          <a:xfrm>
            <a:off x="5212080" y="295351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1" name="Shape 9"/>
          <p:cNvSpPr/>
          <p:nvPr/>
        </p:nvSpPr>
        <p:spPr>
          <a:xfrm>
            <a:off x="777240" y="354787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45643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3" name="Text 11"/>
          <p:cNvSpPr txBox="1"/>
          <p:nvPr/>
        </p:nvSpPr>
        <p:spPr>
          <a:xfrm>
            <a:off x="5212080" y="348386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4" name="Shape 12"/>
          <p:cNvSpPr/>
          <p:nvPr/>
        </p:nvSpPr>
        <p:spPr>
          <a:xfrm>
            <a:off x="777240" y="407822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98678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6" name="Text 14"/>
          <p:cNvSpPr txBox="1"/>
          <p:nvPr/>
        </p:nvSpPr>
        <p:spPr>
          <a:xfrm>
            <a:off x="5212080" y="401421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17" name="Text 15"/>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18" name="Text 16"/>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19" name="Text 17"/>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0" name="Text 18"/>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1" name="Text 19"/>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2" name="Text 20"/>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3" name="Text 21"/>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4" name="Text 22"/>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gap is not a spending gap. It is a process gap, which is cheaper to close and harder to sell, because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One of them is deliberately empty.</a:t>
            </a:r>
            <a:endParaRPr lang="en-US" sz="3300" dirty="0"/>
          </a:p>
        </p:txBody>
      </p:sp>
      <p:sp>
        <p:nvSpPr>
          <p:cNvPr id="4" name="Shape 2"/>
          <p:cNvSpPr/>
          <p:nvPr/>
        </p:nvSpPr>
        <p:spPr>
          <a:xfrm>
            <a:off x="777240" y="1773936"/>
            <a:ext cx="137160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73936"/>
            <a:ext cx="9144000" cy="621792"/>
          </a:xfrm>
          <a:prstGeom prst="rect">
            <a:avLst/>
          </a:prstGeom>
          <a:solidFill>
            <a:srgbClr val="FFFFFF"/>
          </a:solidFill>
          <a:ln w="15875">
            <a:solidFill>
              <a:srgbClr val="D3CEC0"/>
            </a:solidFill>
            <a:prstDash val="solid"/>
          </a:ln>
        </p:spPr>
      </p:sp>
      <p:sp>
        <p:nvSpPr>
          <p:cNvPr id="7" name="Text 5"/>
          <p:cNvSpPr txBox="1"/>
          <p:nvPr/>
        </p:nvSpPr>
        <p:spPr>
          <a:xfrm>
            <a:off x="2450592" y="197510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395728"/>
            <a:ext cx="0" cy="155448"/>
          </a:xfrm>
          <a:prstGeom prst="line">
            <a:avLst/>
          </a:prstGeom>
          <a:noFill/>
          <a:ln w="17780">
            <a:solidFill>
              <a:srgbClr val="42474C"/>
            </a:solidFill>
            <a:prstDash val="solid"/>
            <a:tailEnd type="triangle"/>
          </a:ln>
        </p:spPr>
      </p:sp>
      <p:sp>
        <p:nvSpPr>
          <p:cNvPr id="9" name="Shape 7"/>
          <p:cNvSpPr/>
          <p:nvPr/>
        </p:nvSpPr>
        <p:spPr>
          <a:xfrm>
            <a:off x="777240" y="2551176"/>
            <a:ext cx="1371600" cy="621792"/>
          </a:xfrm>
          <a:prstGeom prst="rect">
            <a:avLst/>
          </a:prstGeom>
          <a:solidFill>
            <a:srgbClr val="14171A"/>
          </a:solidFill>
          <a:ln w="12700">
            <a:solidFill>
              <a:srgbClr val="14171A"/>
            </a:solidFill>
            <a:prstDash val="solid"/>
          </a:ln>
        </p:spPr>
      </p:sp>
      <p:sp>
        <p:nvSpPr>
          <p:cNvPr id="10" name="Text 8"/>
          <p:cNvSpPr txBox="1"/>
          <p:nvPr/>
        </p:nvSpPr>
        <p:spPr>
          <a:xfrm>
            <a:off x="777240" y="27523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551176"/>
            <a:ext cx="9144000" cy="621792"/>
          </a:xfrm>
          <a:prstGeom prst="rect">
            <a:avLst/>
          </a:prstGeom>
          <a:solidFill>
            <a:srgbClr val="FFFFFF"/>
          </a:solidFill>
          <a:ln w="15875">
            <a:solidFill>
              <a:srgbClr val="D3CEC0"/>
            </a:solidFill>
            <a:prstDash val="solid"/>
          </a:ln>
        </p:spPr>
      </p:sp>
      <p:sp>
        <p:nvSpPr>
          <p:cNvPr id="12" name="Text 10"/>
          <p:cNvSpPr txBox="1"/>
          <p:nvPr/>
        </p:nvSpPr>
        <p:spPr>
          <a:xfrm>
            <a:off x="2450592" y="27523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172968"/>
            <a:ext cx="0" cy="155448"/>
          </a:xfrm>
          <a:prstGeom prst="line">
            <a:avLst/>
          </a:prstGeom>
          <a:noFill/>
          <a:ln w="17780">
            <a:solidFill>
              <a:srgbClr val="42474C"/>
            </a:solidFill>
            <a:prstDash val="solid"/>
            <a:tailEnd type="triangle"/>
          </a:ln>
        </p:spPr>
      </p:sp>
      <p:sp>
        <p:nvSpPr>
          <p:cNvPr id="14" name="Shape 12"/>
          <p:cNvSpPr/>
          <p:nvPr/>
        </p:nvSpPr>
        <p:spPr>
          <a:xfrm>
            <a:off x="777240" y="3328416"/>
            <a:ext cx="1371600" cy="621792"/>
          </a:xfrm>
          <a:prstGeom prst="rect">
            <a:avLst/>
          </a:prstGeom>
          <a:solidFill>
            <a:srgbClr val="14171A"/>
          </a:solidFill>
          <a:ln w="12700">
            <a:solidFill>
              <a:srgbClr val="14171A"/>
            </a:solidFill>
            <a:prstDash val="solid"/>
          </a:ln>
        </p:spPr>
      </p:sp>
      <p:sp>
        <p:nvSpPr>
          <p:cNvPr id="15" name="Text 13"/>
          <p:cNvSpPr txBox="1"/>
          <p:nvPr/>
        </p:nvSpPr>
        <p:spPr>
          <a:xfrm>
            <a:off x="777240" y="352958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328416"/>
            <a:ext cx="9144000" cy="621792"/>
          </a:xfrm>
          <a:prstGeom prst="rect">
            <a:avLst/>
          </a:prstGeom>
          <a:solidFill>
            <a:srgbClr val="FFFFFF"/>
          </a:solidFill>
          <a:ln w="15875">
            <a:solidFill>
              <a:srgbClr val="D3CEC0"/>
            </a:solidFill>
            <a:prstDash val="solid"/>
          </a:ln>
        </p:spPr>
      </p:sp>
      <p:sp>
        <p:nvSpPr>
          <p:cNvPr id="17" name="Text 15"/>
          <p:cNvSpPr txBox="1"/>
          <p:nvPr/>
        </p:nvSpPr>
        <p:spPr>
          <a:xfrm>
            <a:off x="2450592" y="352958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3950208"/>
            <a:ext cx="0" cy="155448"/>
          </a:xfrm>
          <a:prstGeom prst="line">
            <a:avLst/>
          </a:prstGeom>
          <a:noFill/>
          <a:ln w="17780">
            <a:solidFill>
              <a:srgbClr val="42474C"/>
            </a:solidFill>
            <a:prstDash val="solid"/>
            <a:tailEnd type="triangle"/>
          </a:ln>
        </p:spPr>
      </p:sp>
      <p:sp>
        <p:nvSpPr>
          <p:cNvPr id="19" name="Shape 17"/>
          <p:cNvSpPr/>
          <p:nvPr/>
        </p:nvSpPr>
        <p:spPr>
          <a:xfrm>
            <a:off x="777240" y="4105656"/>
            <a:ext cx="1371600" cy="621792"/>
          </a:xfrm>
          <a:prstGeom prst="rect">
            <a:avLst/>
          </a:prstGeom>
          <a:solidFill>
            <a:srgbClr val="14171A"/>
          </a:solidFill>
          <a:ln w="12700">
            <a:solidFill>
              <a:srgbClr val="14171A"/>
            </a:solidFill>
            <a:prstDash val="solid"/>
          </a:ln>
        </p:spPr>
      </p:sp>
      <p:sp>
        <p:nvSpPr>
          <p:cNvPr id="20" name="Text 18"/>
          <p:cNvSpPr txBox="1"/>
          <p:nvPr/>
        </p:nvSpPr>
        <p:spPr>
          <a:xfrm>
            <a:off x="777240" y="430682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105656"/>
            <a:ext cx="9144000" cy="621792"/>
          </a:xfrm>
          <a:prstGeom prst="rect">
            <a:avLst/>
          </a:prstGeom>
          <a:solidFill>
            <a:srgbClr val="FFFFFF"/>
          </a:solidFill>
          <a:ln w="15875">
            <a:solidFill>
              <a:srgbClr val="D3CEC0"/>
            </a:solidFill>
            <a:prstDash val="solid"/>
          </a:ln>
        </p:spPr>
      </p:sp>
      <p:sp>
        <p:nvSpPr>
          <p:cNvPr id="22" name="Text 20"/>
          <p:cNvSpPr txBox="1"/>
          <p:nvPr/>
        </p:nvSpPr>
        <p:spPr>
          <a:xfrm>
            <a:off x="2450592" y="430682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727448"/>
            <a:ext cx="0" cy="155448"/>
          </a:xfrm>
          <a:prstGeom prst="line">
            <a:avLst/>
          </a:prstGeom>
          <a:noFill/>
          <a:ln w="17780">
            <a:solidFill>
              <a:srgbClr val="42474C"/>
            </a:solidFill>
            <a:prstDash val="solid"/>
            <a:tailEnd type="triangle"/>
          </a:ln>
        </p:spPr>
      </p:sp>
      <p:sp>
        <p:nvSpPr>
          <p:cNvPr id="24" name="Shape 22"/>
          <p:cNvSpPr/>
          <p:nvPr/>
        </p:nvSpPr>
        <p:spPr>
          <a:xfrm>
            <a:off x="777240" y="4882896"/>
            <a:ext cx="1371600" cy="621792"/>
          </a:xfrm>
          <a:prstGeom prst="rect">
            <a:avLst/>
          </a:prstGeom>
          <a:solidFill>
            <a:srgbClr val="E7E3D8"/>
          </a:solidFill>
          <a:ln w="12700">
            <a:solidFill>
              <a:srgbClr val="D3CEC0"/>
            </a:solidFill>
            <a:prstDash val="solid"/>
          </a:ln>
        </p:spPr>
      </p:sp>
      <p:sp>
        <p:nvSpPr>
          <p:cNvPr id="25" name="Text 23"/>
          <p:cNvSpPr txBox="1"/>
          <p:nvPr/>
        </p:nvSpPr>
        <p:spPr>
          <a:xfrm>
            <a:off x="777240" y="5084064"/>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4882896"/>
            <a:ext cx="9144000" cy="621792"/>
          </a:xfrm>
          <a:prstGeom prst="rect">
            <a:avLst/>
          </a:prstGeom>
          <a:solidFill>
            <a:srgbClr val="FFFFFF"/>
          </a:solidFill>
          <a:ln w="15875">
            <a:solidFill>
              <a:srgbClr val="D3CEC0"/>
            </a:solidFill>
            <a:prstDash val="solid"/>
          </a:ln>
        </p:spPr>
      </p:sp>
      <p:sp>
        <p:nvSpPr>
          <p:cNvPr id="27" name="Text 25"/>
          <p:cNvSpPr txBox="1"/>
          <p:nvPr/>
        </p:nvSpPr>
        <p:spPr>
          <a:xfrm>
            <a:off x="2450592" y="508406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TELEMETRY</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It can say it is failing somebody. Not what they said.</a:t>
            </a:r>
            <a:endParaRPr lang="en-US" sz="3300" dirty="0"/>
          </a:p>
        </p:txBody>
      </p:sp>
      <p:sp>
        <p:nvSpPr>
          <p:cNvPr id="4" name="Shape 2"/>
          <p:cNvSpPr/>
          <p:nvPr/>
        </p:nvSpPr>
        <p:spPr>
          <a:xfrm>
            <a:off x="777240" y="1810512"/>
            <a:ext cx="5166360" cy="2651760"/>
          </a:xfrm>
          <a:prstGeom prst="roundRect">
            <a:avLst>
              <a:gd name="adj" fmla="val 1724"/>
            </a:avLst>
          </a:prstGeom>
          <a:solidFill>
            <a:srgbClr val="FFFFFF"/>
          </a:solidFill>
          <a:ln w="19050">
            <a:solidFill>
              <a:srgbClr val="1F5546"/>
            </a:solidFill>
            <a:prstDash val="solid"/>
          </a:ln>
        </p:spPr>
      </p:sp>
      <p:sp>
        <p:nvSpPr>
          <p:cNvPr id="5" name="Text 3"/>
          <p:cNvSpPr txBox="1"/>
          <p:nvPr/>
        </p:nvSpPr>
        <p:spPr>
          <a:xfrm>
            <a:off x="1024128" y="1975104"/>
            <a:ext cx="4663440" cy="310896"/>
          </a:xfrm>
          <a:prstGeom prst="rect">
            <a:avLst/>
          </a:prstGeom>
          <a:noFill/>
          <a:ln/>
        </p:spPr>
        <p:txBody>
          <a:bodyPr wrap="square" lIns="0" tIns="0" rIns="0" bIns="0" rtlCol="0" anchor="ctr"/>
          <a:lstStyle/>
          <a:p>
            <a:pPr indent="0" marL="0">
              <a:buNone/>
            </a:pPr>
            <a:r>
              <a:rPr lang="en-US" sz="1100" b="1" spc="120" kern="0" dirty="0">
                <a:solidFill>
                  <a:srgbClr val="1F5546"/>
                </a:solidFill>
                <a:latin typeface="Courier New" pitchFamily="34" charset="0"/>
                <a:ea typeface="Courier New" pitchFamily="34" charset="-122"/>
                <a:cs typeface="Courier New" pitchFamily="34" charset="-120"/>
              </a:rPr>
              <a:t>WHAT THE LEDGER HOLDS</a:t>
            </a:r>
            <a:endParaRPr lang="en-US" sz="1100" dirty="0"/>
          </a:p>
        </p:txBody>
      </p:sp>
      <p:sp>
        <p:nvSpPr>
          <p:cNvPr id="6" name="Text 4"/>
          <p:cNvSpPr txBox="1"/>
          <p:nvPr/>
        </p:nvSpPr>
        <p:spPr>
          <a:xfrm>
            <a:off x="102412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When the attempt was made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Which channel, which direction</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Whether it arrived, and why not</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salted hash of the handle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How much of today’s quota is spent</a:t>
            </a:r>
            <a:endParaRPr lang="en-US" sz="1250" dirty="0"/>
          </a:p>
        </p:txBody>
      </p:sp>
      <p:sp>
        <p:nvSpPr>
          <p:cNvPr id="7" name="Shape 5"/>
          <p:cNvSpPr/>
          <p:nvPr/>
        </p:nvSpPr>
        <p:spPr>
          <a:xfrm>
            <a:off x="6217920" y="1810512"/>
            <a:ext cx="5166360" cy="2651760"/>
          </a:xfrm>
          <a:prstGeom prst="roundRect">
            <a:avLst>
              <a:gd name="adj" fmla="val 1724"/>
            </a:avLst>
          </a:prstGeom>
          <a:solidFill>
            <a:srgbClr val="FFFFFF"/>
          </a:solidFill>
          <a:ln w="19050">
            <a:solidFill>
              <a:srgbClr val="8A2F24"/>
            </a:solidFill>
            <a:prstDash val="solid"/>
          </a:ln>
        </p:spPr>
      </p:sp>
      <p:sp>
        <p:nvSpPr>
          <p:cNvPr id="8" name="Text 6"/>
          <p:cNvSpPr txBox="1"/>
          <p:nvPr/>
        </p:nvSpPr>
        <p:spPr>
          <a:xfrm>
            <a:off x="6464808" y="1975104"/>
            <a:ext cx="4663440" cy="310896"/>
          </a:xfrm>
          <a:prstGeom prst="rect">
            <a:avLst/>
          </a:prstGeom>
          <a:noFill/>
          <a:ln/>
        </p:spPr>
        <p:txBody>
          <a:bodyPr wrap="square" lIns="0" tIns="0" rIns="0" bIns="0" rtlCol="0" anchor="ctr"/>
          <a:lstStyle/>
          <a:p>
            <a:pPr indent="0" marL="0">
              <a:buNone/>
            </a:pPr>
            <a:r>
              <a:rPr lang="en-US" sz="1100" b="1" spc="120" kern="0" dirty="0">
                <a:solidFill>
                  <a:srgbClr val="8A2F24"/>
                </a:solidFill>
                <a:latin typeface="Courier New" pitchFamily="34" charset="0"/>
                <a:ea typeface="Courier New" pitchFamily="34" charset="-122"/>
                <a:cs typeface="Courier New" pitchFamily="34" charset="-120"/>
              </a:rPr>
              <a:t>WHAT IT CANNOT HOLD</a:t>
            </a:r>
            <a:endParaRPr lang="en-US" sz="1100" dirty="0"/>
          </a:p>
        </p:txBody>
      </p:sp>
      <p:sp>
        <p:nvSpPr>
          <p:cNvPr id="9" name="Text 7"/>
          <p:cNvSpPr txBox="1"/>
          <p:nvPr/>
        </p:nvSpPr>
        <p:spPr>
          <a:xfrm>
            <a:off x="646480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The message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raw phone number or address</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name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Anything about a body</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reason for turning a disclosure off</a:t>
            </a:r>
            <a:endParaRPr lang="en-US" sz="1250" dirty="0"/>
          </a:p>
        </p:txBody>
      </p:sp>
      <p:sp>
        <p:nvSpPr>
          <p:cNvPr id="10" name="Text 8"/>
          <p:cNvSpPr txBox="1"/>
          <p:nvPr/>
        </p:nvSpPr>
        <p:spPr>
          <a:xfrm>
            <a:off x="777240" y="4645152"/>
            <a:ext cx="10607040" cy="822960"/>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Six classes write to it. None can write a body, because there is no field for one. Five reports and one dashboard sit on top of it for the person on duty: who is waiting, what did not arrive, who needs an interpreter.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Telemetry that would let an employer read a conversation is surveillance with a dashboard. This one measures the system and protects the person.</a:t>
            </a:r>
            <a:endParaRPr lang="en-US" sz="1600" dirty="0"/>
          </a:p>
        </p:txBody>
      </p:sp>
      <p:sp>
        <p:nvSpPr>
          <p:cNvPr id="12" name="Text 10"/>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Message_Log__c   ·   9 fields, no body   ·   How_People_Reach_Us, Messages_That_Did_Not_Arrive, Who_Is_Waiting, Needs_An_Interpreter, Awaiting_A_Decision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GROUNDING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Where the model is allowed to touch it.</a:t>
            </a:r>
            <a:endParaRPr lang="en-US" sz="3300" dirty="0"/>
          </a:p>
        </p:txBody>
      </p:sp>
      <p:sp>
        <p:nvSpPr>
          <p:cNvPr id="4" name="Shape 2"/>
          <p:cNvSpPr/>
          <p:nvPr/>
        </p:nvSpPr>
        <p:spPr>
          <a:xfrm>
            <a:off x="777240" y="1792224"/>
            <a:ext cx="50292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1</a:t>
            </a:r>
            <a:endParaRPr lang="en-US" sz="1300" dirty="0"/>
          </a:p>
        </p:txBody>
      </p:sp>
      <p:sp>
        <p:nvSpPr>
          <p:cNvPr id="6" name="Text 4"/>
          <p:cNvSpPr txBox="1"/>
          <p:nvPr/>
        </p:nvSpPr>
        <p:spPr>
          <a:xfrm>
            <a:off x="1417320" y="198424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SENTENCE</a:t>
            </a:r>
            <a:endParaRPr lang="en-US" sz="1050" dirty="0"/>
          </a:p>
        </p:txBody>
      </p:sp>
      <p:sp>
        <p:nvSpPr>
          <p:cNvPr id="7" name="Shape 5"/>
          <p:cNvSpPr/>
          <p:nvPr/>
        </p:nvSpPr>
        <p:spPr>
          <a:xfrm>
            <a:off x="2880360" y="1792224"/>
            <a:ext cx="8503920" cy="621792"/>
          </a:xfrm>
          <a:prstGeom prst="rect">
            <a:avLst/>
          </a:prstGeom>
          <a:solidFill>
            <a:srgbClr val="FFFFFF"/>
          </a:solidFill>
          <a:ln w="15875">
            <a:solidFill>
              <a:srgbClr val="D3CEC0"/>
            </a:solidFill>
            <a:prstDash val="solid"/>
          </a:ln>
        </p:spPr>
      </p:sp>
      <p:sp>
        <p:nvSpPr>
          <p:cNvPr id="8" name="Text 6"/>
          <p:cNvSpPr txBox="1"/>
          <p:nvPr/>
        </p:nvSpPr>
        <p:spPr>
          <a:xfrm>
            <a:off x="3090672" y="197510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 get migraines from the office lighting." Stored as written, after a condition strip.</a:t>
            </a:r>
            <a:endParaRPr lang="en-US" sz="1200" dirty="0"/>
          </a:p>
        </p:txBody>
      </p:sp>
      <p:sp>
        <p:nvSpPr>
          <p:cNvPr id="9" name="Shape 7"/>
          <p:cNvSpPr/>
          <p:nvPr/>
        </p:nvSpPr>
        <p:spPr>
          <a:xfrm>
            <a:off x="1024128" y="2414016"/>
            <a:ext cx="0" cy="155448"/>
          </a:xfrm>
          <a:prstGeom prst="line">
            <a:avLst/>
          </a:prstGeom>
          <a:noFill/>
          <a:ln w="17780">
            <a:solidFill>
              <a:srgbClr val="42474C"/>
            </a:solidFill>
            <a:prstDash val="solid"/>
            <a:tailEnd type="triangle"/>
          </a:ln>
        </p:spPr>
      </p:sp>
      <p:sp>
        <p:nvSpPr>
          <p:cNvPr id="10" name="Shape 8"/>
          <p:cNvSpPr/>
          <p:nvPr/>
        </p:nvSpPr>
        <p:spPr>
          <a:xfrm>
            <a:off x="777240" y="2569464"/>
            <a:ext cx="502920" cy="621792"/>
          </a:xfrm>
          <a:prstGeom prst="rect">
            <a:avLst/>
          </a:prstGeom>
          <a:solidFill>
            <a:srgbClr val="14171A"/>
          </a:solidFill>
          <a:ln w="12700">
            <a:solidFill>
              <a:srgbClr val="14171A"/>
            </a:solidFill>
            <a:prstDash val="solid"/>
          </a:ln>
        </p:spPr>
      </p:sp>
      <p:sp>
        <p:nvSpPr>
          <p:cNvPr id="11" name="Text 9"/>
          <p:cNvSpPr txBox="1"/>
          <p:nvPr/>
        </p:nvSpPr>
        <p:spPr>
          <a:xfrm>
            <a:off x="777240" y="275234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417320" y="276148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TOKENS</a:t>
            </a:r>
            <a:endParaRPr lang="en-US" sz="1050" dirty="0"/>
          </a:p>
        </p:txBody>
      </p:sp>
      <p:sp>
        <p:nvSpPr>
          <p:cNvPr id="13" name="Shape 11"/>
          <p:cNvSpPr/>
          <p:nvPr/>
        </p:nvSpPr>
        <p:spPr>
          <a:xfrm>
            <a:off x="2880360" y="2569464"/>
            <a:ext cx="8503920" cy="621792"/>
          </a:xfrm>
          <a:prstGeom prst="rect">
            <a:avLst/>
          </a:prstGeom>
          <a:solidFill>
            <a:srgbClr val="FFFFFF"/>
          </a:solidFill>
          <a:ln w="15875">
            <a:solidFill>
              <a:srgbClr val="D3CEC0"/>
            </a:solidFill>
            <a:prstDash val="solid"/>
          </a:ln>
        </p:spPr>
      </p:sp>
      <p:sp>
        <p:nvSpPr>
          <p:cNvPr id="14" name="Text 12"/>
          <p:cNvSpPr txBox="1"/>
          <p:nvPr/>
        </p:nvSpPr>
        <p:spPr>
          <a:xfrm>
            <a:off x="3090672" y="275234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Lowercased, whole words only. contains() once matched long inside alongside.</a:t>
            </a:r>
            <a:endParaRPr lang="en-US" sz="1200" dirty="0"/>
          </a:p>
        </p:txBody>
      </p:sp>
      <p:sp>
        <p:nvSpPr>
          <p:cNvPr id="15" name="Shape 13"/>
          <p:cNvSpPr/>
          <p:nvPr/>
        </p:nvSpPr>
        <p:spPr>
          <a:xfrm>
            <a:off x="1024128" y="3191256"/>
            <a:ext cx="0" cy="155448"/>
          </a:xfrm>
          <a:prstGeom prst="line">
            <a:avLst/>
          </a:prstGeom>
          <a:noFill/>
          <a:ln w="17780">
            <a:solidFill>
              <a:srgbClr val="42474C"/>
            </a:solidFill>
            <a:prstDash val="solid"/>
            <a:tailEnd type="triangle"/>
          </a:ln>
        </p:spPr>
      </p:sp>
      <p:sp>
        <p:nvSpPr>
          <p:cNvPr id="16" name="Shape 14"/>
          <p:cNvSpPr/>
          <p:nvPr/>
        </p:nvSpPr>
        <p:spPr>
          <a:xfrm>
            <a:off x="777240" y="3346704"/>
            <a:ext cx="502920" cy="621792"/>
          </a:xfrm>
          <a:prstGeom prst="rect">
            <a:avLst/>
          </a:prstGeom>
          <a:solidFill>
            <a:srgbClr val="14171A"/>
          </a:solidFill>
          <a:ln w="12700">
            <a:solidFill>
              <a:srgbClr val="14171A"/>
            </a:solidFill>
            <a:prstDash val="solid"/>
          </a:ln>
        </p:spPr>
      </p:sp>
      <p:sp>
        <p:nvSpPr>
          <p:cNvPr id="17" name="Text 15"/>
          <p:cNvSpPr txBox="1"/>
          <p:nvPr/>
        </p:nvSpPr>
        <p:spPr>
          <a:xfrm>
            <a:off x="777240" y="352958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3</a:t>
            </a:r>
            <a:endParaRPr lang="en-US" sz="1300" dirty="0"/>
          </a:p>
        </p:txBody>
      </p:sp>
      <p:sp>
        <p:nvSpPr>
          <p:cNvPr id="18" name="Text 16"/>
          <p:cNvSpPr txBox="1"/>
          <p:nvPr/>
        </p:nvSpPr>
        <p:spPr>
          <a:xfrm>
            <a:off x="1417320" y="353872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RANK</a:t>
            </a:r>
            <a:endParaRPr lang="en-US" sz="1050" dirty="0"/>
          </a:p>
        </p:txBody>
      </p:sp>
      <p:sp>
        <p:nvSpPr>
          <p:cNvPr id="19" name="Shape 17"/>
          <p:cNvSpPr/>
          <p:nvPr/>
        </p:nvSpPr>
        <p:spPr>
          <a:xfrm>
            <a:off x="2880360" y="3346704"/>
            <a:ext cx="8503920" cy="621792"/>
          </a:xfrm>
          <a:prstGeom prst="rect">
            <a:avLst/>
          </a:prstGeom>
          <a:solidFill>
            <a:srgbClr val="FFFFFF"/>
          </a:solidFill>
          <a:ln w="15875">
            <a:solidFill>
              <a:srgbClr val="D3CEC0"/>
            </a:solidFill>
            <a:prstDash val="solid"/>
          </a:ln>
        </p:spPr>
      </p:sp>
      <p:sp>
        <p:nvSpPr>
          <p:cNvPr id="20" name="Text 18"/>
          <p:cNvSpPr txBox="1"/>
          <p:nvPr/>
        </p:nvSpPr>
        <p:spPr>
          <a:xfrm>
            <a:off x="3090672" y="352958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Weighted by how much a word DISTINGUISHES, not whether it appears. A word in a quarter of rows scores nothing.</a:t>
            </a:r>
            <a:endParaRPr lang="en-US" sz="1200" dirty="0"/>
          </a:p>
        </p:txBody>
      </p:sp>
      <p:sp>
        <p:nvSpPr>
          <p:cNvPr id="21" name="Shape 19"/>
          <p:cNvSpPr/>
          <p:nvPr/>
        </p:nvSpPr>
        <p:spPr>
          <a:xfrm>
            <a:off x="1024128" y="3968496"/>
            <a:ext cx="0" cy="155448"/>
          </a:xfrm>
          <a:prstGeom prst="line">
            <a:avLst/>
          </a:prstGeom>
          <a:noFill/>
          <a:ln w="17780">
            <a:solidFill>
              <a:srgbClr val="42474C"/>
            </a:solidFill>
            <a:prstDash val="solid"/>
            <a:tailEnd type="triangle"/>
          </a:ln>
        </p:spPr>
      </p:sp>
      <p:sp>
        <p:nvSpPr>
          <p:cNvPr id="22" name="Shape 20"/>
          <p:cNvSpPr/>
          <p:nvPr/>
        </p:nvSpPr>
        <p:spPr>
          <a:xfrm>
            <a:off x="777240" y="4123944"/>
            <a:ext cx="502920" cy="621792"/>
          </a:xfrm>
          <a:prstGeom prst="rect">
            <a:avLst/>
          </a:prstGeom>
          <a:solidFill>
            <a:srgbClr val="14171A"/>
          </a:solidFill>
          <a:ln w="12700">
            <a:solidFill>
              <a:srgbClr val="14171A"/>
            </a:solidFill>
            <a:prstDash val="solid"/>
          </a:ln>
        </p:spPr>
      </p:sp>
      <p:sp>
        <p:nvSpPr>
          <p:cNvPr id="23" name="Text 21"/>
          <p:cNvSpPr txBox="1"/>
          <p:nvPr/>
        </p:nvSpPr>
        <p:spPr>
          <a:xfrm>
            <a:off x="777240" y="430682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4</a:t>
            </a:r>
            <a:endParaRPr lang="en-US" sz="1300" dirty="0"/>
          </a:p>
        </p:txBody>
      </p:sp>
      <p:sp>
        <p:nvSpPr>
          <p:cNvPr id="24" name="Text 22"/>
          <p:cNvSpPr txBox="1"/>
          <p:nvPr/>
        </p:nvSpPr>
        <p:spPr>
          <a:xfrm>
            <a:off x="1417320" y="431596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SOQL</a:t>
            </a:r>
            <a:endParaRPr lang="en-US" sz="1050" dirty="0"/>
          </a:p>
        </p:txBody>
      </p:sp>
      <p:sp>
        <p:nvSpPr>
          <p:cNvPr id="25" name="Shape 23"/>
          <p:cNvSpPr/>
          <p:nvPr/>
        </p:nvSpPr>
        <p:spPr>
          <a:xfrm>
            <a:off x="2880360" y="4123944"/>
            <a:ext cx="8503920" cy="621792"/>
          </a:xfrm>
          <a:prstGeom prst="rect">
            <a:avLst/>
          </a:prstGeom>
          <a:solidFill>
            <a:srgbClr val="FFFFFF"/>
          </a:solidFill>
          <a:ln w="15875">
            <a:solidFill>
              <a:srgbClr val="D3CEC0"/>
            </a:solidFill>
            <a:prstDash val="solid"/>
          </a:ln>
        </p:spPr>
      </p:sp>
      <p:sp>
        <p:nvSpPr>
          <p:cNvPr id="26" name="Text 24"/>
          <p:cNvSpPr txBox="1"/>
          <p:nvPr/>
        </p:nvSpPr>
        <p:spPr>
          <a:xfrm>
            <a:off x="3090672" y="430682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28 rows. Every one carries a source URL. No embeddings, no index, no vector store.</a:t>
            </a:r>
            <a:endParaRPr lang="en-US" sz="1200" dirty="0"/>
          </a:p>
        </p:txBody>
      </p:sp>
      <p:sp>
        <p:nvSpPr>
          <p:cNvPr id="27" name="Shape 25"/>
          <p:cNvSpPr/>
          <p:nvPr/>
        </p:nvSpPr>
        <p:spPr>
          <a:xfrm>
            <a:off x="1024128" y="4745736"/>
            <a:ext cx="0" cy="155448"/>
          </a:xfrm>
          <a:prstGeom prst="line">
            <a:avLst/>
          </a:prstGeom>
          <a:noFill/>
          <a:ln w="17780">
            <a:solidFill>
              <a:srgbClr val="42474C"/>
            </a:solidFill>
            <a:prstDash val="solid"/>
            <a:tailEnd type="triangle"/>
          </a:ln>
        </p:spPr>
      </p:sp>
      <p:sp>
        <p:nvSpPr>
          <p:cNvPr id="28" name="Shape 26"/>
          <p:cNvSpPr/>
          <p:nvPr/>
        </p:nvSpPr>
        <p:spPr>
          <a:xfrm>
            <a:off x="777240" y="4901184"/>
            <a:ext cx="502920" cy="621792"/>
          </a:xfrm>
          <a:prstGeom prst="rect">
            <a:avLst/>
          </a:prstGeom>
          <a:solidFill>
            <a:srgbClr val="C9A227"/>
          </a:solidFill>
          <a:ln w="12700">
            <a:solidFill>
              <a:srgbClr val="C9A227"/>
            </a:solidFill>
            <a:prstDash val="solid"/>
          </a:ln>
        </p:spPr>
      </p:sp>
      <p:sp>
        <p:nvSpPr>
          <p:cNvPr id="29" name="Text 27"/>
          <p:cNvSpPr txBox="1"/>
          <p:nvPr/>
        </p:nvSpPr>
        <p:spPr>
          <a:xfrm>
            <a:off x="777240" y="5084064"/>
            <a:ext cx="502920" cy="292608"/>
          </a:xfrm>
          <a:prstGeom prst="rect">
            <a:avLst/>
          </a:prstGeom>
          <a:noFill/>
          <a:ln/>
        </p:spPr>
        <p:txBody>
          <a:bodyPr wrap="square" lIns="0" tIns="0" rIns="0" bIns="0" rtlCol="0" anchor="ctr"/>
          <a:lstStyle/>
          <a:p>
            <a:pPr algn="ctr" indent="0" marL="0">
              <a:buNone/>
            </a:pPr>
            <a:r>
              <a:rPr lang="en-US" sz="1300" b="1" dirty="0">
                <a:solidFill>
                  <a:srgbClr val="14171A"/>
                </a:solidFill>
                <a:latin typeface="Courier New" pitchFamily="34" charset="0"/>
                <a:ea typeface="Courier New" pitchFamily="34" charset="-122"/>
                <a:cs typeface="Courier New" pitchFamily="34" charset="-120"/>
              </a:rPr>
              <a:t>5</a:t>
            </a:r>
            <a:endParaRPr lang="en-US" sz="1300" dirty="0"/>
          </a:p>
        </p:txBody>
      </p:sp>
      <p:sp>
        <p:nvSpPr>
          <p:cNvPr id="30" name="Text 28"/>
          <p:cNvSpPr txBox="1"/>
          <p:nvPr/>
        </p:nvSpPr>
        <p:spPr>
          <a:xfrm>
            <a:off x="1417320" y="5093208"/>
            <a:ext cx="1371600" cy="292608"/>
          </a:xfrm>
          <a:prstGeom prst="rect">
            <a:avLst/>
          </a:prstGeom>
          <a:noFill/>
          <a:ln/>
        </p:spPr>
        <p:txBody>
          <a:bodyPr wrap="square" lIns="0" tIns="0" rIns="0" bIns="0" rtlCol="0" anchor="ctr"/>
          <a:lstStyle/>
          <a:p>
            <a:pPr indent="0" marL="0">
              <a:buNone/>
            </a:pPr>
            <a:r>
              <a:rPr lang="en-US" sz="1050" b="1" spc="110" kern="0" dirty="0">
                <a:solidFill>
                  <a:srgbClr val="9A6608"/>
                </a:solidFill>
                <a:latin typeface="Courier New" pitchFamily="34" charset="0"/>
                <a:ea typeface="Courier New" pitchFamily="34" charset="-122"/>
                <a:cs typeface="Courier New" pitchFamily="34" charset="-120"/>
              </a:rPr>
              <a:t>PHRASE</a:t>
            </a:r>
            <a:endParaRPr lang="en-US" sz="1050" dirty="0"/>
          </a:p>
        </p:txBody>
      </p:sp>
      <p:sp>
        <p:nvSpPr>
          <p:cNvPr id="31" name="Shape 29"/>
          <p:cNvSpPr/>
          <p:nvPr/>
        </p:nvSpPr>
        <p:spPr>
          <a:xfrm>
            <a:off x="2880360" y="4901184"/>
            <a:ext cx="8503920" cy="621792"/>
          </a:xfrm>
          <a:prstGeom prst="rect">
            <a:avLst/>
          </a:prstGeom>
          <a:solidFill>
            <a:srgbClr val="FFFFFF"/>
          </a:solidFill>
          <a:ln w="15875">
            <a:solidFill>
              <a:srgbClr val="D3CEC0"/>
            </a:solidFill>
            <a:prstDash val="solid"/>
          </a:ln>
        </p:spPr>
      </p:sp>
      <p:sp>
        <p:nvSpPr>
          <p:cNvPr id="32" name="Text 30"/>
          <p:cNvSpPr txBox="1"/>
          <p:nvPr/>
        </p:nvSpPr>
        <p:spPr>
          <a:xfrm>
            <a:off x="3090672" y="508406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The model may word the reply. It may not add a row, a cost, or a precedent.</a:t>
            </a:r>
            <a:endParaRPr lang="en-US" sz="1200" dirty="0"/>
          </a:p>
        </p:txBody>
      </p:sp>
      <p:sp>
        <p:nvSpPr>
          <p:cNvPr id="33" name="Text 3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Steps one to four contain no inference at all. The cheapest system is the one that does not ask a model a question it already knows the answer to.</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awaiting carrier</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will not send. Agreeing in writing days later is not the same as choosing in the moment.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alphabet leaves out O 0 I 1 S 5, the characters people confuse on a cracked screen or read aloud. An accessibility decision inside a cryptographic one.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 is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Not encrypted. Not permission-restricted. Absent.</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 is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 not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 not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Each one now has a check that fails the build if it ever comes back.</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tool could not decide the thing that mattered.</a:t>
            </a:r>
            <a:endParaRPr lang="en-US" sz="3300" dirty="0"/>
          </a:p>
        </p:txBody>
      </p:sp>
      <p:sp>
        <p:nvSpPr>
          <p:cNvPr id="4" name="Shape 2"/>
          <p:cNvSpPr/>
          <p:nvPr/>
        </p:nvSpPr>
        <p:spPr>
          <a:xfrm>
            <a:off x="777240" y="1755648"/>
            <a:ext cx="5257800" cy="1965960"/>
          </a:xfrm>
          <a:prstGeom prst="roundRect">
            <a:avLst>
              <a:gd name="adj" fmla="val 2326"/>
            </a:avLst>
          </a:prstGeom>
          <a:solidFill>
            <a:srgbClr val="FFFFFF"/>
          </a:solidFill>
          <a:ln w="19050">
            <a:solidFill>
              <a:srgbClr val="1F5546"/>
            </a:solidFill>
            <a:prstDash val="solid"/>
          </a:ln>
        </p:spPr>
      </p:sp>
      <p:sp>
        <p:nvSpPr>
          <p:cNvPr id="5" name="Text 3"/>
          <p:cNvSpPr txBox="1"/>
          <p:nvPr/>
        </p:nvSpPr>
        <p:spPr>
          <a:xfrm>
            <a:off x="1033272" y="1938528"/>
            <a:ext cx="4754880" cy="329184"/>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What it passed</a:t>
            </a:r>
            <a:endParaRPr lang="en-US" sz="1450" dirty="0"/>
          </a:p>
        </p:txBody>
      </p:sp>
      <p:sp>
        <p:nvSpPr>
          <p:cNvPr id="6" name="Text 4"/>
          <p:cNvSpPr txBox="1"/>
          <p:nvPr/>
        </p:nvSpPr>
        <p:spPr>
          <a:xfrm>
            <a:off x="1033272" y="2359152"/>
            <a:ext cx="475488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axe-core matcher, reached through the lwc-experts toolset in the DX MCP server. Twelve component states, 131 checks, zero WCAG violations, against the 100-rule preset rather than the 64-rule default.</a:t>
            </a:r>
            <a:endParaRPr lang="en-US" sz="1200" dirty="0"/>
          </a:p>
        </p:txBody>
      </p:sp>
      <p:sp>
        <p:nvSpPr>
          <p:cNvPr id="7" name="Shape 5"/>
          <p:cNvSpPr/>
          <p:nvPr/>
        </p:nvSpPr>
        <p:spPr>
          <a:xfrm>
            <a:off x="6400800" y="1755648"/>
            <a:ext cx="4983480" cy="1965960"/>
          </a:xfrm>
          <a:prstGeom prst="roundRect">
            <a:avLst>
              <a:gd name="adj" fmla="val 2326"/>
            </a:avLst>
          </a:prstGeom>
          <a:solidFill>
            <a:srgbClr val="FFFFFF"/>
          </a:solidFill>
          <a:ln w="19050">
            <a:solidFill>
              <a:srgbClr val="8A2F24"/>
            </a:solidFill>
            <a:prstDash val="solid"/>
          </a:ln>
        </p:spPr>
      </p:sp>
      <p:sp>
        <p:nvSpPr>
          <p:cNvPr id="8" name="Text 6"/>
          <p:cNvSpPr txBox="1"/>
          <p:nvPr/>
        </p:nvSpPr>
        <p:spPr>
          <a:xfrm>
            <a:off x="6656832" y="1938528"/>
            <a:ext cx="4480560" cy="329184"/>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returned instead</a:t>
            </a:r>
            <a:endParaRPr lang="en-US" sz="1450" dirty="0"/>
          </a:p>
        </p:txBody>
      </p:sp>
      <p:sp>
        <p:nvSpPr>
          <p:cNvPr id="9" name="Text 7"/>
          <p:cNvSpPr txBox="1"/>
          <p:nvPr/>
        </p:nvSpPr>
        <p:spPr>
          <a:xfrm>
            <a:off x="6656832" y="2359152"/>
            <a:ext cx="448056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On the signed video, WCAG 1.2.2 came back incomplete, not pass. Inside a test runner axe cannot inspect media. So it could not settle it. A person using a screen reader would have settled it immediately.</a:t>
            </a:r>
            <a:endParaRPr lang="en-US" sz="1200" dirty="0"/>
          </a:p>
        </p:txBody>
      </p:sp>
      <p:sp>
        <p:nvSpPr>
          <p:cNvPr id="10" name="Text 8"/>
          <p:cNvSpPr txBox="1"/>
          <p:nvPr/>
        </p:nvSpPr>
        <p:spPr>
          <a:xfrm>
            <a:off x="777240" y="3950208"/>
            <a:ext cx="10607040" cy="804672"/>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The obvious remedy was the forbidden one. That video is usually a Deaf person signing, and a machine caption would put words in somebody’s mouth about their own body, then file them. So the video now says so itself, to the person who cannot watch it:</a:t>
            </a:r>
            <a:endParaRPr lang="en-US" sz="1350" dirty="0"/>
          </a:p>
        </p:txBody>
      </p:sp>
      <p:sp>
        <p:nvSpPr>
          <p:cNvPr id="11" name="Shape 9"/>
          <p:cNvSpPr/>
          <p:nvPr/>
        </p:nvSpPr>
        <p:spPr>
          <a:xfrm>
            <a:off x="777240" y="4864608"/>
            <a:ext cx="54864" cy="658368"/>
          </a:xfrm>
          <a:prstGeom prst="rect">
            <a:avLst/>
          </a:prstGeom>
          <a:solidFill>
            <a:srgbClr val="C9A227"/>
          </a:solidFill>
          <a:ln w="12700">
            <a:solidFill>
              <a:srgbClr val="C9A227"/>
            </a:solidFill>
            <a:prstDash val="solid"/>
          </a:ln>
        </p:spPr>
      </p:sp>
      <p:sp>
        <p:nvSpPr>
          <p:cNvPr id="12" name="Text 10"/>
          <p:cNvSpPr txBox="1"/>
          <p:nvPr/>
        </p:nvSpPr>
        <p:spPr>
          <a:xfrm>
            <a:off x="1033272" y="4864608"/>
            <a:ext cx="10332720" cy="658368"/>
          </a:xfrm>
          <a:prstGeom prst="rect">
            <a:avLst/>
          </a:prstGeom>
          <a:noFill/>
          <a:ln/>
        </p:spPr>
        <p:txBody>
          <a:bodyPr wrap="square" lIns="0" tIns="0" rIns="0" bIns="0" rtlCol="0" anchor="ctr"/>
          <a:lstStyle/>
          <a:p>
            <a:pPr indent="0" marL="0">
              <a:buNone/>
            </a:pPr>
            <a:r>
              <a:rPr lang="en-US" sz="1600" i="1" dirty="0">
                <a:solidFill>
                  <a:srgbClr val="14171A"/>
                </a:solidFill>
                <a:latin typeface="Cambria" pitchFamily="34" charset="0"/>
                <a:ea typeface="Cambria" pitchFamily="34" charset="-122"/>
                <a:cs typeface="Cambria" pitchFamily="34" charset="-120"/>
              </a:rPr>
              <a:t>“No captions and no transcript, and none will be generated. This is waiting on a human interpreter.”</a:t>
            </a:r>
            <a:endParaRPr lang="en-US" sz="16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An incomplete is not a pass. Reporting it as one would have been the easiest lie in the submission.</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Our own repository could not rebuild us.</a:t>
            </a:r>
            <a:endParaRPr lang="en-US" sz="3300" dirty="0"/>
          </a:p>
        </p:txBody>
      </p:sp>
      <p:sp>
        <p:nvSpPr>
          <p:cNvPr id="4" name="Text 2"/>
          <p:cNvSpPr txBox="1"/>
          <p:nvPr/>
        </p:nvSpPr>
        <p:spPr>
          <a:xfrm>
            <a:off x="777240" y="1719072"/>
            <a:ext cx="10607040" cy="65836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No Salesforce tool is published as an RAI Self Check, so we ran the same exercise against Salesforce’s own five guidelines for responsible agentic AI, as something anybody can execute and disagree with.</a:t>
            </a:r>
            <a:endParaRPr lang="en-US" sz="1350" dirty="0"/>
          </a:p>
        </p:txBody>
      </p:sp>
      <p:sp>
        <p:nvSpPr>
          <p:cNvPr id="5" name="Shape 3"/>
          <p:cNvSpPr/>
          <p:nvPr/>
        </p:nvSpPr>
        <p:spPr>
          <a:xfrm>
            <a:off x="777240" y="2487168"/>
            <a:ext cx="1975104" cy="457200"/>
          </a:xfrm>
          <a:prstGeom prst="rect">
            <a:avLst/>
          </a:prstGeom>
          <a:solidFill>
            <a:srgbClr val="E7E3D8"/>
          </a:solidFill>
          <a:ln w="12700">
            <a:solidFill>
              <a:srgbClr val="D3CEC0"/>
            </a:solidFill>
            <a:prstDash val="solid"/>
          </a:ln>
        </p:spPr>
      </p:sp>
      <p:sp>
        <p:nvSpPr>
          <p:cNvPr id="6" name="Text 4"/>
          <p:cNvSpPr txBox="1"/>
          <p:nvPr/>
        </p:nvSpPr>
        <p:spPr>
          <a:xfrm>
            <a:off x="777240"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ACCURACY</a:t>
            </a:r>
            <a:endParaRPr lang="en-US" sz="860" dirty="0"/>
          </a:p>
        </p:txBody>
      </p:sp>
      <p:sp>
        <p:nvSpPr>
          <p:cNvPr id="7" name="Shape 5"/>
          <p:cNvSpPr/>
          <p:nvPr/>
        </p:nvSpPr>
        <p:spPr>
          <a:xfrm>
            <a:off x="2907792" y="2487168"/>
            <a:ext cx="1975104" cy="457200"/>
          </a:xfrm>
          <a:prstGeom prst="rect">
            <a:avLst/>
          </a:prstGeom>
          <a:solidFill>
            <a:srgbClr val="E7E3D8"/>
          </a:solidFill>
          <a:ln w="12700">
            <a:solidFill>
              <a:srgbClr val="D3CEC0"/>
            </a:solidFill>
            <a:prstDash val="solid"/>
          </a:ln>
        </p:spPr>
      </p:sp>
      <p:sp>
        <p:nvSpPr>
          <p:cNvPr id="8" name="Text 6"/>
          <p:cNvSpPr txBox="1"/>
          <p:nvPr/>
        </p:nvSpPr>
        <p:spPr>
          <a:xfrm>
            <a:off x="2907792"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SAFETY</a:t>
            </a:r>
            <a:endParaRPr lang="en-US" sz="860" dirty="0"/>
          </a:p>
        </p:txBody>
      </p:sp>
      <p:sp>
        <p:nvSpPr>
          <p:cNvPr id="9" name="Shape 7"/>
          <p:cNvSpPr/>
          <p:nvPr/>
        </p:nvSpPr>
        <p:spPr>
          <a:xfrm>
            <a:off x="5038344" y="2487168"/>
            <a:ext cx="1975104" cy="457200"/>
          </a:xfrm>
          <a:prstGeom prst="rect">
            <a:avLst/>
          </a:prstGeom>
          <a:solidFill>
            <a:srgbClr val="E7E3D8"/>
          </a:solidFill>
          <a:ln w="12700">
            <a:solidFill>
              <a:srgbClr val="D3CEC0"/>
            </a:solidFill>
            <a:prstDash val="solid"/>
          </a:ln>
        </p:spPr>
      </p:sp>
      <p:sp>
        <p:nvSpPr>
          <p:cNvPr id="10" name="Text 8"/>
          <p:cNvSpPr txBox="1"/>
          <p:nvPr/>
        </p:nvSpPr>
        <p:spPr>
          <a:xfrm>
            <a:off x="5038344"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HONESTY</a:t>
            </a:r>
            <a:endParaRPr lang="en-US" sz="860" dirty="0"/>
          </a:p>
        </p:txBody>
      </p:sp>
      <p:sp>
        <p:nvSpPr>
          <p:cNvPr id="11" name="Shape 9"/>
          <p:cNvSpPr/>
          <p:nvPr/>
        </p:nvSpPr>
        <p:spPr>
          <a:xfrm>
            <a:off x="7168896" y="2487168"/>
            <a:ext cx="1975104" cy="457200"/>
          </a:xfrm>
          <a:prstGeom prst="rect">
            <a:avLst/>
          </a:prstGeom>
          <a:solidFill>
            <a:srgbClr val="E7E3D8"/>
          </a:solidFill>
          <a:ln w="12700">
            <a:solidFill>
              <a:srgbClr val="D3CEC0"/>
            </a:solidFill>
            <a:prstDash val="solid"/>
          </a:ln>
        </p:spPr>
      </p:sp>
      <p:sp>
        <p:nvSpPr>
          <p:cNvPr id="12" name="Text 10"/>
          <p:cNvSpPr txBox="1"/>
          <p:nvPr/>
        </p:nvSpPr>
        <p:spPr>
          <a:xfrm>
            <a:off x="7168896"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EMPOWERMENT</a:t>
            </a:r>
            <a:endParaRPr lang="en-US" sz="860" dirty="0"/>
          </a:p>
        </p:txBody>
      </p:sp>
      <p:sp>
        <p:nvSpPr>
          <p:cNvPr id="13" name="Shape 11"/>
          <p:cNvSpPr/>
          <p:nvPr/>
        </p:nvSpPr>
        <p:spPr>
          <a:xfrm>
            <a:off x="9299448" y="2487168"/>
            <a:ext cx="1975104" cy="457200"/>
          </a:xfrm>
          <a:prstGeom prst="rect">
            <a:avLst/>
          </a:prstGeom>
          <a:solidFill>
            <a:srgbClr val="E7E3D8"/>
          </a:solidFill>
          <a:ln w="12700">
            <a:solidFill>
              <a:srgbClr val="D3CEC0"/>
            </a:solidFill>
            <a:prstDash val="solid"/>
          </a:ln>
        </p:spPr>
      </p:sp>
      <p:sp>
        <p:nvSpPr>
          <p:cNvPr id="14" name="Text 12"/>
          <p:cNvSpPr txBox="1"/>
          <p:nvPr/>
        </p:nvSpPr>
        <p:spPr>
          <a:xfrm>
            <a:off x="9299448"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SUSTAINABILITY</a:t>
            </a:r>
            <a:endParaRPr lang="en-US" sz="860" dirty="0"/>
          </a:p>
        </p:txBody>
      </p:sp>
      <p:sp>
        <p:nvSpPr>
          <p:cNvPr id="15" name="Text 13"/>
          <p:cNvSpPr txBox="1"/>
          <p:nvPr/>
        </p:nvSpPr>
        <p:spPr>
          <a:xfrm>
            <a:off x="777240" y="3072384"/>
            <a:ext cx="10607040" cy="329184"/>
          </a:xfrm>
          <a:prstGeom prst="rect">
            <a:avLst/>
          </a:prstGeom>
          <a:noFill/>
          <a:ln/>
        </p:spPr>
        <p:txBody>
          <a:bodyPr wrap="square" lIns="0" tIns="0" rIns="0" bIns="0" rtlCol="0" anchor="ctr"/>
          <a:lstStyle/>
          <a:p>
            <a:pPr indent="0" marL="0">
              <a:buNone/>
            </a:pPr>
            <a:r>
              <a:rPr lang="en-US" sz="1200" dirty="0">
                <a:solidFill>
                  <a:srgbClr val="656B71"/>
                </a:solidFill>
                <a:latin typeface="Courier New" pitchFamily="34" charset="0"/>
                <a:ea typeface="Courier New" pitchFamily="34" charset="-122"/>
                <a:cs typeface="Courier New" pitchFamily="34" charset="-120"/>
              </a:rPr>
              <a:t>21 checks   |   19 passed   |   0 failed   |   2 undecided, and undecided is never counted as a pass</a:t>
            </a:r>
            <a:endParaRPr lang="en-US" sz="1200" dirty="0"/>
          </a:p>
        </p:txBody>
      </p:sp>
      <p:sp>
        <p:nvSpPr>
          <p:cNvPr id="16" name="Shape 14"/>
          <p:cNvSpPr/>
          <p:nvPr/>
        </p:nvSpPr>
        <p:spPr>
          <a:xfrm>
            <a:off x="777240" y="3529584"/>
            <a:ext cx="10607040" cy="1481328"/>
          </a:xfrm>
          <a:prstGeom prst="roundRect">
            <a:avLst>
              <a:gd name="adj" fmla="val 3086"/>
            </a:avLst>
          </a:prstGeom>
          <a:solidFill>
            <a:srgbClr val="FFFFFF"/>
          </a:solidFill>
          <a:ln w="19050">
            <a:solidFill>
              <a:srgbClr val="8A2F24"/>
            </a:solidFill>
            <a:prstDash val="solid"/>
          </a:ln>
        </p:spPr>
      </p:sp>
      <p:sp>
        <p:nvSpPr>
          <p:cNvPr id="17" name="Text 15"/>
          <p:cNvSpPr txBox="1"/>
          <p:nvPr/>
        </p:nvSpPr>
        <p:spPr>
          <a:xfrm>
            <a:off x="1033272" y="3712464"/>
            <a:ext cx="10149840" cy="310896"/>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caught on the first run</a:t>
            </a:r>
            <a:endParaRPr lang="en-US" sz="1450" dirty="0"/>
          </a:p>
        </p:txBody>
      </p:sp>
      <p:sp>
        <p:nvSpPr>
          <p:cNvPr id="18" name="Text 16"/>
          <p:cNvSpPr txBox="1"/>
          <p:nvPr/>
        </p:nvSpPr>
        <p:spPr>
          <a:xfrm>
            <a:off x="1033272" y="4114800"/>
            <a:ext cx="10149840" cy="8229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org held 28 library rows. The seed in our repository held 24. The four missing ones were the lighting rows added to fix the bias defect on the previous slide. Anyone deploying from our code would have rebuilt the agent with that defect back in, and every claim we make about fixing it would have been false on their org.</a:t>
            </a:r>
            <a:endParaRPr lang="en-US" sz="1250" dirty="0"/>
          </a:p>
        </p:txBody>
      </p:sp>
      <p:sp>
        <p:nvSpPr>
          <p:cNvPr id="19" name="Text 17"/>
          <p:cNvSpPr txBox="1"/>
          <p:nvPr/>
        </p:nvSpPr>
        <p:spPr>
          <a:xfrm>
            <a:off x="777240" y="5138928"/>
            <a:ext cx="10607040" cy="566928"/>
          </a:xfrm>
          <a:prstGeom prst="rect">
            <a:avLst/>
          </a:prstGeom>
          <a:noFill/>
          <a:ln/>
        </p:spPr>
        <p:txBody>
          <a:bodyPr wrap="square" lIns="0" tIns="0" rIns="0" bIns="0" rtlCol="0" anchor="ctr"/>
          <a:lstStyle/>
          <a:p>
            <a:pPr indent="0" marL="0">
              <a:buNone/>
            </a:pPr>
            <a:r>
              <a:rPr lang="en-US" sz="1250" dirty="0">
                <a:solidFill>
                  <a:srgbClr val="42474C"/>
                </a:solidFill>
                <a:latin typeface="Calibri" pitchFamily="34" charset="0"/>
                <a:ea typeface="Calibri" pitchFamily="34" charset="-122"/>
                <a:cs typeface="Calibri" pitchFamily="34" charset="-120"/>
              </a:rPr>
              <a:t>It also produced a finding we withdrew. A check demanded every row state a cost; nine do not. But the code was already right: it says it has no figure and refuses to estimate one. We corrected the check, not the code, and left it in the file with a note that it was wrong the first time.</a:t>
            </a:r>
            <a:endParaRPr lang="en-US" sz="1250" dirty="0"/>
          </a:p>
        </p:txBody>
      </p:sp>
      <p:sp>
        <p:nvSpPr>
          <p:cNvPr id="20" name="Text 18"/>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 check that lies to you is worse than no check. So --selftest breaks four of them on purpose and asserts each one goes red.</a:t>
            </a:r>
            <a:endParaRPr lang="en-US" sz="1600" dirty="0"/>
          </a:p>
        </p:txBody>
      </p:sp>
      <p:sp>
        <p:nvSpPr>
          <p:cNvPr id="21" name="Text 19"/>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python3 tests/rai_self_check.py   ·   python3 tests/rai_self_check.py --selftest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 not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 is deterministic, it is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124 Apex   |   494 invariants   |   333 accessibility   |   131 Sa11y   |   28 contrast   |   16 reading level   |   all passing, every build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 not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 not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messaging is not carrier registered.</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A2P 10DLC gates SMS from a ten digit number. Voice on the same number needs none and works today.</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Slack app has never met a real workspace.</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Apex behind it is live and verified. The handshake is not.</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 system that claims a perfect score against its own adversarial suite is telling you about its suite, not its agent.</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05</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offer</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Why this has not happened, and why that is over.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Why good employers have not done this.</a:t>
            </a:r>
            <a:endParaRPr lang="en-US" sz="3300" dirty="0"/>
          </a:p>
        </p:txBody>
      </p:sp>
      <p:sp>
        <p:nvSpPr>
          <p:cNvPr id="4" name="Shape 2"/>
          <p:cNvSpPr/>
          <p:nvPr/>
        </p:nvSpPr>
        <p:spPr>
          <a:xfrm>
            <a:off x="777240" y="1737360"/>
            <a:ext cx="50292" cy="640080"/>
          </a:xfrm>
          <a:prstGeom prst="rect">
            <a:avLst/>
          </a:prstGeom>
          <a:solidFill>
            <a:srgbClr val="C9A227"/>
          </a:solidFill>
          <a:ln w="12700">
            <a:solidFill>
              <a:srgbClr val="C9A227"/>
            </a:solidFill>
            <a:prstDash val="solid"/>
          </a:ln>
        </p:spPr>
      </p:sp>
      <p:sp>
        <p:nvSpPr>
          <p:cNvPr id="5" name="Text 3"/>
          <p:cNvSpPr txBox="1"/>
          <p:nvPr/>
        </p:nvSpPr>
        <p:spPr>
          <a:xfrm>
            <a:off x="1005840" y="175564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 budget line says "the asking was too hard."</a:t>
            </a:r>
            <a:endParaRPr lang="en-US" sz="1300" dirty="0"/>
          </a:p>
        </p:txBody>
      </p:sp>
      <p:sp>
        <p:nvSpPr>
          <p:cNvPr id="6" name="Text 4"/>
          <p:cNvSpPr txBox="1"/>
          <p:nvPr/>
        </p:nvSpPr>
        <p:spPr>
          <a:xfrm>
            <a:off x="5532120" y="175564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cost is real and has never been priced, so it has never been funded. You cannot get money for a problem with no line item.</a:t>
            </a:r>
            <a:endParaRPr lang="en-US" sz="1150" dirty="0"/>
          </a:p>
        </p:txBody>
      </p:sp>
      <p:sp>
        <p:nvSpPr>
          <p:cNvPr id="7" name="Shape 5"/>
          <p:cNvSpPr/>
          <p:nvPr/>
        </p:nvSpPr>
        <p:spPr>
          <a:xfrm>
            <a:off x="777240" y="2514600"/>
            <a:ext cx="50292" cy="640080"/>
          </a:xfrm>
          <a:prstGeom prst="rect">
            <a:avLst/>
          </a:prstGeom>
          <a:solidFill>
            <a:srgbClr val="C9A227"/>
          </a:solidFill>
          <a:ln w="12700">
            <a:solidFill>
              <a:srgbClr val="C9A227"/>
            </a:solidFill>
            <a:prstDash val="solid"/>
          </a:ln>
        </p:spPr>
      </p:sp>
      <p:sp>
        <p:nvSpPr>
          <p:cNvPr id="8" name="Text 6"/>
          <p:cNvSpPr txBox="1"/>
          <p:nvPr/>
        </p:nvSpPr>
        <p:spPr>
          <a:xfrm>
            <a:off x="1005840" y="253288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Nobody owns it.</a:t>
            </a:r>
            <a:endParaRPr lang="en-US" sz="1300" dirty="0"/>
          </a:p>
        </p:txBody>
      </p:sp>
      <p:sp>
        <p:nvSpPr>
          <p:cNvPr id="9" name="Text 7"/>
          <p:cNvSpPr txBox="1"/>
          <p:nvPr/>
        </p:nvSpPr>
        <p:spPr>
          <a:xfrm>
            <a:off x="5532120" y="253288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owns the policy. IT owns the systems. The manager owns the person. The request falls in the gap between three desks and waits there.</a:t>
            </a:r>
            <a:endParaRPr lang="en-US" sz="1150" dirty="0"/>
          </a:p>
        </p:txBody>
      </p:sp>
      <p:sp>
        <p:nvSpPr>
          <p:cNvPr id="10" name="Shape 8"/>
          <p:cNvSpPr/>
          <p:nvPr/>
        </p:nvSpPr>
        <p:spPr>
          <a:xfrm>
            <a:off x="777240" y="3291840"/>
            <a:ext cx="50292" cy="640080"/>
          </a:xfrm>
          <a:prstGeom prst="rect">
            <a:avLst/>
          </a:prstGeom>
          <a:solidFill>
            <a:srgbClr val="C9A227"/>
          </a:solidFill>
          <a:ln w="12700">
            <a:solidFill>
              <a:srgbClr val="C9A227"/>
            </a:solidFill>
            <a:prstDash val="solid"/>
          </a:ln>
        </p:spPr>
      </p:sp>
      <p:sp>
        <p:nvSpPr>
          <p:cNvPr id="11" name="Text 9"/>
          <p:cNvSpPr txBox="1"/>
          <p:nvPr/>
        </p:nvSpPr>
        <p:spPr>
          <a:xfrm>
            <a:off x="1005840" y="331012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Caution looks like safety.</a:t>
            </a:r>
            <a:endParaRPr lang="en-US" sz="1300" dirty="0"/>
          </a:p>
        </p:txBody>
      </p:sp>
      <p:sp>
        <p:nvSpPr>
          <p:cNvPr id="12" name="Text 10"/>
          <p:cNvSpPr txBox="1"/>
          <p:nvPr/>
        </p:nvSpPr>
        <p:spPr>
          <a:xfrm>
            <a:off x="5532120" y="331012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Handling a disclosure badly carries legal risk, so doing nothing feels safest. It is not safer. It is only quieter.</a:t>
            </a:r>
            <a:endParaRPr lang="en-US" sz="1150" dirty="0"/>
          </a:p>
        </p:txBody>
      </p:sp>
      <p:sp>
        <p:nvSpPr>
          <p:cNvPr id="13" name="Shape 11"/>
          <p:cNvSpPr/>
          <p:nvPr/>
        </p:nvSpPr>
        <p:spPr>
          <a:xfrm>
            <a:off x="777240" y="4069080"/>
            <a:ext cx="50292" cy="640080"/>
          </a:xfrm>
          <a:prstGeom prst="rect">
            <a:avLst/>
          </a:prstGeom>
          <a:solidFill>
            <a:srgbClr val="C9A227"/>
          </a:solidFill>
          <a:ln w="12700">
            <a:solidFill>
              <a:srgbClr val="C9A227"/>
            </a:solidFill>
            <a:prstDash val="solid"/>
          </a:ln>
        </p:spPr>
      </p:sp>
      <p:sp>
        <p:nvSpPr>
          <p:cNvPr id="14" name="Text 12"/>
          <p:cNvSpPr txBox="1"/>
          <p:nvPr/>
        </p:nvSpPr>
        <p:spPr>
          <a:xfrm>
            <a:off x="1005840" y="408736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The demand is invisible by design.</a:t>
            </a:r>
            <a:endParaRPr lang="en-US" sz="1300" dirty="0"/>
          </a:p>
        </p:txBody>
      </p:sp>
      <p:sp>
        <p:nvSpPr>
          <p:cNvPr id="15" name="Text 13"/>
          <p:cNvSpPr txBox="1"/>
          <p:nvPr/>
        </p:nvSpPr>
        <p:spPr>
          <a:xfrm>
            <a:off x="5532120" y="408736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Three people in a hundred tell you. An empty queue reads as a solved problem, and the silence is taken as evidence.</a:t>
            </a:r>
            <a:endParaRPr lang="en-US" sz="1150" dirty="0"/>
          </a:p>
        </p:txBody>
      </p:sp>
      <p:sp>
        <p:nvSpPr>
          <p:cNvPr id="16" name="Shape 14"/>
          <p:cNvSpPr/>
          <p:nvPr/>
        </p:nvSpPr>
        <p:spPr>
          <a:xfrm>
            <a:off x="777240" y="4846320"/>
            <a:ext cx="50292" cy="640080"/>
          </a:xfrm>
          <a:prstGeom prst="rect">
            <a:avLst/>
          </a:prstGeom>
          <a:solidFill>
            <a:srgbClr val="C9A227"/>
          </a:solidFill>
          <a:ln w="12700">
            <a:solidFill>
              <a:srgbClr val="C9A227"/>
            </a:solidFill>
            <a:prstDash val="solid"/>
          </a:ln>
        </p:spPr>
      </p:sp>
      <p:sp>
        <p:nvSpPr>
          <p:cNvPr id="17" name="Text 15"/>
          <p:cNvSpPr txBox="1"/>
          <p:nvPr/>
        </p:nvSpPr>
        <p:spPr>
          <a:xfrm>
            <a:off x="1005840" y="486460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Every tool assumed disclosure first.</a:t>
            </a:r>
            <a:endParaRPr lang="en-US" sz="1300" dirty="0"/>
          </a:p>
        </p:txBody>
      </p:sp>
      <p:sp>
        <p:nvSpPr>
          <p:cNvPr id="18" name="Text 16"/>
          <p:cNvSpPr txBox="1"/>
          <p:nvPr/>
        </p:nvSpPr>
        <p:spPr>
          <a:xfrm>
            <a:off x="5532120" y="486460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systems start from a diagnosis field. Building one without it meant building something new, and nobody had.</a:t>
            </a:r>
            <a:endParaRPr lang="en-US" sz="115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None of this is malice. All of it was a reason. From today none of it is an excuse, because the thing exists, it is open, and it costs nothing to try.</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Free for the first ten. Here is the price.</a:t>
            </a:r>
            <a:endParaRPr lang="en-US" sz="3300" dirty="0"/>
          </a:p>
        </p:txBody>
      </p:sp>
      <p:sp>
        <p:nvSpPr>
          <p:cNvPr id="4" name="Shape 2"/>
          <p:cNvSpPr/>
          <p:nvPr/>
        </p:nvSpPr>
        <p:spPr>
          <a:xfrm>
            <a:off x="777240" y="1755648"/>
            <a:ext cx="5074920" cy="3246120"/>
          </a:xfrm>
          <a:prstGeom prst="roundRect">
            <a:avLst>
              <a:gd name="adj" fmla="val 1408"/>
            </a:avLst>
          </a:prstGeom>
          <a:solidFill>
            <a:srgbClr val="FFFFFF"/>
          </a:solidFill>
          <a:ln w="19050">
            <a:solidFill>
              <a:srgbClr val="1F5546"/>
            </a:solidFill>
            <a:prstDash val="solid"/>
          </a:ln>
        </p:spPr>
      </p:sp>
      <p:sp>
        <p:nvSpPr>
          <p:cNvPr id="5" name="Text 3"/>
          <p:cNvSpPr txBox="1"/>
          <p:nvPr/>
        </p:nvSpPr>
        <p:spPr>
          <a:xfrm>
            <a:off x="1024128" y="1938528"/>
            <a:ext cx="4572000" cy="329184"/>
          </a:xfrm>
          <a:prstGeom prst="rect">
            <a:avLst/>
          </a:prstGeom>
          <a:noFill/>
          <a:ln/>
        </p:spPr>
        <p:txBody>
          <a:bodyPr wrap="square" lIns="0" tIns="0" rIns="0" bIns="0" rtlCol="0" anchor="ctr"/>
          <a:lstStyle/>
          <a:p>
            <a:pPr indent="0" marL="0">
              <a:buNone/>
            </a:pPr>
            <a:r>
              <a:rPr lang="en-US" sz="1500" b="1" dirty="0">
                <a:solidFill>
                  <a:srgbClr val="1F5546"/>
                </a:solidFill>
                <a:latin typeface="Cambria" pitchFamily="34" charset="0"/>
                <a:ea typeface="Cambria" pitchFamily="34" charset="-122"/>
                <a:cs typeface="Cambria" pitchFamily="34" charset="-120"/>
              </a:rPr>
              <a:t>What you get</a:t>
            </a:r>
            <a:endParaRPr lang="en-US" sz="1500" dirty="0"/>
          </a:p>
        </p:txBody>
      </p:sp>
      <p:sp>
        <p:nvSpPr>
          <p:cNvPr id="6" name="Text 4"/>
          <p:cNvSpPr txBox="1"/>
          <p:nvPr/>
        </p:nvSpPr>
        <p:spPr>
          <a:xfrm>
            <a:off x="102412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whole system, at no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code, and the library with every row’s source</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deployment into your own org, which holds your data, not ours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Both audits, so you can check us rather than trust us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No licence, no seat count, no lock-in</a:t>
            </a:r>
            <a:endParaRPr lang="en-US" sz="1250" dirty="0"/>
          </a:p>
        </p:txBody>
      </p:sp>
      <p:sp>
        <p:nvSpPr>
          <p:cNvPr id="7" name="Shape 5"/>
          <p:cNvSpPr/>
          <p:nvPr/>
        </p:nvSpPr>
        <p:spPr>
          <a:xfrm>
            <a:off x="6309360" y="1755648"/>
            <a:ext cx="5074920" cy="3246120"/>
          </a:xfrm>
          <a:prstGeom prst="roundRect">
            <a:avLst>
              <a:gd name="adj" fmla="val 1408"/>
            </a:avLst>
          </a:prstGeom>
          <a:solidFill>
            <a:srgbClr val="FFFFFF"/>
          </a:solidFill>
          <a:ln w="19050">
            <a:solidFill>
              <a:srgbClr val="14171A"/>
            </a:solidFill>
            <a:prstDash val="solid"/>
          </a:ln>
        </p:spPr>
      </p:sp>
      <p:sp>
        <p:nvSpPr>
          <p:cNvPr id="8" name="Text 6"/>
          <p:cNvSpPr txBox="1"/>
          <p:nvPr/>
        </p:nvSpPr>
        <p:spPr>
          <a:xfrm>
            <a:off x="6556248" y="1938528"/>
            <a:ext cx="4572000" cy="329184"/>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What we ask instead of money</a:t>
            </a:r>
            <a:endParaRPr lang="en-US" sz="1500" dirty="0"/>
          </a:p>
        </p:txBody>
      </p:sp>
      <p:sp>
        <p:nvSpPr>
          <p:cNvPr id="9" name="Text 7"/>
          <p:cNvSpPr txBox="1"/>
          <p:nvPr/>
        </p:nvSpPr>
        <p:spPr>
          <a:xfrm>
            <a:off x="655624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Name one owner. A person, not a department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Answer within five working days. The wait is the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Publish what you said yes to, in aggregate, with no names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Let a disabled employee test it before you launch it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Tell us what broke</a:t>
            </a:r>
            <a:endParaRPr lang="en-US" sz="1250" dirty="0"/>
          </a:p>
        </p:txBody>
      </p:sp>
      <p:sp>
        <p:nvSpPr>
          <p:cNvPr id="10" name="Text 8"/>
          <p:cNvSpPr txBox="1"/>
          <p:nvPr/>
        </p:nvSpPr>
        <p:spPr>
          <a:xfrm>
            <a:off x="777240" y="5084064"/>
            <a:ext cx="10607040" cy="56692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We are not asking for a case study or a logo. Those five things are what actually makes an accommodation arrive, and an organisation unwilling to do them would not have got value from the software either.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Sixty-one in a hundred cost nothing. The first ten will find that out on their own data, in public, and then nobody gets to say it was the money.</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A</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Appendix</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Every figure, its source, and the command that proves it.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SOURCES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Every figure, and where it came from.</a:t>
            </a:r>
            <a:endParaRPr lang="en-US" sz="3300" dirty="0"/>
          </a:p>
        </p:txBody>
      </p:sp>
      <p:sp>
        <p:nvSpPr>
          <p:cNvPr id="4" name="Shape 2"/>
          <p:cNvSpPr/>
          <p:nvPr/>
        </p:nvSpPr>
        <p:spPr>
          <a:xfrm>
            <a:off x="777240" y="1755648"/>
            <a:ext cx="4114800" cy="475488"/>
          </a:xfrm>
          <a:prstGeom prst="rect">
            <a:avLst/>
          </a:prstGeom>
          <a:solidFill>
            <a:srgbClr val="E7E3D8"/>
          </a:solidFill>
          <a:ln w="12700">
            <a:solidFill>
              <a:srgbClr val="D3CEC0"/>
            </a:solidFill>
            <a:prstDash val="solid"/>
          </a:ln>
        </p:spPr>
      </p:sp>
      <p:sp>
        <p:nvSpPr>
          <p:cNvPr id="5" name="Text 3"/>
          <p:cNvSpPr txBox="1"/>
          <p:nvPr/>
        </p:nvSpPr>
        <p:spPr>
          <a:xfrm>
            <a:off x="923544" y="18928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1.3 billion, 16% of the world</a:t>
            </a:r>
            <a:endParaRPr lang="en-US" sz="1200" dirty="0"/>
          </a:p>
        </p:txBody>
      </p:sp>
      <p:sp>
        <p:nvSpPr>
          <p:cNvPr id="6" name="Text 4"/>
          <p:cNvSpPr txBox="1"/>
          <p:nvPr/>
        </p:nvSpPr>
        <p:spPr>
          <a:xfrm>
            <a:off x="5120640" y="18928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WHO, Global report on health equity for persons with disabilities, 2022</a:t>
            </a:r>
            <a:endParaRPr lang="en-US" sz="1150" dirty="0"/>
          </a:p>
        </p:txBody>
      </p:sp>
      <p:sp>
        <p:nvSpPr>
          <p:cNvPr id="7" name="Shape 5"/>
          <p:cNvSpPr/>
          <p:nvPr/>
        </p:nvSpPr>
        <p:spPr>
          <a:xfrm>
            <a:off x="777240" y="2304288"/>
            <a:ext cx="4114800" cy="475488"/>
          </a:xfrm>
          <a:prstGeom prst="rect">
            <a:avLst/>
          </a:prstGeom>
          <a:solidFill>
            <a:srgbClr val="E7E3D8"/>
          </a:solidFill>
          <a:ln w="12700">
            <a:solidFill>
              <a:srgbClr val="D3CEC0"/>
            </a:solidFill>
            <a:prstDash val="solid"/>
          </a:ln>
        </p:spPr>
      </p:sp>
      <p:sp>
        <p:nvSpPr>
          <p:cNvPr id="8" name="Text 6"/>
          <p:cNvSpPr txBox="1"/>
          <p:nvPr/>
        </p:nvSpPr>
        <p:spPr>
          <a:xfrm>
            <a:off x="923544" y="24414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27% of Canadians aged 15+</a:t>
            </a:r>
            <a:endParaRPr lang="en-US" sz="1200" dirty="0"/>
          </a:p>
        </p:txBody>
      </p:sp>
      <p:sp>
        <p:nvSpPr>
          <p:cNvPr id="9" name="Text 7"/>
          <p:cNvSpPr txBox="1"/>
          <p:nvPr/>
        </p:nvSpPr>
        <p:spPr>
          <a:xfrm>
            <a:off x="5120640" y="24414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Canadian Survey on Disability</a:t>
            </a:r>
            <a:endParaRPr lang="en-US" sz="1150" dirty="0"/>
          </a:p>
        </p:txBody>
      </p:sp>
      <p:sp>
        <p:nvSpPr>
          <p:cNvPr id="10" name="Shape 8"/>
          <p:cNvSpPr/>
          <p:nvPr/>
        </p:nvSpPr>
        <p:spPr>
          <a:xfrm>
            <a:off x="777240" y="2852928"/>
            <a:ext cx="4114800" cy="475488"/>
          </a:xfrm>
          <a:prstGeom prst="rect">
            <a:avLst/>
          </a:prstGeom>
          <a:solidFill>
            <a:srgbClr val="E7E3D8"/>
          </a:solidFill>
          <a:ln w="12700">
            <a:solidFill>
              <a:srgbClr val="D3CEC0"/>
            </a:solidFill>
            <a:prstDash val="solid"/>
          </a:ln>
        </p:spPr>
      </p:sp>
      <p:sp>
        <p:nvSpPr>
          <p:cNvPr id="11" name="Text 9"/>
          <p:cNvSpPr txBox="1"/>
          <p:nvPr/>
        </p:nvSpPr>
        <p:spPr>
          <a:xfrm>
            <a:off x="923544" y="299008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35.4% have an unmet need</a:t>
            </a:r>
            <a:endParaRPr lang="en-US" sz="1200" dirty="0"/>
          </a:p>
        </p:txBody>
      </p:sp>
      <p:sp>
        <p:nvSpPr>
          <p:cNvPr id="12" name="Text 10"/>
          <p:cNvSpPr txBox="1"/>
          <p:nvPr/>
        </p:nvSpPr>
        <p:spPr>
          <a:xfrm>
            <a:off x="5120640" y="299008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the strongest single figure in this deck</a:t>
            </a:r>
            <a:endParaRPr lang="en-US" sz="1150" dirty="0"/>
          </a:p>
        </p:txBody>
      </p:sp>
      <p:sp>
        <p:nvSpPr>
          <p:cNvPr id="13" name="Shape 11"/>
          <p:cNvSpPr/>
          <p:nvPr/>
        </p:nvSpPr>
        <p:spPr>
          <a:xfrm>
            <a:off x="777240" y="3401568"/>
            <a:ext cx="4114800" cy="475488"/>
          </a:xfrm>
          <a:prstGeom prst="rect">
            <a:avLst/>
          </a:prstGeom>
          <a:solidFill>
            <a:srgbClr val="E7E3D8"/>
          </a:solidFill>
          <a:ln w="12700">
            <a:solidFill>
              <a:srgbClr val="D3CEC0"/>
            </a:solidFill>
            <a:prstDash val="solid"/>
          </a:ln>
        </p:spPr>
      </p:sp>
      <p:sp>
        <p:nvSpPr>
          <p:cNvPr id="14" name="Text 12"/>
          <p:cNvSpPr txBox="1"/>
          <p:nvPr/>
        </p:nvSpPr>
        <p:spPr>
          <a:xfrm>
            <a:off x="923544" y="353872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22.8% employed, against 65.2%</a:t>
            </a:r>
            <a:endParaRPr lang="en-US" sz="1200" dirty="0"/>
          </a:p>
        </p:txBody>
      </p:sp>
      <p:sp>
        <p:nvSpPr>
          <p:cNvPr id="15" name="Text 13"/>
          <p:cNvSpPr txBox="1"/>
          <p:nvPr/>
        </p:nvSpPr>
        <p:spPr>
          <a:xfrm>
            <a:off x="5120640" y="353872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US Bureau of Labor Statistics, 2025</a:t>
            </a:r>
            <a:endParaRPr lang="en-US" sz="1150" dirty="0"/>
          </a:p>
        </p:txBody>
      </p:sp>
      <p:sp>
        <p:nvSpPr>
          <p:cNvPr id="16" name="Shape 14"/>
          <p:cNvSpPr/>
          <p:nvPr/>
        </p:nvSpPr>
        <p:spPr>
          <a:xfrm>
            <a:off x="777240" y="3950208"/>
            <a:ext cx="4114800" cy="475488"/>
          </a:xfrm>
          <a:prstGeom prst="rect">
            <a:avLst/>
          </a:prstGeom>
          <a:solidFill>
            <a:srgbClr val="E7E3D8"/>
          </a:solidFill>
          <a:ln w="12700">
            <a:solidFill>
              <a:srgbClr val="D3CEC0"/>
            </a:solidFill>
            <a:prstDash val="solid"/>
          </a:ln>
        </p:spPr>
      </p:sp>
      <p:sp>
        <p:nvSpPr>
          <p:cNvPr id="17" name="Text 15"/>
          <p:cNvSpPr txBox="1"/>
          <p:nvPr/>
        </p:nvSpPr>
        <p:spPr>
          <a:xfrm>
            <a:off x="923544" y="408736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30% have one, 3.2% tell</a:t>
            </a:r>
            <a:endParaRPr lang="en-US" sz="1200" dirty="0"/>
          </a:p>
        </p:txBody>
      </p:sp>
      <p:sp>
        <p:nvSpPr>
          <p:cNvPr id="18" name="Text 16"/>
          <p:cNvSpPr txBox="1"/>
          <p:nvPr/>
        </p:nvSpPr>
        <p:spPr>
          <a:xfrm>
            <a:off x="5120640" y="408736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Coqual, US college-educated white-collar workers</a:t>
            </a:r>
            <a:endParaRPr lang="en-US" sz="1150" dirty="0"/>
          </a:p>
        </p:txBody>
      </p:sp>
      <p:sp>
        <p:nvSpPr>
          <p:cNvPr id="19" name="Shape 17"/>
          <p:cNvSpPr/>
          <p:nvPr/>
        </p:nvSpPr>
        <p:spPr>
          <a:xfrm>
            <a:off x="777240" y="4498848"/>
            <a:ext cx="4114800" cy="475488"/>
          </a:xfrm>
          <a:prstGeom prst="rect">
            <a:avLst/>
          </a:prstGeom>
          <a:solidFill>
            <a:srgbClr val="E7E3D8"/>
          </a:solidFill>
          <a:ln w="12700">
            <a:solidFill>
              <a:srgbClr val="D3CEC0"/>
            </a:solidFill>
            <a:prstDash val="solid"/>
          </a:ln>
        </p:spPr>
      </p:sp>
      <p:sp>
        <p:nvSpPr>
          <p:cNvPr id="20" name="Text 18"/>
          <p:cNvSpPr txBox="1"/>
          <p:nvPr/>
        </p:nvSpPr>
        <p:spPr>
          <a:xfrm>
            <a:off x="923544" y="46360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83% of those who told say it helped</a:t>
            </a:r>
            <a:endParaRPr lang="en-US" sz="1200" dirty="0"/>
          </a:p>
        </p:txBody>
      </p:sp>
      <p:sp>
        <p:nvSpPr>
          <p:cNvPr id="21" name="Text 19"/>
          <p:cNvSpPr txBox="1"/>
          <p:nvPr/>
        </p:nvSpPr>
        <p:spPr>
          <a:xfrm>
            <a:off x="5120640" y="46360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Coqual, same study</a:t>
            </a:r>
            <a:endParaRPr lang="en-US" sz="1150" dirty="0"/>
          </a:p>
        </p:txBody>
      </p:sp>
      <p:sp>
        <p:nvSpPr>
          <p:cNvPr id="22" name="Shape 20"/>
          <p:cNvSpPr/>
          <p:nvPr/>
        </p:nvSpPr>
        <p:spPr>
          <a:xfrm>
            <a:off x="777240" y="5047488"/>
            <a:ext cx="4114800" cy="475488"/>
          </a:xfrm>
          <a:prstGeom prst="rect">
            <a:avLst/>
          </a:prstGeom>
          <a:solidFill>
            <a:srgbClr val="E7E3D8"/>
          </a:solidFill>
          <a:ln w="12700">
            <a:solidFill>
              <a:srgbClr val="D3CEC0"/>
            </a:solidFill>
            <a:prstDash val="solid"/>
          </a:ln>
        </p:spPr>
      </p:sp>
      <p:sp>
        <p:nvSpPr>
          <p:cNvPr id="23" name="Text 21"/>
          <p:cNvSpPr txBox="1"/>
          <p:nvPr/>
        </p:nvSpPr>
        <p:spPr>
          <a:xfrm>
            <a:off x="923544" y="51846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61% of accommodations cost nothing</a:t>
            </a:r>
            <a:endParaRPr lang="en-US" sz="1200" dirty="0"/>
          </a:p>
        </p:txBody>
      </p:sp>
      <p:sp>
        <p:nvSpPr>
          <p:cNvPr id="24" name="Text 22"/>
          <p:cNvSpPr txBox="1"/>
          <p:nvPr/>
        </p:nvSpPr>
        <p:spPr>
          <a:xfrm>
            <a:off x="5120640" y="51846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Job Accommodation Network, 1,425 employers through 2024</a:t>
            </a:r>
            <a:endParaRPr lang="en-US" sz="11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They narrow rather than contradict. The wider the definition, the more people find they are counted, and the more of them have never told anyone at work.</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VERIFICATION</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Do not take any of it on trust.</a:t>
            </a:r>
            <a:endParaRPr lang="en-US" sz="3300" dirty="0"/>
          </a:p>
        </p:txBody>
      </p:sp>
      <p:sp>
        <p:nvSpPr>
          <p:cNvPr id="4" name="Text 2"/>
          <p:cNvSpPr txBox="1"/>
          <p:nvPr/>
        </p:nvSpPr>
        <p:spPr>
          <a:xfrm>
            <a:off x="777240" y="18105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494</a:t>
            </a:r>
            <a:endParaRPr lang="en-US" sz="1600" dirty="0"/>
          </a:p>
        </p:txBody>
      </p:sp>
      <p:sp>
        <p:nvSpPr>
          <p:cNvPr id="5" name="Text 3"/>
          <p:cNvSpPr txBox="1"/>
          <p:nvPr/>
        </p:nvSpPr>
        <p:spPr>
          <a:xfrm>
            <a:off x="1874520" y="18653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structural invariants</a:t>
            </a:r>
            <a:endParaRPr lang="en-US" sz="1200" dirty="0"/>
          </a:p>
        </p:txBody>
      </p:sp>
      <p:sp>
        <p:nvSpPr>
          <p:cNvPr id="6" name="Shape 4"/>
          <p:cNvSpPr/>
          <p:nvPr/>
        </p:nvSpPr>
        <p:spPr>
          <a:xfrm>
            <a:off x="5806440" y="1755648"/>
            <a:ext cx="5577840" cy="438912"/>
          </a:xfrm>
          <a:prstGeom prst="rect">
            <a:avLst/>
          </a:prstGeom>
          <a:solidFill>
            <a:srgbClr val="E7E3D8"/>
          </a:solidFill>
          <a:ln w="12700">
            <a:solidFill>
              <a:srgbClr val="D3CEC0"/>
            </a:solidFill>
            <a:prstDash val="solid"/>
          </a:ln>
        </p:spPr>
      </p:sp>
      <p:sp>
        <p:nvSpPr>
          <p:cNvPr id="7" name="Text 5"/>
          <p:cNvSpPr txBox="1"/>
          <p:nvPr/>
        </p:nvSpPr>
        <p:spPr>
          <a:xfrm>
            <a:off x="5961888" y="18928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tests/invariants.py</a:t>
            </a:r>
            <a:endParaRPr lang="en-US" sz="1050" dirty="0"/>
          </a:p>
        </p:txBody>
      </p:sp>
      <p:sp>
        <p:nvSpPr>
          <p:cNvPr id="8" name="Text 6"/>
          <p:cNvSpPr txBox="1"/>
          <p:nvPr/>
        </p:nvSpPr>
        <p:spPr>
          <a:xfrm>
            <a:off x="777240" y="23591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124</a:t>
            </a:r>
            <a:endParaRPr lang="en-US" sz="1600" dirty="0"/>
          </a:p>
        </p:txBody>
      </p:sp>
      <p:sp>
        <p:nvSpPr>
          <p:cNvPr id="9" name="Text 7"/>
          <p:cNvSpPr txBox="1"/>
          <p:nvPr/>
        </p:nvSpPr>
        <p:spPr>
          <a:xfrm>
            <a:off x="1874520" y="24140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Apex tests</a:t>
            </a:r>
            <a:endParaRPr lang="en-US" sz="1200" dirty="0"/>
          </a:p>
        </p:txBody>
      </p:sp>
      <p:sp>
        <p:nvSpPr>
          <p:cNvPr id="10" name="Shape 8"/>
          <p:cNvSpPr/>
          <p:nvPr/>
        </p:nvSpPr>
        <p:spPr>
          <a:xfrm>
            <a:off x="5806440" y="2304288"/>
            <a:ext cx="5577840" cy="438912"/>
          </a:xfrm>
          <a:prstGeom prst="rect">
            <a:avLst/>
          </a:prstGeom>
          <a:solidFill>
            <a:srgbClr val="E7E3D8"/>
          </a:solidFill>
          <a:ln w="12700">
            <a:solidFill>
              <a:srgbClr val="D3CEC0"/>
            </a:solidFill>
            <a:prstDash val="solid"/>
          </a:ln>
        </p:spPr>
      </p:sp>
      <p:sp>
        <p:nvSpPr>
          <p:cNvPr id="11" name="Text 9"/>
          <p:cNvSpPr txBox="1"/>
          <p:nvPr/>
        </p:nvSpPr>
        <p:spPr>
          <a:xfrm>
            <a:off x="5961888" y="24414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sf apex run test -o curbcut -l RunLocalTests</a:t>
            </a:r>
            <a:endParaRPr lang="en-US" sz="1050" dirty="0"/>
          </a:p>
        </p:txBody>
      </p:sp>
      <p:sp>
        <p:nvSpPr>
          <p:cNvPr id="12" name="Text 10"/>
          <p:cNvSpPr txBox="1"/>
          <p:nvPr/>
        </p:nvSpPr>
        <p:spPr>
          <a:xfrm>
            <a:off x="777240" y="290779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333</a:t>
            </a:r>
            <a:endParaRPr lang="en-US" sz="1600" dirty="0"/>
          </a:p>
        </p:txBody>
      </p:sp>
      <p:sp>
        <p:nvSpPr>
          <p:cNvPr id="13" name="Text 11"/>
          <p:cNvSpPr txBox="1"/>
          <p:nvPr/>
        </p:nvSpPr>
        <p:spPr>
          <a:xfrm>
            <a:off x="1874520" y="296265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accessibility checks, live pages</a:t>
            </a:r>
            <a:endParaRPr lang="en-US" sz="1200" dirty="0"/>
          </a:p>
        </p:txBody>
      </p:sp>
      <p:sp>
        <p:nvSpPr>
          <p:cNvPr id="14" name="Shape 12"/>
          <p:cNvSpPr/>
          <p:nvPr/>
        </p:nvSpPr>
        <p:spPr>
          <a:xfrm>
            <a:off x="5806440" y="2852928"/>
            <a:ext cx="5577840" cy="438912"/>
          </a:xfrm>
          <a:prstGeom prst="rect">
            <a:avLst/>
          </a:prstGeom>
          <a:solidFill>
            <a:srgbClr val="E7E3D8"/>
          </a:solidFill>
          <a:ln w="12700">
            <a:solidFill>
              <a:srgbClr val="D3CEC0"/>
            </a:solidFill>
            <a:prstDash val="solid"/>
          </a:ln>
        </p:spPr>
      </p:sp>
      <p:sp>
        <p:nvSpPr>
          <p:cNvPr id="15" name="Text 13"/>
          <p:cNvSpPr txBox="1"/>
          <p:nvPr/>
        </p:nvSpPr>
        <p:spPr>
          <a:xfrm>
            <a:off x="5961888" y="299008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tests/a11y_audit.py</a:t>
            </a:r>
            <a:endParaRPr lang="en-US" sz="1050" dirty="0"/>
          </a:p>
        </p:txBody>
      </p:sp>
      <p:sp>
        <p:nvSpPr>
          <p:cNvPr id="16" name="Text 14"/>
          <p:cNvSpPr txBox="1"/>
          <p:nvPr/>
        </p:nvSpPr>
        <p:spPr>
          <a:xfrm>
            <a:off x="777240" y="345643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131</a:t>
            </a:r>
            <a:endParaRPr lang="en-US" sz="1600" dirty="0"/>
          </a:p>
        </p:txBody>
      </p:sp>
      <p:sp>
        <p:nvSpPr>
          <p:cNvPr id="17" name="Text 15"/>
          <p:cNvSpPr txBox="1"/>
          <p:nvPr/>
        </p:nvSpPr>
        <p:spPr>
          <a:xfrm>
            <a:off x="1874520" y="351129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matcher</a:t>
            </a:r>
            <a:endParaRPr lang="en-US" sz="1200" dirty="0"/>
          </a:p>
        </p:txBody>
      </p:sp>
      <p:sp>
        <p:nvSpPr>
          <p:cNvPr id="18" name="Shape 16"/>
          <p:cNvSpPr/>
          <p:nvPr/>
        </p:nvSpPr>
        <p:spPr>
          <a:xfrm>
            <a:off x="5806440" y="3401568"/>
            <a:ext cx="5577840" cy="438912"/>
          </a:xfrm>
          <a:prstGeom prst="rect">
            <a:avLst/>
          </a:prstGeom>
          <a:solidFill>
            <a:srgbClr val="E7E3D8"/>
          </a:solidFill>
          <a:ln w="12700">
            <a:solidFill>
              <a:srgbClr val="D3CEC0"/>
            </a:solidFill>
            <a:prstDash val="solid"/>
          </a:ln>
        </p:spPr>
      </p:sp>
      <p:sp>
        <p:nvSpPr>
          <p:cNvPr id="19" name="Text 17"/>
          <p:cNvSpPr txBox="1"/>
          <p:nvPr/>
        </p:nvSpPr>
        <p:spPr>
          <a:xfrm>
            <a:off x="5961888" y="353872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npm run test:a11y</a:t>
            </a:r>
            <a:endParaRPr lang="en-US" sz="1050" dirty="0"/>
          </a:p>
        </p:txBody>
      </p:sp>
      <p:sp>
        <p:nvSpPr>
          <p:cNvPr id="20" name="Text 18"/>
          <p:cNvSpPr txBox="1"/>
          <p:nvPr/>
        </p:nvSpPr>
        <p:spPr>
          <a:xfrm>
            <a:off x="777240" y="400507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a:t>
            </a:r>
            <a:endParaRPr lang="en-US" sz="1600" dirty="0"/>
          </a:p>
        </p:txBody>
      </p:sp>
      <p:sp>
        <p:nvSpPr>
          <p:cNvPr id="21" name="Text 19"/>
          <p:cNvSpPr txBox="1"/>
          <p:nvPr/>
        </p:nvSpPr>
        <p:spPr>
          <a:xfrm>
            <a:off x="1874520" y="405993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responsible AI checks</a:t>
            </a:r>
            <a:endParaRPr lang="en-US" sz="1200" dirty="0"/>
          </a:p>
        </p:txBody>
      </p:sp>
      <p:sp>
        <p:nvSpPr>
          <p:cNvPr id="22" name="Shape 20"/>
          <p:cNvSpPr/>
          <p:nvPr/>
        </p:nvSpPr>
        <p:spPr>
          <a:xfrm>
            <a:off x="5806440" y="3950208"/>
            <a:ext cx="5577840" cy="438912"/>
          </a:xfrm>
          <a:prstGeom prst="rect">
            <a:avLst/>
          </a:prstGeom>
          <a:solidFill>
            <a:srgbClr val="E7E3D8"/>
          </a:solidFill>
          <a:ln w="12700">
            <a:solidFill>
              <a:srgbClr val="D3CEC0"/>
            </a:solidFill>
            <a:prstDash val="solid"/>
          </a:ln>
        </p:spPr>
      </p:sp>
      <p:sp>
        <p:nvSpPr>
          <p:cNvPr id="23" name="Text 21"/>
          <p:cNvSpPr txBox="1"/>
          <p:nvPr/>
        </p:nvSpPr>
        <p:spPr>
          <a:xfrm>
            <a:off x="5961888" y="408736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tests/rai_self_check.py</a:t>
            </a:r>
            <a:endParaRPr lang="en-US" sz="1050" dirty="0"/>
          </a:p>
        </p:txBody>
      </p:sp>
      <p:sp>
        <p:nvSpPr>
          <p:cNvPr id="24" name="Text 22"/>
          <p:cNvSpPr txBox="1"/>
          <p:nvPr/>
        </p:nvSpPr>
        <p:spPr>
          <a:xfrm>
            <a:off x="777240" y="45537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28</a:t>
            </a:r>
            <a:endParaRPr lang="en-US" sz="1600" dirty="0"/>
          </a:p>
        </p:txBody>
      </p:sp>
      <p:sp>
        <p:nvSpPr>
          <p:cNvPr id="25" name="Text 23"/>
          <p:cNvSpPr txBox="1"/>
          <p:nvPr/>
        </p:nvSpPr>
        <p:spPr>
          <a:xfrm>
            <a:off x="1874520" y="46085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contrast checks, both themes</a:t>
            </a:r>
            <a:endParaRPr lang="en-US" sz="1200" dirty="0"/>
          </a:p>
        </p:txBody>
      </p:sp>
      <p:sp>
        <p:nvSpPr>
          <p:cNvPr id="26" name="Shape 24"/>
          <p:cNvSpPr/>
          <p:nvPr/>
        </p:nvSpPr>
        <p:spPr>
          <a:xfrm>
            <a:off x="5806440" y="4498848"/>
            <a:ext cx="5577840" cy="438912"/>
          </a:xfrm>
          <a:prstGeom prst="rect">
            <a:avLst/>
          </a:prstGeom>
          <a:solidFill>
            <a:srgbClr val="E7E3D8"/>
          </a:solidFill>
          <a:ln w="12700">
            <a:solidFill>
              <a:srgbClr val="D3CEC0"/>
            </a:solidFill>
            <a:prstDash val="solid"/>
          </a:ln>
        </p:spPr>
      </p:sp>
      <p:sp>
        <p:nvSpPr>
          <p:cNvPr id="27" name="Text 25"/>
          <p:cNvSpPr txBox="1"/>
          <p:nvPr/>
        </p:nvSpPr>
        <p:spPr>
          <a:xfrm>
            <a:off x="5961888" y="46360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tests/contrast_audit.py</a:t>
            </a:r>
            <a:endParaRPr lang="en-US" sz="1050" dirty="0"/>
          </a:p>
        </p:txBody>
      </p:sp>
      <p:sp>
        <p:nvSpPr>
          <p:cNvPr id="28" name="Text 26"/>
          <p:cNvSpPr txBox="1"/>
          <p:nvPr/>
        </p:nvSpPr>
        <p:spPr>
          <a:xfrm>
            <a:off x="777240" y="51023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21/23</a:t>
            </a:r>
            <a:endParaRPr lang="en-US" sz="1600" dirty="0"/>
          </a:p>
        </p:txBody>
      </p:sp>
      <p:sp>
        <p:nvSpPr>
          <p:cNvPr id="29" name="Text 27"/>
          <p:cNvSpPr txBox="1"/>
          <p:nvPr/>
        </p:nvSpPr>
        <p:spPr>
          <a:xfrm>
            <a:off x="1874520" y="51572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adversarial assertions, deliberately not 23</a:t>
            </a:r>
            <a:endParaRPr lang="en-US" sz="1200" dirty="0"/>
          </a:p>
        </p:txBody>
      </p:sp>
      <p:sp>
        <p:nvSpPr>
          <p:cNvPr id="30" name="Shape 28"/>
          <p:cNvSpPr/>
          <p:nvPr/>
        </p:nvSpPr>
        <p:spPr>
          <a:xfrm>
            <a:off x="5806440" y="5047488"/>
            <a:ext cx="5577840" cy="438912"/>
          </a:xfrm>
          <a:prstGeom prst="rect">
            <a:avLst/>
          </a:prstGeom>
          <a:solidFill>
            <a:srgbClr val="E7E3D8"/>
          </a:solidFill>
          <a:ln w="12700">
            <a:solidFill>
              <a:srgbClr val="D3CEC0"/>
            </a:solidFill>
            <a:prstDash val="solid"/>
          </a:ln>
        </p:spPr>
      </p:sp>
      <p:sp>
        <p:nvSpPr>
          <p:cNvPr id="31" name="Text 29"/>
          <p:cNvSpPr txBox="1"/>
          <p:nvPr/>
        </p:nvSpPr>
        <p:spPr>
          <a:xfrm>
            <a:off x="5961888" y="51846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node tests/headless_agent_api.mjs</a:t>
            </a:r>
            <a:endParaRPr lang="en-US" sz="1050" dirty="0"/>
          </a:p>
        </p:txBody>
      </p:sp>
      <p:sp>
        <p:nvSpPr>
          <p:cNvPr id="32" name="Text 3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Nothing in this deck is asserted from memory. Every figure was read from the deployed org, or from the run that produced it.</a:t>
            </a:r>
            <a:endParaRPr lang="en-US" sz="1600" dirty="0"/>
          </a:p>
        </p:txBody>
      </p:sp>
      <p:sp>
        <p:nvSpPr>
          <p:cNvPr id="33" name="Text 31"/>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Org 00DgK00000YIJ5SUAX   ·   Curb_Cut v7 and Curb_Cut_Desk v5, both Active   ·   github.com/parthsevak2/curb-cut</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You already know what it costs to ask.</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You felt it in the small version, over a chair or an hour. Nobody should have to prove anything to get those, and nobody should have to spend themselves asking.</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494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124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333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2026-09-05T03:29:08Z</dcterms:created>
  <dcterms:modified xsi:type="dcterms:W3CDTF">2026-09-05T03:29:08Z</dcterms:modified>
</cp:coreProperties>
</file>