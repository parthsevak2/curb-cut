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Do not explain it. This is a real person, not 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743200"/>
          </a:xfrm>
          <a:prstGeom prst="rect">
            <a:avLst/>
          </a:prstGeom>
          <a:noFill/>
          <a:ln/>
        </p:spPr>
        <p:txBody>
          <a:bodyPr wrap="square" lIns="0" tIns="0" rIns="0" bIns="0" rtlCol="0" anchor="ctr"/>
          <a:lstStyle/>
          <a:p>
            <a:pPr indent="0" marL="0">
              <a:lnSpc>
                <a:spcPct val="120000"/>
              </a:lnSpc>
              <a:buNone/>
            </a:pPr>
            <a:r>
              <a:rPr lang="en-US" sz="3200" i="1" dirty="0">
                <a:solidFill>
                  <a:srgbClr val="F7F5EF"/>
                </a:solidFill>
                <a:latin typeface="Cambria" pitchFamily="34" charset="0"/>
                <a:ea typeface="Cambria" pitchFamily="34" charset="-122"/>
                <a:cs typeface="Cambria" pitchFamily="34" charset="-120"/>
              </a:rPr>
              <a:t>I wish we had a percent sick number on our forehead, so others could have something tangible to understand what we are going through.</a:t>
            </a:r>
            <a:endParaRPr lang="en-US" sz="3200" dirty="0"/>
          </a:p>
        </p:txBody>
      </p:sp>
      <p:sp>
        <p:nvSpPr>
          <p:cNvPr id="4" name="Text 2"/>
          <p:cNvSpPr txBox="1"/>
          <p:nvPr/>
        </p:nvSpPr>
        <p:spPr>
          <a:xfrm>
            <a:off x="777240" y="5120640"/>
            <a:ext cx="10424160" cy="82296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A participant, quoted in Ganesh and Lazar, "The Work of Workplace Disclosure",</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Proceedings of the ACM on Human-Computer Interaction, 2021.</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THAT SENTENCE IS ASKING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To be believed without having to prove it.</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She is not asking for sympathy.</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She is asking for a way to communicate one fact about her body without spending herself doing it, to people who will not believe her without evidence she should never have had to hand over.</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There is no percent sick number. What there is, in almost every workplace, is a form.</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Four things, in order.</a:t>
            </a:r>
            <a:endParaRPr lang="en-US" sz="3300" dirty="0"/>
          </a:p>
        </p:txBody>
      </p:sp>
      <p:sp>
        <p:nvSpPr>
          <p:cNvPr id="4" name="Text 2"/>
          <p:cNvSpPr txBox="1"/>
          <p:nvPr/>
        </p:nvSpPr>
        <p:spPr>
          <a:xfrm>
            <a:off x="777240" y="1783080"/>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01</a:t>
            </a:r>
            <a:endParaRPr lang="en-US" sz="2100" dirty="0"/>
          </a:p>
        </p:txBody>
      </p:sp>
      <p:sp>
        <p:nvSpPr>
          <p:cNvPr id="5" name="Text 3"/>
          <p:cNvSpPr txBox="1"/>
          <p:nvPr/>
        </p:nvSpPr>
        <p:spPr>
          <a:xfrm>
            <a:off x="1645920" y="1783080"/>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cost of telling</a:t>
            </a:r>
            <a:endParaRPr lang="en-US" sz="1800" dirty="0"/>
          </a:p>
        </p:txBody>
      </p:sp>
      <p:sp>
        <p:nvSpPr>
          <p:cNvPr id="6" name="Text 4"/>
          <p:cNvSpPr txBox="1"/>
          <p:nvPr/>
        </p:nvSpPr>
        <p:spPr>
          <a:xfrm>
            <a:off x="4846320" y="1819656"/>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300" dirty="0"/>
          </a:p>
        </p:txBody>
      </p:sp>
      <p:sp>
        <p:nvSpPr>
          <p:cNvPr id="7" name="Text 5"/>
          <p:cNvSpPr txBox="1"/>
          <p:nvPr/>
        </p:nvSpPr>
        <p:spPr>
          <a:xfrm>
            <a:off x="777240" y="2770632"/>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02</a:t>
            </a:r>
            <a:endParaRPr lang="en-US" sz="2100" dirty="0"/>
          </a:p>
        </p:txBody>
      </p:sp>
      <p:sp>
        <p:nvSpPr>
          <p:cNvPr id="8" name="Text 6"/>
          <p:cNvSpPr txBox="1"/>
          <p:nvPr/>
        </p:nvSpPr>
        <p:spPr>
          <a:xfrm>
            <a:off x="1645920" y="2770632"/>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evidence</a:t>
            </a:r>
            <a:endParaRPr lang="en-US" sz="1800" dirty="0"/>
          </a:p>
        </p:txBody>
      </p:sp>
      <p:sp>
        <p:nvSpPr>
          <p:cNvPr id="9" name="Text 7"/>
          <p:cNvSpPr txBox="1"/>
          <p:nvPr/>
        </p:nvSpPr>
        <p:spPr>
          <a:xfrm>
            <a:off x="4846320" y="2807208"/>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300" dirty="0"/>
          </a:p>
        </p:txBody>
      </p:sp>
      <p:sp>
        <p:nvSpPr>
          <p:cNvPr id="10" name="Text 8"/>
          <p:cNvSpPr txBox="1"/>
          <p:nvPr/>
        </p:nvSpPr>
        <p:spPr>
          <a:xfrm>
            <a:off x="777240" y="3758184"/>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03</a:t>
            </a:r>
            <a:endParaRPr lang="en-US" sz="2100" dirty="0"/>
          </a:p>
        </p:txBody>
      </p:sp>
      <p:sp>
        <p:nvSpPr>
          <p:cNvPr id="11" name="Text 9"/>
          <p:cNvSpPr txBox="1"/>
          <p:nvPr/>
        </p:nvSpPr>
        <p:spPr>
          <a:xfrm>
            <a:off x="1645920" y="3758184"/>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build</a:t>
            </a:r>
            <a:endParaRPr lang="en-US" sz="1800" dirty="0"/>
          </a:p>
        </p:txBody>
      </p:sp>
      <p:sp>
        <p:nvSpPr>
          <p:cNvPr id="12" name="Text 10"/>
          <p:cNvSpPr txBox="1"/>
          <p:nvPr/>
        </p:nvSpPr>
        <p:spPr>
          <a:xfrm>
            <a:off x="4846320" y="3794760"/>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Reference architecture, the channel layer, and the three rules the system will not break</a:t>
            </a:r>
            <a:endParaRPr lang="en-US" sz="1300" dirty="0"/>
          </a:p>
        </p:txBody>
      </p:sp>
      <p:sp>
        <p:nvSpPr>
          <p:cNvPr id="13" name="Text 11"/>
          <p:cNvSpPr txBox="1"/>
          <p:nvPr/>
        </p:nvSpPr>
        <p:spPr>
          <a:xfrm>
            <a:off x="777240" y="4745736"/>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04</a:t>
            </a:r>
            <a:endParaRPr lang="en-US" sz="2100" dirty="0"/>
          </a:p>
        </p:txBody>
      </p:sp>
      <p:sp>
        <p:nvSpPr>
          <p:cNvPr id="14" name="Text 12"/>
          <p:cNvSpPr txBox="1"/>
          <p:nvPr/>
        </p:nvSpPr>
        <p:spPr>
          <a:xfrm>
            <a:off x="1645920" y="4745736"/>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honest part</a:t>
            </a:r>
            <a:endParaRPr lang="en-US" sz="1800" dirty="0"/>
          </a:p>
        </p:txBody>
      </p:sp>
      <p:sp>
        <p:nvSpPr>
          <p:cNvPr id="15" name="Text 13"/>
          <p:cNvSpPr txBox="1"/>
          <p:nvPr/>
        </p:nvSpPr>
        <p:spPr>
          <a:xfrm>
            <a:off x="4846320" y="4782312"/>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we shipped wrong, what still fails, and what we measured</a:t>
            </a:r>
            <a:endParaRPr lang="en-US" sz="13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74320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5120640"/>
            <a:ext cx="10424160" cy="82296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A participant, quoted in Ganesh and Lazar, "The Work of Workplace Disclosure",</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Proceedings of the ACM on Human-Computer Interaction, 2021.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tests   |   491 structural invariants   |   333 accessibility checks   |   28 contrast   |   16 reading level   |   all passing, every build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There is still no percent sick number.</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There does not need to be. Nobody should have to prove anything to get a chair that does not hurt, an hour moved, or captions turned on.</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491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2026-09-04T16:56:24Z</dcterms:created>
  <dcterms:modified xsi:type="dcterms:W3CDTF">2026-09-04T16:56:24Z</dcterms:modified>
</cp:coreProperties>
</file>