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second line, then stop. Let the room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once. Do not explain it. This is a real person, not a persona. If asked why a 2021 quote: it is the most recent open-access study with verifiable participant testimony, and the gap it describes has been measured twice since and has not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moral argument. Do not rush it and do not soften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standing preference exists for. Call back to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live: set on the web, queried over SMS, revoked from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seconds of silence here. No music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"They only have to be able to ask." Then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011680"/>
            <a:ext cx="8229600" cy="1143000"/>
          </a:xfrm>
          <a:prstGeom prst="rect">
            <a:avLst/>
          </a:prstGeom>
          <a:noFill/>
          <a:ln/>
        </p:spPr>
        <p:txBody>
          <a:bodyPr wrap="square" lIns="0" tIns="0" rIns="0" bIns="0" rtlCol="0" anchor="ctr"/>
          <a:lstStyle/>
          <a:p>
            <a:pPr indent="0" marL="0">
              <a:buNone/>
            </a:pPr>
            <a:r>
              <a:rPr lang="en-US" sz="6000" b="1" spc="100" kern="0" dirty="0">
                <a:solidFill>
                  <a:srgbClr val="F7F5EF"/>
                </a:solidFill>
                <a:latin typeface="Cambria" pitchFamily="34" charset="0"/>
                <a:ea typeface="Cambria" pitchFamily="34" charset="-122"/>
                <a:cs typeface="Cambria" pitchFamily="34" charset="-120"/>
              </a:rPr>
              <a:t>CURB CUT</a:t>
            </a:r>
            <a:endParaRPr lang="en-US" sz="6000" dirty="0"/>
          </a:p>
        </p:txBody>
      </p:sp>
      <p:sp>
        <p:nvSpPr>
          <p:cNvPr id="3" name="Text 1"/>
          <p:cNvSpPr txBox="1"/>
          <p:nvPr/>
        </p:nvSpPr>
        <p:spPr>
          <a:xfrm>
            <a:off x="777240" y="3108960"/>
            <a:ext cx="8686800" cy="548640"/>
          </a:xfrm>
          <a:prstGeom prst="rect">
            <a:avLst/>
          </a:prstGeom>
          <a:noFill/>
          <a:ln/>
        </p:spPr>
        <p:txBody>
          <a:bodyPr wrap="square" lIns="0" tIns="0" rIns="0" bIns="0" rtlCol="0" anchor="ctr"/>
          <a:lstStyle/>
          <a:p>
            <a:pPr indent="0" marL="0">
              <a:buNone/>
            </a:pPr>
            <a:r>
              <a:rPr lang="en-US" sz="2100" i="1" dirty="0">
                <a:solidFill>
                  <a:srgbClr val="E8C87A"/>
                </a:solidFill>
                <a:latin typeface="Cambria" pitchFamily="34" charset="0"/>
                <a:ea typeface="Cambria" pitchFamily="34" charset="-122"/>
                <a:cs typeface="Cambria" pitchFamily="34" charset="-120"/>
              </a:rPr>
              <a:t>Accommodation without disclosure.</a:t>
            </a:r>
            <a:endParaRPr lang="en-US" sz="2100" dirty="0"/>
          </a:p>
        </p:txBody>
      </p:sp>
      <p:sp>
        <p:nvSpPr>
          <p:cNvPr id="4" name="Text 2"/>
          <p:cNvSpPr txBox="1"/>
          <p:nvPr/>
        </p:nvSpPr>
        <p:spPr>
          <a:xfrm>
            <a:off x="777240" y="3803904"/>
            <a:ext cx="8778240" cy="457200"/>
          </a:xfrm>
          <a:prstGeom prst="rect">
            <a:avLst/>
          </a:prstGeom>
          <a:noFill/>
          <a:ln/>
        </p:spPr>
        <p:txBody>
          <a:bodyPr wrap="square" lIns="0" tIns="0" rIns="0" bIns="0" rtlCol="0" anchor="ctr"/>
          <a:lstStyle/>
          <a:p>
            <a:pPr indent="0" marL="0">
              <a:buNone/>
            </a:pPr>
            <a:r>
              <a:rPr lang="en-US" sz="1550" dirty="0">
                <a:solidFill>
                  <a:srgbClr val="A9B0B6"/>
                </a:solidFill>
                <a:latin typeface="Calibri" pitchFamily="34" charset="0"/>
                <a:ea typeface="Calibri" pitchFamily="34" charset="-122"/>
                <a:cs typeface="Calibri" pitchFamily="34" charset="-120"/>
              </a:rPr>
              <a:t>The process for asking is itself the barrier.</a:t>
            </a:r>
            <a:endParaRPr lang="en-US" sz="1550" dirty="0"/>
          </a:p>
        </p:txBody>
      </p:sp>
      <p:sp>
        <p:nvSpPr>
          <p:cNvPr id="5" name="Text 3"/>
          <p:cNvSpPr txBox="1"/>
          <p:nvPr/>
        </p:nvSpPr>
        <p:spPr>
          <a:xfrm>
            <a:off x="777240" y="6035040"/>
            <a:ext cx="10058400" cy="320040"/>
          </a:xfrm>
          <a:prstGeom prst="rect">
            <a:avLst/>
          </a:prstGeom>
          <a:noFill/>
          <a:ln/>
        </p:spPr>
        <p:txBody>
          <a:bodyPr wrap="square" lIns="0" tIns="0" rIns="0" bIns="0" rtlCol="0" anchor="ctr"/>
          <a:lstStyle/>
          <a:p>
            <a:pPr indent="0" marL="0">
              <a:buNone/>
            </a:pPr>
            <a:r>
              <a:rPr lang="en-US" sz="1050" spc="120" kern="0" dirty="0">
                <a:solidFill>
                  <a:srgbClr val="A9B0B6"/>
                </a:solidFill>
                <a:latin typeface="Courier New" pitchFamily="34" charset="0"/>
                <a:ea typeface="Courier New" pitchFamily="34" charset="-122"/>
                <a:cs typeface="Courier New" pitchFamily="34" charset="-120"/>
              </a:rPr>
              <a:t>Agentforce for Good   |   Dreamforce 2026   |   Builder Track   |   Abilityforce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612648" y="658368"/>
            <a:ext cx="1371600" cy="1325880"/>
          </a:xfrm>
          <a:prstGeom prst="rect">
            <a:avLst/>
          </a:prstGeom>
          <a:noFill/>
          <a:ln/>
        </p:spPr>
        <p:txBody>
          <a:bodyPr wrap="square" lIns="0" tIns="0" rIns="0" bIns="0" rtlCol="0" anchor="ctr"/>
          <a:lstStyle/>
          <a:p>
            <a:pPr indent="0" marL="0">
              <a:buNone/>
            </a:pPr>
            <a:r>
              <a:rPr lang="en-US" sz="8800" dirty="0">
                <a:solidFill>
                  <a:srgbClr val="E8C87A"/>
                </a:solidFill>
                <a:latin typeface="Cambria" pitchFamily="34" charset="0"/>
                <a:ea typeface="Cambria" pitchFamily="34" charset="-122"/>
                <a:cs typeface="Cambria" pitchFamily="34" charset="-120"/>
              </a:rPr>
              <a:t>“</a:t>
            </a:r>
            <a:endParaRPr lang="en-US" sz="8800" dirty="0"/>
          </a:p>
        </p:txBody>
      </p:sp>
      <p:sp>
        <p:nvSpPr>
          <p:cNvPr id="3" name="Text 1"/>
          <p:cNvSpPr txBox="1"/>
          <p:nvPr/>
        </p:nvSpPr>
        <p:spPr>
          <a:xfrm>
            <a:off x="777240" y="2048256"/>
            <a:ext cx="10424160" cy="2560320"/>
          </a:xfrm>
          <a:prstGeom prst="rect">
            <a:avLst/>
          </a:prstGeom>
          <a:noFill/>
          <a:ln/>
        </p:spPr>
        <p:txBody>
          <a:bodyPr wrap="square" lIns="0" tIns="0" rIns="0" bIns="0" rtlCol="0" anchor="ctr"/>
          <a:lstStyle/>
          <a:p>
            <a:pPr indent="0" marL="0">
              <a:lnSpc>
                <a:spcPct val="120000"/>
              </a:lnSpc>
              <a:buNone/>
            </a:pPr>
            <a:r>
              <a:rPr lang="en-US" sz="3200" i="1" dirty="0">
                <a:solidFill>
                  <a:srgbClr val="F7F5EF"/>
                </a:solidFill>
                <a:latin typeface="Cambria" pitchFamily="34" charset="0"/>
                <a:ea typeface="Cambria" pitchFamily="34" charset="-122"/>
                <a:cs typeface="Cambria" pitchFamily="34" charset="-120"/>
              </a:rPr>
              <a:t>I wish we had a percent sick number on our forehead, so others could have something tangible to understand what we are going through.</a:t>
            </a:r>
            <a:endParaRPr lang="en-US" sz="3200" dirty="0"/>
          </a:p>
        </p:txBody>
      </p:sp>
      <p:sp>
        <p:nvSpPr>
          <p:cNvPr id="4" name="Text 2"/>
          <p:cNvSpPr txBox="1"/>
          <p:nvPr/>
        </p:nvSpPr>
        <p:spPr>
          <a:xfrm>
            <a:off x="777240" y="4892040"/>
            <a:ext cx="10424160" cy="640080"/>
          </a:xfrm>
          <a:prstGeom prst="rect">
            <a:avLst/>
          </a:prstGeom>
          <a:noFill/>
          <a:ln/>
        </p:spPr>
        <p:txBody>
          <a:bodyPr wrap="square" lIns="0" tIns="0" rIns="0" bIns="0" rtlCol="0" anchor="ctr"/>
          <a:lstStyle/>
          <a:p>
            <a:pPr indent="0" marL="0">
              <a:buNone/>
            </a:pPr>
            <a:r>
              <a:rPr lang="en-US" sz="1200" dirty="0">
                <a:solidFill>
                  <a:srgbClr val="A9B0B6"/>
                </a:solidFill>
                <a:latin typeface="Courier New" pitchFamily="34" charset="0"/>
                <a:ea typeface="Courier New" pitchFamily="34" charset="-122"/>
                <a:cs typeface="Courier New" pitchFamily="34" charset="-120"/>
              </a:rPr>
              <a:t>A participant, quoted in Ganesh and Lazar, "The Work of Workplace Disclosure",</a:t>
            </a:r>
            <a:endParaRPr lang="en-US" sz="1200" dirty="0"/>
          </a:p>
          <a:p>
            <a:pPr indent="0" marL="0">
              <a:buNone/>
            </a:pPr>
            <a:r>
              <a:rPr lang="en-US" sz="1200" dirty="0">
                <a:solidFill>
                  <a:srgbClr val="A9B0B6"/>
                </a:solidFill>
                <a:latin typeface="Courier New" pitchFamily="34" charset="0"/>
                <a:ea typeface="Courier New" pitchFamily="34" charset="-122"/>
                <a:cs typeface="Courier New" pitchFamily="34" charset="-120"/>
              </a:rPr>
              <a:t>Proceedings of the ACM on Human-Computer Interaction, 2021.</a:t>
            </a:r>
            <a:endParaRPr lang="en-US" sz="1200" dirty="0"/>
          </a:p>
        </p:txBody>
      </p:sp>
      <p:sp>
        <p:nvSpPr>
          <p:cNvPr id="5" name="Text 3"/>
          <p:cNvSpPr txBox="1"/>
          <p:nvPr/>
        </p:nvSpPr>
        <p:spPr>
          <a:xfrm>
            <a:off x="777240" y="5623560"/>
            <a:ext cx="10424160" cy="640080"/>
          </a:xfrm>
          <a:prstGeom prst="rect">
            <a:avLst/>
          </a:prstGeom>
          <a:noFill/>
          <a:ln/>
        </p:spPr>
        <p:txBody>
          <a:bodyPr wrap="square" lIns="0" tIns="0" rIns="0" bIns="0" rtlCol="0" anchor="ctr"/>
          <a:lstStyle/>
          <a:p>
            <a:pPr indent="0" marL="0">
              <a:buNone/>
            </a:pPr>
            <a:r>
              <a:rPr lang="en-US" sz="1350" i="1" dirty="0">
                <a:solidFill>
                  <a:srgbClr val="E8C87A"/>
                </a:solidFill>
                <a:latin typeface="Cambria" pitchFamily="34" charset="0"/>
                <a:ea typeface="Cambria" pitchFamily="34" charset="-122"/>
                <a:cs typeface="Cambria" pitchFamily="34" charset="-120"/>
              </a:rPr>
              <a:t>Recorded in 2021. Statistics Canada measured the same gap in 2022. The US Bureau of Labor Statistics measured it again in 2025. It has not closed.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WHAT THAT SENTENCE IS ASKING FOR</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To be believed without having to prove it.</a:t>
            </a:r>
            <a:endParaRPr lang="en-US" sz="3300" dirty="0"/>
          </a:p>
        </p:txBody>
      </p:sp>
      <p:sp>
        <p:nvSpPr>
          <p:cNvPr id="4" name="Text 2"/>
          <p:cNvSpPr txBox="1"/>
          <p:nvPr/>
        </p:nvSpPr>
        <p:spPr>
          <a:xfrm>
            <a:off x="777240" y="1783080"/>
            <a:ext cx="6309360" cy="2468880"/>
          </a:xfrm>
          <a:prstGeom prst="rect">
            <a:avLst/>
          </a:prstGeom>
          <a:noFill/>
          <a:ln/>
        </p:spPr>
        <p:txBody>
          <a:bodyPr wrap="square" lIns="0" tIns="0" rIns="0" bIns="0" rtlCol="0" anchor="ctr"/>
          <a:lstStyle/>
          <a:p>
            <a:pPr indent="0" marL="0">
              <a:spcAft>
                <a:spcPts val="1200"/>
              </a:spcAft>
              <a:buNone/>
            </a:pPr>
            <a:r>
              <a:rPr lang="en-US" sz="1600" b="1" dirty="0">
                <a:solidFill>
                  <a:srgbClr val="14171A"/>
                </a:solidFill>
                <a:latin typeface="Calibri" pitchFamily="34" charset="0"/>
                <a:ea typeface="Calibri" pitchFamily="34" charset="-122"/>
                <a:cs typeface="Calibri" pitchFamily="34" charset="-120"/>
              </a:rPr>
              <a:t>She is not asking for sympathy.</a:t>
            </a:r>
            <a:endParaRPr lang="en-US" sz="1600" dirty="0"/>
          </a:p>
          <a:p>
            <a:pPr indent="0" marL="0">
              <a:spcAft>
                <a:spcPts val="1200"/>
              </a:spcAft>
              <a:buNone/>
            </a:pPr>
            <a:r>
              <a:rPr lang="en-US" sz="1600" dirty="0">
                <a:solidFill>
                  <a:srgbClr val="14171A"/>
                </a:solidFill>
                <a:latin typeface="Calibri" pitchFamily="34" charset="0"/>
                <a:ea typeface="Calibri" pitchFamily="34" charset="-122"/>
                <a:cs typeface="Calibri" pitchFamily="34" charset="-120"/>
              </a:rPr>
              <a:t>She is asking for a way to communicate one fact about her body without spending herself doing it, to people who will not believe her without evidence she should never have had to hand over.</a:t>
            </a:r>
            <a:endParaRPr lang="en-US" sz="1600" dirty="0"/>
          </a:p>
          <a:p>
            <a:pPr indent="0" marL="0">
              <a:spcAft>
                <a:spcPts val="1200"/>
              </a:spcAft>
              <a:buNone/>
            </a:pPr>
            <a:r>
              <a:rPr lang="en-US" sz="1600" b="1" dirty="0">
                <a:solidFill>
                  <a:srgbClr val="14171A"/>
                </a:solidFill>
                <a:latin typeface="Calibri" pitchFamily="34" charset="0"/>
                <a:ea typeface="Calibri" pitchFamily="34" charset="-122"/>
                <a:cs typeface="Calibri" pitchFamily="34" charset="-120"/>
              </a:rPr>
              <a:t>There is no percent sick number. What there is, in almost every workplace, is a form.</a:t>
            </a:r>
            <a:endParaRPr lang="en-US" sz="1600" dirty="0"/>
          </a:p>
        </p:txBody>
      </p:sp>
      <p:sp>
        <p:nvSpPr>
          <p:cNvPr id="5" name="Shape 3"/>
          <p:cNvSpPr/>
          <p:nvPr/>
        </p:nvSpPr>
        <p:spPr>
          <a:xfrm>
            <a:off x="7498080" y="1783080"/>
            <a:ext cx="3886200" cy="2240280"/>
          </a:xfrm>
          <a:prstGeom prst="rect">
            <a:avLst/>
          </a:prstGeom>
          <a:solidFill>
            <a:srgbClr val="FFFFFF"/>
          </a:solidFill>
          <a:ln w="25400">
            <a:solidFill>
              <a:srgbClr val="8A2F24"/>
            </a:solidFill>
            <a:prstDash val="solid"/>
          </a:ln>
        </p:spPr>
      </p:sp>
      <p:sp>
        <p:nvSpPr>
          <p:cNvPr id="6" name="Text 4"/>
          <p:cNvSpPr txBox="1"/>
          <p:nvPr/>
        </p:nvSpPr>
        <p:spPr>
          <a:xfrm>
            <a:off x="7772400" y="2057400"/>
            <a:ext cx="3291840" cy="320040"/>
          </a:xfrm>
          <a:prstGeom prst="rect">
            <a:avLst/>
          </a:prstGeom>
          <a:noFill/>
          <a:ln/>
        </p:spPr>
        <p:txBody>
          <a:bodyPr wrap="square" lIns="0" tIns="0" rIns="0" bIns="0" rtlCol="0" anchor="ctr"/>
          <a:lstStyle/>
          <a:p>
            <a:pPr indent="0" marL="0">
              <a:buNone/>
            </a:pPr>
            <a:r>
              <a:rPr lang="en-US" sz="1300" b="1" dirty="0">
                <a:solidFill>
                  <a:srgbClr val="42474C"/>
                </a:solidFill>
                <a:latin typeface="Calibri" pitchFamily="34" charset="0"/>
                <a:ea typeface="Calibri" pitchFamily="34" charset="-122"/>
                <a:cs typeface="Calibri" pitchFamily="34" charset="-120"/>
              </a:rPr>
              <a:t>Nature of disability</a:t>
            </a:r>
            <a:endParaRPr lang="en-US" sz="1300" dirty="0"/>
          </a:p>
        </p:txBody>
      </p:sp>
      <p:sp>
        <p:nvSpPr>
          <p:cNvPr id="7" name="Shape 5"/>
          <p:cNvSpPr/>
          <p:nvPr/>
        </p:nvSpPr>
        <p:spPr>
          <a:xfrm>
            <a:off x="7772400" y="2505456"/>
            <a:ext cx="3291840" cy="475488"/>
          </a:xfrm>
          <a:prstGeom prst="rect">
            <a:avLst/>
          </a:prstGeom>
          <a:solidFill>
            <a:srgbClr val="F5F3ED"/>
          </a:solidFill>
          <a:ln w="12700">
            <a:solidFill>
              <a:srgbClr val="D3CEC0"/>
            </a:solidFill>
            <a:prstDash val="solid"/>
          </a:ln>
        </p:spPr>
      </p:sp>
      <p:sp>
        <p:nvSpPr>
          <p:cNvPr id="8" name="Shape 6"/>
          <p:cNvSpPr/>
          <p:nvPr/>
        </p:nvSpPr>
        <p:spPr>
          <a:xfrm>
            <a:off x="7882128" y="2596896"/>
            <a:ext cx="18288" cy="274320"/>
          </a:xfrm>
          <a:prstGeom prst="rect">
            <a:avLst/>
          </a:prstGeom>
          <a:solidFill>
            <a:srgbClr val="14171A"/>
          </a:solidFill>
          <a:ln w="12700">
            <a:solidFill>
              <a:srgbClr val="14171A"/>
            </a:solidFill>
            <a:prstDash val="solid"/>
          </a:ln>
        </p:spPr>
      </p:sp>
      <p:sp>
        <p:nvSpPr>
          <p:cNvPr id="9" name="Text 7"/>
          <p:cNvSpPr txBox="1"/>
          <p:nvPr/>
        </p:nvSpPr>
        <p:spPr>
          <a:xfrm>
            <a:off x="7772400" y="3090672"/>
            <a:ext cx="3291840" cy="274320"/>
          </a:xfrm>
          <a:prstGeom prst="rect">
            <a:avLst/>
          </a:prstGeom>
          <a:noFill/>
          <a:ln/>
        </p:spPr>
        <p:txBody>
          <a:bodyPr wrap="square" lIns="0" tIns="0" rIns="0" bIns="0" rtlCol="0" anchor="ctr"/>
          <a:lstStyle/>
          <a:p>
            <a:pPr indent="0" marL="0">
              <a:buNone/>
            </a:pPr>
            <a:r>
              <a:rPr lang="en-US" sz="1100" dirty="0">
                <a:solidFill>
                  <a:srgbClr val="8A2F24"/>
                </a:solidFill>
                <a:latin typeface="Calibri" pitchFamily="34" charset="0"/>
                <a:ea typeface="Calibri" pitchFamily="34" charset="-122"/>
                <a:cs typeface="Calibri" pitchFamily="34" charset="-120"/>
              </a:rPr>
              <a:t>Required</a:t>
            </a:r>
            <a:endParaRPr lang="en-US" sz="1100" dirty="0"/>
          </a:p>
        </p:txBody>
      </p:sp>
      <p:sp>
        <p:nvSpPr>
          <p:cNvPr id="10" name="Text 8"/>
          <p:cNvSpPr txBox="1"/>
          <p:nvPr/>
        </p:nvSpPr>
        <p:spPr>
          <a:xfrm>
            <a:off x="7772400" y="3429000"/>
            <a:ext cx="3383280" cy="457200"/>
          </a:xfrm>
          <a:prstGeom prst="rect">
            <a:avLst/>
          </a:prstGeom>
          <a:noFill/>
          <a:ln/>
        </p:spPr>
        <p:txBody>
          <a:bodyPr wrap="square" lIns="0" tIns="0" rIns="0" bIns="0" rtlCol="0" anchor="ctr"/>
          <a:lstStyle/>
          <a:p>
            <a:pPr indent="0" marL="0">
              <a:buNone/>
            </a:pPr>
            <a:r>
              <a:rPr lang="en-US" sz="1150" i="1" dirty="0">
                <a:solidFill>
                  <a:srgbClr val="42474C"/>
                </a:solidFill>
                <a:latin typeface="Cambria" pitchFamily="34" charset="0"/>
                <a:ea typeface="Cambria" pitchFamily="34" charset="-122"/>
                <a:cs typeface="Cambria" pitchFamily="34" charset="-120"/>
              </a:rPr>
              <a:t>Everything after this slide is about that box.</a:t>
            </a:r>
            <a:endParaRPr lang="en-US" sz="1150" dirty="0"/>
          </a:p>
        </p:txBody>
      </p:sp>
      <p:sp>
        <p:nvSpPr>
          <p:cNvPr id="11" name="Text 9"/>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It does not want to understand her. It wants a diagnosis, in writing, for somebody who will still be her manager on Monday.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WHY THIS IS NOT A SMALL THING</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One roadblock is not one bad day.</a:t>
            </a:r>
            <a:endParaRPr lang="en-US" sz="3300" dirty="0"/>
          </a:p>
        </p:txBody>
      </p:sp>
      <p:sp>
        <p:nvSpPr>
          <p:cNvPr id="4" name="Shape 2"/>
          <p:cNvSpPr/>
          <p:nvPr/>
        </p:nvSpPr>
        <p:spPr>
          <a:xfrm>
            <a:off x="777240" y="1783080"/>
            <a:ext cx="5120640" cy="1371600"/>
          </a:xfrm>
          <a:prstGeom prst="roundRect">
            <a:avLst>
              <a:gd name="adj" fmla="val 3333"/>
            </a:avLst>
          </a:prstGeom>
          <a:solidFill>
            <a:srgbClr val="FFFFFF"/>
          </a:solidFill>
          <a:ln w="15875">
            <a:solidFill>
              <a:srgbClr val="D3CEC0"/>
            </a:solidFill>
            <a:prstDash val="solid"/>
          </a:ln>
        </p:spPr>
      </p:sp>
      <p:sp>
        <p:nvSpPr>
          <p:cNvPr id="5" name="Text 3"/>
          <p:cNvSpPr txBox="1"/>
          <p:nvPr/>
        </p:nvSpPr>
        <p:spPr>
          <a:xfrm>
            <a:off x="978408" y="19293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ends careers quietly</a:t>
            </a:r>
            <a:endParaRPr lang="en-US" sz="1500" dirty="0"/>
          </a:p>
        </p:txBody>
      </p:sp>
      <p:sp>
        <p:nvSpPr>
          <p:cNvPr id="6" name="Text 4"/>
          <p:cNvSpPr txBox="1"/>
          <p:nvPr/>
        </p:nvSpPr>
        <p:spPr>
          <a:xfrm>
            <a:off x="978408" y="23134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Nobody is fired for needing an hour moved. They just stop being considered, stop being staffed, stop being asked.</a:t>
            </a:r>
            <a:endParaRPr lang="en-US" sz="1200" dirty="0"/>
          </a:p>
        </p:txBody>
      </p:sp>
      <p:sp>
        <p:nvSpPr>
          <p:cNvPr id="7" name="Shape 5"/>
          <p:cNvSpPr/>
          <p:nvPr/>
        </p:nvSpPr>
        <p:spPr>
          <a:xfrm>
            <a:off x="6263640" y="1783080"/>
            <a:ext cx="5120640" cy="1371600"/>
          </a:xfrm>
          <a:prstGeom prst="roundRect">
            <a:avLst>
              <a:gd name="adj" fmla="val 3333"/>
            </a:avLst>
          </a:prstGeom>
          <a:solidFill>
            <a:srgbClr val="FFFFFF"/>
          </a:solidFill>
          <a:ln w="15875">
            <a:solidFill>
              <a:srgbClr val="D3CEC0"/>
            </a:solidFill>
            <a:prstDash val="solid"/>
          </a:ln>
        </p:spPr>
      </p:sp>
      <p:sp>
        <p:nvSpPr>
          <p:cNvPr id="8" name="Text 6"/>
          <p:cNvSpPr txBox="1"/>
          <p:nvPr/>
        </p:nvSpPr>
        <p:spPr>
          <a:xfrm>
            <a:off x="6464808" y="19293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compounds</a:t>
            </a:r>
            <a:endParaRPr lang="en-US" sz="1500" dirty="0"/>
          </a:p>
        </p:txBody>
      </p:sp>
      <p:sp>
        <p:nvSpPr>
          <p:cNvPr id="9" name="Text 7"/>
          <p:cNvSpPr txBox="1"/>
          <p:nvPr/>
        </p:nvSpPr>
        <p:spPr>
          <a:xfrm>
            <a:off x="6464808" y="23134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A job lost is a reference lost, a gap on a CV, a mortgage refused. The roadblock is one afternoon. The consequence is a decade.</a:t>
            </a:r>
            <a:endParaRPr lang="en-US" sz="1200" dirty="0"/>
          </a:p>
        </p:txBody>
      </p:sp>
      <p:sp>
        <p:nvSpPr>
          <p:cNvPr id="10" name="Shape 8"/>
          <p:cNvSpPr/>
          <p:nvPr/>
        </p:nvSpPr>
        <p:spPr>
          <a:xfrm>
            <a:off x="777240" y="3383280"/>
            <a:ext cx="5120640" cy="1371600"/>
          </a:xfrm>
          <a:prstGeom prst="roundRect">
            <a:avLst>
              <a:gd name="adj" fmla="val 3333"/>
            </a:avLst>
          </a:prstGeom>
          <a:solidFill>
            <a:srgbClr val="FFFFFF"/>
          </a:solidFill>
          <a:ln w="15875">
            <a:solidFill>
              <a:srgbClr val="D3CEC0"/>
            </a:solidFill>
            <a:prstDash val="solid"/>
          </a:ln>
        </p:spPr>
      </p:sp>
      <p:sp>
        <p:nvSpPr>
          <p:cNvPr id="11" name="Text 9"/>
          <p:cNvSpPr txBox="1"/>
          <p:nvPr/>
        </p:nvSpPr>
        <p:spPr>
          <a:xfrm>
            <a:off x="978408" y="35295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is almost always man-made</a:t>
            </a:r>
            <a:endParaRPr lang="en-US" sz="1500" dirty="0"/>
          </a:p>
        </p:txBody>
      </p:sp>
      <p:sp>
        <p:nvSpPr>
          <p:cNvPr id="12" name="Text 10"/>
          <p:cNvSpPr txBox="1"/>
          <p:nvPr/>
        </p:nvSpPr>
        <p:spPr>
          <a:xfrm>
            <a:off x="978408" y="39136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Not the condition. The form, the login, the policy nobody can find, the manager who needs proof.</a:t>
            </a:r>
            <a:endParaRPr lang="en-US" sz="1200" dirty="0"/>
          </a:p>
        </p:txBody>
      </p:sp>
      <p:sp>
        <p:nvSpPr>
          <p:cNvPr id="13" name="Shape 11"/>
          <p:cNvSpPr/>
          <p:nvPr/>
        </p:nvSpPr>
        <p:spPr>
          <a:xfrm>
            <a:off x="6263640" y="3383280"/>
            <a:ext cx="5120640" cy="1371600"/>
          </a:xfrm>
          <a:prstGeom prst="roundRect">
            <a:avLst>
              <a:gd name="adj" fmla="val 3333"/>
            </a:avLst>
          </a:prstGeom>
          <a:solidFill>
            <a:srgbClr val="FFFFFF"/>
          </a:solidFill>
          <a:ln w="15875">
            <a:solidFill>
              <a:srgbClr val="D3CEC0"/>
            </a:solidFill>
            <a:prstDash val="solid"/>
          </a:ln>
        </p:spPr>
      </p:sp>
      <p:sp>
        <p:nvSpPr>
          <p:cNvPr id="14" name="Text 12"/>
          <p:cNvSpPr txBox="1"/>
          <p:nvPr/>
        </p:nvSpPr>
        <p:spPr>
          <a:xfrm>
            <a:off x="6464808" y="3529584"/>
            <a:ext cx="4754880" cy="32004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It reaches past the person</a:t>
            </a:r>
            <a:endParaRPr lang="en-US" sz="1500" dirty="0"/>
          </a:p>
        </p:txBody>
      </p:sp>
      <p:sp>
        <p:nvSpPr>
          <p:cNvPr id="15" name="Text 13"/>
          <p:cNvSpPr txBox="1"/>
          <p:nvPr/>
        </p:nvSpPr>
        <p:spPr>
          <a:xfrm>
            <a:off x="6464808" y="3913632"/>
            <a:ext cx="4754880" cy="77724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Their family. Their kids. The income that pays for the thing that would have helped.</a:t>
            </a:r>
            <a:endParaRPr lang="en-US" sz="1200" dirty="0"/>
          </a:p>
        </p:txBody>
      </p:sp>
      <p:sp>
        <p:nvSpPr>
          <p:cNvPr id="16" name="Text 14"/>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We say everyone is equal. In a market, everyone is a transaction. It should not take a dataset to argue that a person is worth an hour of flexibility. Here is the dataset anyway.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AGENDA</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Four things, in order.</a:t>
            </a:r>
            <a:endParaRPr lang="en-US" sz="3300" dirty="0"/>
          </a:p>
        </p:txBody>
      </p:sp>
      <p:sp>
        <p:nvSpPr>
          <p:cNvPr id="4" name="Text 2"/>
          <p:cNvSpPr txBox="1"/>
          <p:nvPr/>
        </p:nvSpPr>
        <p:spPr>
          <a:xfrm>
            <a:off x="777240" y="1783080"/>
            <a:ext cx="731520" cy="457200"/>
          </a:xfrm>
          <a:prstGeom prst="rect">
            <a:avLst/>
          </a:prstGeom>
          <a:noFill/>
          <a:ln/>
        </p:spPr>
        <p:txBody>
          <a:bodyPr wrap="square" lIns="0" tIns="0" rIns="0" bIns="0" rtlCol="0" anchor="ctr"/>
          <a:lstStyle/>
          <a:p>
            <a:pPr indent="0" marL="0">
              <a:buNone/>
            </a:pPr>
            <a:r>
              <a:rPr lang="en-US" sz="2100" b="1" dirty="0">
                <a:solidFill>
                  <a:srgbClr val="9A6608"/>
                </a:solidFill>
                <a:latin typeface="Courier New" pitchFamily="34" charset="0"/>
                <a:ea typeface="Courier New" pitchFamily="34" charset="-122"/>
                <a:cs typeface="Courier New" pitchFamily="34" charset="-120"/>
              </a:rPr>
              <a:t>01</a:t>
            </a:r>
            <a:endParaRPr lang="en-US" sz="2100" dirty="0"/>
          </a:p>
        </p:txBody>
      </p:sp>
      <p:sp>
        <p:nvSpPr>
          <p:cNvPr id="5" name="Text 3"/>
          <p:cNvSpPr txBox="1"/>
          <p:nvPr/>
        </p:nvSpPr>
        <p:spPr>
          <a:xfrm>
            <a:off x="1645920" y="1783080"/>
            <a:ext cx="3017520" cy="45720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The cost of telling</a:t>
            </a:r>
            <a:endParaRPr lang="en-US" sz="1800" dirty="0"/>
          </a:p>
        </p:txBody>
      </p:sp>
      <p:sp>
        <p:nvSpPr>
          <p:cNvPr id="6" name="Text 4"/>
          <p:cNvSpPr txBox="1"/>
          <p:nvPr/>
        </p:nvSpPr>
        <p:spPr>
          <a:xfrm>
            <a:off x="4846320" y="1819656"/>
            <a:ext cx="6583680" cy="749808"/>
          </a:xfrm>
          <a:prstGeom prst="rect">
            <a:avLst/>
          </a:prstGeom>
          <a:noFill/>
          <a:ln/>
        </p:spPr>
        <p:txBody>
          <a:bodyPr wrap="square" lIns="0" tIns="0" rIns="0" bIns="0" rtlCol="0" anchor="ctr"/>
          <a:lstStyle/>
          <a:p>
            <a:pPr indent="0" marL="0">
              <a:buNone/>
            </a:pPr>
            <a:r>
              <a:rPr lang="en-US" sz="1300" dirty="0">
                <a:solidFill>
                  <a:srgbClr val="42474C"/>
                </a:solidFill>
                <a:latin typeface="Calibri" pitchFamily="34" charset="0"/>
                <a:ea typeface="Calibri" pitchFamily="34" charset="-122"/>
                <a:cs typeface="Calibri" pitchFamily="34" charset="-120"/>
              </a:rPr>
              <a:t>What disclosure takes out of a person, in their own words</a:t>
            </a:r>
            <a:endParaRPr lang="en-US" sz="1300" dirty="0"/>
          </a:p>
        </p:txBody>
      </p:sp>
      <p:sp>
        <p:nvSpPr>
          <p:cNvPr id="7" name="Text 5"/>
          <p:cNvSpPr txBox="1"/>
          <p:nvPr/>
        </p:nvSpPr>
        <p:spPr>
          <a:xfrm>
            <a:off x="777240" y="2770632"/>
            <a:ext cx="731520" cy="457200"/>
          </a:xfrm>
          <a:prstGeom prst="rect">
            <a:avLst/>
          </a:prstGeom>
          <a:noFill/>
          <a:ln/>
        </p:spPr>
        <p:txBody>
          <a:bodyPr wrap="square" lIns="0" tIns="0" rIns="0" bIns="0" rtlCol="0" anchor="ctr"/>
          <a:lstStyle/>
          <a:p>
            <a:pPr indent="0" marL="0">
              <a:buNone/>
            </a:pPr>
            <a:r>
              <a:rPr lang="en-US" sz="2100" b="1" dirty="0">
                <a:solidFill>
                  <a:srgbClr val="9A6608"/>
                </a:solidFill>
                <a:latin typeface="Courier New" pitchFamily="34" charset="0"/>
                <a:ea typeface="Courier New" pitchFamily="34" charset="-122"/>
                <a:cs typeface="Courier New" pitchFamily="34" charset="-120"/>
              </a:rPr>
              <a:t>02</a:t>
            </a:r>
            <a:endParaRPr lang="en-US" sz="2100" dirty="0"/>
          </a:p>
        </p:txBody>
      </p:sp>
      <p:sp>
        <p:nvSpPr>
          <p:cNvPr id="8" name="Text 6"/>
          <p:cNvSpPr txBox="1"/>
          <p:nvPr/>
        </p:nvSpPr>
        <p:spPr>
          <a:xfrm>
            <a:off x="1645920" y="2770632"/>
            <a:ext cx="3017520" cy="45720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The evidence</a:t>
            </a:r>
            <a:endParaRPr lang="en-US" sz="1800" dirty="0"/>
          </a:p>
        </p:txBody>
      </p:sp>
      <p:sp>
        <p:nvSpPr>
          <p:cNvPr id="9" name="Text 7"/>
          <p:cNvSpPr txBox="1"/>
          <p:nvPr/>
        </p:nvSpPr>
        <p:spPr>
          <a:xfrm>
            <a:off x="4846320" y="2807208"/>
            <a:ext cx="6583680" cy="749808"/>
          </a:xfrm>
          <a:prstGeom prst="rect">
            <a:avLst/>
          </a:prstGeom>
          <a:noFill/>
          <a:ln/>
        </p:spPr>
        <p:txBody>
          <a:bodyPr wrap="square" lIns="0" tIns="0" rIns="0" bIns="0" rtlCol="0" anchor="ctr"/>
          <a:lstStyle/>
          <a:p>
            <a:pPr indent="0" marL="0">
              <a:buNone/>
            </a:pPr>
            <a:r>
              <a:rPr lang="en-US" sz="1300" dirty="0">
                <a:solidFill>
                  <a:srgbClr val="42474C"/>
                </a:solidFill>
                <a:latin typeface="Calibri" pitchFamily="34" charset="0"/>
                <a:ea typeface="Calibri" pitchFamily="34" charset="-122"/>
                <a:cs typeface="Calibri" pitchFamily="34" charset="-120"/>
              </a:rPr>
              <a:t>WHO, Statistics Canada, US Bureau of Labor Statistics, and the study that measures the gap directly</a:t>
            </a:r>
            <a:endParaRPr lang="en-US" sz="1300" dirty="0"/>
          </a:p>
        </p:txBody>
      </p:sp>
      <p:sp>
        <p:nvSpPr>
          <p:cNvPr id="10" name="Text 8"/>
          <p:cNvSpPr txBox="1"/>
          <p:nvPr/>
        </p:nvSpPr>
        <p:spPr>
          <a:xfrm>
            <a:off x="777240" y="3758184"/>
            <a:ext cx="731520" cy="457200"/>
          </a:xfrm>
          <a:prstGeom prst="rect">
            <a:avLst/>
          </a:prstGeom>
          <a:noFill/>
          <a:ln/>
        </p:spPr>
        <p:txBody>
          <a:bodyPr wrap="square" lIns="0" tIns="0" rIns="0" bIns="0" rtlCol="0" anchor="ctr"/>
          <a:lstStyle/>
          <a:p>
            <a:pPr indent="0" marL="0">
              <a:buNone/>
            </a:pPr>
            <a:r>
              <a:rPr lang="en-US" sz="2100" b="1" dirty="0">
                <a:solidFill>
                  <a:srgbClr val="9A6608"/>
                </a:solidFill>
                <a:latin typeface="Courier New" pitchFamily="34" charset="0"/>
                <a:ea typeface="Courier New" pitchFamily="34" charset="-122"/>
                <a:cs typeface="Courier New" pitchFamily="34" charset="-120"/>
              </a:rPr>
              <a:t>03</a:t>
            </a:r>
            <a:endParaRPr lang="en-US" sz="2100" dirty="0"/>
          </a:p>
        </p:txBody>
      </p:sp>
      <p:sp>
        <p:nvSpPr>
          <p:cNvPr id="11" name="Text 9"/>
          <p:cNvSpPr txBox="1"/>
          <p:nvPr/>
        </p:nvSpPr>
        <p:spPr>
          <a:xfrm>
            <a:off x="1645920" y="3758184"/>
            <a:ext cx="3017520" cy="45720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The build</a:t>
            </a:r>
            <a:endParaRPr lang="en-US" sz="1800" dirty="0"/>
          </a:p>
        </p:txBody>
      </p:sp>
      <p:sp>
        <p:nvSpPr>
          <p:cNvPr id="12" name="Text 10"/>
          <p:cNvSpPr txBox="1"/>
          <p:nvPr/>
        </p:nvSpPr>
        <p:spPr>
          <a:xfrm>
            <a:off x="4846320" y="3794760"/>
            <a:ext cx="6583680" cy="749808"/>
          </a:xfrm>
          <a:prstGeom prst="rect">
            <a:avLst/>
          </a:prstGeom>
          <a:noFill/>
          <a:ln/>
        </p:spPr>
        <p:txBody>
          <a:bodyPr wrap="square" lIns="0" tIns="0" rIns="0" bIns="0" rtlCol="0" anchor="ctr"/>
          <a:lstStyle/>
          <a:p>
            <a:pPr indent="0" marL="0">
              <a:buNone/>
            </a:pPr>
            <a:r>
              <a:rPr lang="en-US" sz="1300" dirty="0">
                <a:solidFill>
                  <a:srgbClr val="42474C"/>
                </a:solidFill>
                <a:latin typeface="Calibri" pitchFamily="34" charset="0"/>
                <a:ea typeface="Calibri" pitchFamily="34" charset="-122"/>
                <a:cs typeface="Calibri" pitchFamily="34" charset="-120"/>
              </a:rPr>
              <a:t>Reference architecture, the channel layer, and the three rules the system will not break</a:t>
            </a:r>
            <a:endParaRPr lang="en-US" sz="1300" dirty="0"/>
          </a:p>
        </p:txBody>
      </p:sp>
      <p:sp>
        <p:nvSpPr>
          <p:cNvPr id="13" name="Text 11"/>
          <p:cNvSpPr txBox="1"/>
          <p:nvPr/>
        </p:nvSpPr>
        <p:spPr>
          <a:xfrm>
            <a:off x="777240" y="4745736"/>
            <a:ext cx="731520" cy="457200"/>
          </a:xfrm>
          <a:prstGeom prst="rect">
            <a:avLst/>
          </a:prstGeom>
          <a:noFill/>
          <a:ln/>
        </p:spPr>
        <p:txBody>
          <a:bodyPr wrap="square" lIns="0" tIns="0" rIns="0" bIns="0" rtlCol="0" anchor="ctr"/>
          <a:lstStyle/>
          <a:p>
            <a:pPr indent="0" marL="0">
              <a:buNone/>
            </a:pPr>
            <a:r>
              <a:rPr lang="en-US" sz="2100" b="1" dirty="0">
                <a:solidFill>
                  <a:srgbClr val="9A6608"/>
                </a:solidFill>
                <a:latin typeface="Courier New" pitchFamily="34" charset="0"/>
                <a:ea typeface="Courier New" pitchFamily="34" charset="-122"/>
                <a:cs typeface="Courier New" pitchFamily="34" charset="-120"/>
              </a:rPr>
              <a:t>04</a:t>
            </a:r>
            <a:endParaRPr lang="en-US" sz="2100" dirty="0"/>
          </a:p>
        </p:txBody>
      </p:sp>
      <p:sp>
        <p:nvSpPr>
          <p:cNvPr id="14" name="Text 12"/>
          <p:cNvSpPr txBox="1"/>
          <p:nvPr/>
        </p:nvSpPr>
        <p:spPr>
          <a:xfrm>
            <a:off x="1645920" y="4745736"/>
            <a:ext cx="3017520" cy="457200"/>
          </a:xfrm>
          <a:prstGeom prst="rect">
            <a:avLst/>
          </a:prstGeom>
          <a:noFill/>
          <a:ln/>
        </p:spPr>
        <p:txBody>
          <a:bodyPr wrap="square" lIns="0" tIns="0" rIns="0" bIns="0" rtlCol="0" anchor="ctr"/>
          <a:lstStyle/>
          <a:p>
            <a:pPr indent="0" marL="0">
              <a:buNone/>
            </a:pPr>
            <a:r>
              <a:rPr lang="en-US" sz="1800" b="1" dirty="0">
                <a:solidFill>
                  <a:srgbClr val="14171A"/>
                </a:solidFill>
                <a:latin typeface="Cambria" pitchFamily="34" charset="0"/>
                <a:ea typeface="Cambria" pitchFamily="34" charset="-122"/>
                <a:cs typeface="Cambria" pitchFamily="34" charset="-120"/>
              </a:rPr>
              <a:t>The honest part</a:t>
            </a:r>
            <a:endParaRPr lang="en-US" sz="1800" dirty="0"/>
          </a:p>
        </p:txBody>
      </p:sp>
      <p:sp>
        <p:nvSpPr>
          <p:cNvPr id="15" name="Text 13"/>
          <p:cNvSpPr txBox="1"/>
          <p:nvPr/>
        </p:nvSpPr>
        <p:spPr>
          <a:xfrm>
            <a:off x="4846320" y="4782312"/>
            <a:ext cx="6583680" cy="749808"/>
          </a:xfrm>
          <a:prstGeom prst="rect">
            <a:avLst/>
          </a:prstGeom>
          <a:noFill/>
          <a:ln/>
        </p:spPr>
        <p:txBody>
          <a:bodyPr wrap="square" lIns="0" tIns="0" rIns="0" bIns="0" rtlCol="0" anchor="ctr"/>
          <a:lstStyle/>
          <a:p>
            <a:pPr indent="0" marL="0">
              <a:buNone/>
            </a:pPr>
            <a:r>
              <a:rPr lang="en-US" sz="1300" dirty="0">
                <a:solidFill>
                  <a:srgbClr val="42474C"/>
                </a:solidFill>
                <a:latin typeface="Calibri" pitchFamily="34" charset="0"/>
                <a:ea typeface="Calibri" pitchFamily="34" charset="-122"/>
                <a:cs typeface="Calibri" pitchFamily="34" charset="-120"/>
              </a:rPr>
              <a:t>What we shipped wrong, what still fails, and what we measured</a:t>
            </a:r>
            <a:endParaRPr lang="en-US" sz="1300" dirty="0"/>
          </a:p>
        </p:txBody>
      </p:sp>
      <p:sp>
        <p:nvSpPr>
          <p:cNvPr id="16" name="Text 14"/>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Every figure is verifiable against a deployed org. The commands are on the last slide.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01</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cost of telling</a:t>
            </a:r>
            <a:endParaRPr lang="en-US" sz="4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612648" y="658368"/>
            <a:ext cx="1371600" cy="1325880"/>
          </a:xfrm>
          <a:prstGeom prst="rect">
            <a:avLst/>
          </a:prstGeom>
          <a:noFill/>
          <a:ln/>
        </p:spPr>
        <p:txBody>
          <a:bodyPr wrap="square" lIns="0" tIns="0" rIns="0" bIns="0" rtlCol="0" anchor="ctr"/>
          <a:lstStyle/>
          <a:p>
            <a:pPr indent="0" marL="0">
              <a:buNone/>
            </a:pPr>
            <a:r>
              <a:rPr lang="en-US" sz="8800" dirty="0">
                <a:solidFill>
                  <a:srgbClr val="E8C87A"/>
                </a:solidFill>
                <a:latin typeface="Cambria" pitchFamily="34" charset="0"/>
                <a:ea typeface="Cambria" pitchFamily="34" charset="-122"/>
                <a:cs typeface="Cambria" pitchFamily="34" charset="-120"/>
              </a:rPr>
              <a:t>“</a:t>
            </a:r>
            <a:endParaRPr lang="en-US" sz="8800" dirty="0"/>
          </a:p>
        </p:txBody>
      </p:sp>
      <p:sp>
        <p:nvSpPr>
          <p:cNvPr id="3" name="Text 1"/>
          <p:cNvSpPr txBox="1"/>
          <p:nvPr/>
        </p:nvSpPr>
        <p:spPr>
          <a:xfrm>
            <a:off x="777240" y="2048256"/>
            <a:ext cx="10424160" cy="2560320"/>
          </a:xfrm>
          <a:prstGeom prst="rect">
            <a:avLst/>
          </a:prstGeom>
          <a:noFill/>
          <a:ln/>
        </p:spPr>
        <p:txBody>
          <a:bodyPr wrap="square" lIns="0" tIns="0" rIns="0" bIns="0" rtlCol="0" anchor="ctr"/>
          <a:lstStyle/>
          <a:p>
            <a:pPr indent="0" marL="0">
              <a:lnSpc>
                <a:spcPct val="120000"/>
              </a:lnSpc>
              <a:buNone/>
            </a:pPr>
            <a:r>
              <a:rPr lang="en-US" sz="3300" i="1" dirty="0">
                <a:solidFill>
                  <a:srgbClr val="F7F5EF"/>
                </a:solidFill>
                <a:latin typeface="Cambria" pitchFamily="34" charset="0"/>
                <a:ea typeface="Cambria" pitchFamily="34" charset="-122"/>
                <a:cs typeface="Cambria" pitchFamily="34" charset="-120"/>
              </a:rPr>
              <a:t>...having to sit down and explain it six times a day to twenty different people adds to that exhaustion.</a:t>
            </a:r>
            <a:endParaRPr lang="en-US" sz="3300" dirty="0"/>
          </a:p>
        </p:txBody>
      </p:sp>
      <p:sp>
        <p:nvSpPr>
          <p:cNvPr id="4" name="Text 2"/>
          <p:cNvSpPr txBox="1"/>
          <p:nvPr/>
        </p:nvSpPr>
        <p:spPr>
          <a:xfrm>
            <a:off x="777240" y="4892040"/>
            <a:ext cx="10424160" cy="640080"/>
          </a:xfrm>
          <a:prstGeom prst="rect">
            <a:avLst/>
          </a:prstGeom>
          <a:noFill/>
          <a:ln/>
        </p:spPr>
        <p:txBody>
          <a:bodyPr wrap="square" lIns="0" tIns="0" rIns="0" bIns="0" rtlCol="0" anchor="ctr"/>
          <a:lstStyle/>
          <a:p>
            <a:pPr indent="0" marL="0">
              <a:buNone/>
            </a:pPr>
            <a:r>
              <a:rPr lang="en-US" sz="1200" dirty="0">
                <a:solidFill>
                  <a:srgbClr val="A9B0B6"/>
                </a:solidFill>
                <a:latin typeface="Courier New" pitchFamily="34" charset="0"/>
                <a:ea typeface="Courier New" pitchFamily="34" charset="-122"/>
                <a:cs typeface="Courier New" pitchFamily="34" charset="-120"/>
              </a:rPr>
              <a:t>A participant, quoted in Ganesh and Lazar, "The Work of Workplace Disclosure",</a:t>
            </a:r>
            <a:endParaRPr lang="en-US" sz="1200" dirty="0"/>
          </a:p>
          <a:p>
            <a:pPr indent="0" marL="0">
              <a:buNone/>
            </a:pPr>
            <a:r>
              <a:rPr lang="en-US" sz="1200" dirty="0">
                <a:solidFill>
                  <a:srgbClr val="A9B0B6"/>
                </a:solidFill>
                <a:latin typeface="Courier New" pitchFamily="34" charset="0"/>
                <a:ea typeface="Courier New" pitchFamily="34" charset="-122"/>
                <a:cs typeface="Courier New" pitchFamily="34" charset="-120"/>
              </a:rPr>
              <a:t>Proceedings of the ACM on Human-Computer Interaction, 2021.</a:t>
            </a:r>
            <a:endParaRPr lang="en-US" sz="1200" dirty="0"/>
          </a:p>
        </p:txBody>
      </p:sp>
      <p:sp>
        <p:nvSpPr>
          <p:cNvPr id="5" name="Text 3"/>
          <p:cNvSpPr txBox="1"/>
          <p:nvPr/>
        </p:nvSpPr>
        <p:spPr>
          <a:xfrm>
            <a:off x="777240" y="5623560"/>
            <a:ext cx="10424160" cy="640080"/>
          </a:xfrm>
          <a:prstGeom prst="rect">
            <a:avLst/>
          </a:prstGeom>
          <a:noFill/>
          <a:ln/>
        </p:spPr>
        <p:txBody>
          <a:bodyPr wrap="square" lIns="0" tIns="0" rIns="0" bIns="0" rtlCol="0" anchor="ctr"/>
          <a:lstStyle/>
          <a:p>
            <a:pPr indent="0" marL="0">
              <a:buNone/>
            </a:pPr>
            <a:r>
              <a:rPr lang="en-US" sz="1350" i="1" dirty="0">
                <a:solidFill>
                  <a:srgbClr val="E8C87A"/>
                </a:solidFill>
                <a:latin typeface="Cambria" pitchFamily="34" charset="0"/>
                <a:ea typeface="Cambria" pitchFamily="34" charset="-122"/>
                <a:cs typeface="Cambria" pitchFamily="34" charset="-120"/>
              </a:rPr>
              <a:t>Five years on, 35.4% of employed Canadians with disabilities still have an accommodation need that went unmet.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01  THE COST OF TELLING</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Telling is never one conversation.</a:t>
            </a:r>
            <a:endParaRPr lang="en-US" sz="3300" dirty="0"/>
          </a:p>
        </p:txBody>
      </p:sp>
      <p:sp>
        <p:nvSpPr>
          <p:cNvPr id="4" name="Shape 2"/>
          <p:cNvSpPr/>
          <p:nvPr/>
        </p:nvSpPr>
        <p:spPr>
          <a:xfrm>
            <a:off x="777240" y="1892808"/>
            <a:ext cx="54864" cy="384048"/>
          </a:xfrm>
          <a:prstGeom prst="rect">
            <a:avLst/>
          </a:prstGeom>
          <a:solidFill>
            <a:srgbClr val="C9A227"/>
          </a:solidFill>
          <a:ln w="12700">
            <a:solidFill>
              <a:srgbClr val="C9A227"/>
            </a:solidFill>
            <a:prstDash val="solid"/>
          </a:ln>
        </p:spPr>
      </p:sp>
      <p:sp>
        <p:nvSpPr>
          <p:cNvPr id="5" name="Text 3"/>
          <p:cNvSpPr txBox="1"/>
          <p:nvPr/>
        </p:nvSpPr>
        <p:spPr>
          <a:xfrm>
            <a:off x="1051560" y="1783080"/>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new manager</a:t>
            </a:r>
            <a:endParaRPr lang="en-US" sz="1600" dirty="0"/>
          </a:p>
        </p:txBody>
      </p:sp>
      <p:sp>
        <p:nvSpPr>
          <p:cNvPr id="6" name="Text 4"/>
          <p:cNvSpPr txBox="1"/>
          <p:nvPr/>
        </p:nvSpPr>
        <p:spPr>
          <a:xfrm>
            <a:off x="4480560" y="1810512"/>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starts the explanation again from nothing</a:t>
            </a:r>
            <a:endParaRPr lang="en-US" sz="1400" dirty="0"/>
          </a:p>
        </p:txBody>
      </p:sp>
      <p:sp>
        <p:nvSpPr>
          <p:cNvPr id="7" name="Shape 5"/>
          <p:cNvSpPr/>
          <p:nvPr/>
        </p:nvSpPr>
        <p:spPr>
          <a:xfrm>
            <a:off x="777240" y="2679192"/>
            <a:ext cx="54864" cy="384048"/>
          </a:xfrm>
          <a:prstGeom prst="rect">
            <a:avLst/>
          </a:prstGeom>
          <a:solidFill>
            <a:srgbClr val="C9A227"/>
          </a:solidFill>
          <a:ln w="12700">
            <a:solidFill>
              <a:srgbClr val="C9A227"/>
            </a:solidFill>
            <a:prstDash val="solid"/>
          </a:ln>
        </p:spPr>
      </p:sp>
      <p:sp>
        <p:nvSpPr>
          <p:cNvPr id="8" name="Text 6"/>
          <p:cNvSpPr txBox="1"/>
          <p:nvPr/>
        </p:nvSpPr>
        <p:spPr>
          <a:xfrm>
            <a:off x="1051560" y="2569464"/>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new team</a:t>
            </a:r>
            <a:endParaRPr lang="en-US" sz="1600" dirty="0"/>
          </a:p>
        </p:txBody>
      </p:sp>
      <p:sp>
        <p:nvSpPr>
          <p:cNvPr id="9" name="Text 7"/>
          <p:cNvSpPr txBox="1"/>
          <p:nvPr/>
        </p:nvSpPr>
        <p:spPr>
          <a:xfrm>
            <a:off x="4480560" y="2596896"/>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has to be taught what the condition means</a:t>
            </a:r>
            <a:endParaRPr lang="en-US" sz="1400" dirty="0"/>
          </a:p>
        </p:txBody>
      </p:sp>
      <p:sp>
        <p:nvSpPr>
          <p:cNvPr id="10" name="Shape 8"/>
          <p:cNvSpPr/>
          <p:nvPr/>
        </p:nvSpPr>
        <p:spPr>
          <a:xfrm>
            <a:off x="777240" y="3465576"/>
            <a:ext cx="54864" cy="384048"/>
          </a:xfrm>
          <a:prstGeom prst="rect">
            <a:avLst/>
          </a:prstGeom>
          <a:solidFill>
            <a:srgbClr val="C9A227"/>
          </a:solidFill>
          <a:ln w="12700">
            <a:solidFill>
              <a:srgbClr val="C9A227"/>
            </a:solidFill>
            <a:prstDash val="solid"/>
          </a:ln>
        </p:spPr>
      </p:sp>
      <p:sp>
        <p:nvSpPr>
          <p:cNvPr id="11" name="Text 9"/>
          <p:cNvSpPr txBox="1"/>
          <p:nvPr/>
        </p:nvSpPr>
        <p:spPr>
          <a:xfrm>
            <a:off x="1051560" y="3355848"/>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meeting host</a:t>
            </a:r>
            <a:endParaRPr lang="en-US" sz="1600" dirty="0"/>
          </a:p>
        </p:txBody>
      </p:sp>
      <p:sp>
        <p:nvSpPr>
          <p:cNvPr id="12" name="Text 10"/>
          <p:cNvSpPr txBox="1"/>
          <p:nvPr/>
        </p:nvSpPr>
        <p:spPr>
          <a:xfrm>
            <a:off x="4480560" y="3383280"/>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needs the same request, said the same way</a:t>
            </a:r>
            <a:endParaRPr lang="en-US" sz="1400" dirty="0"/>
          </a:p>
        </p:txBody>
      </p:sp>
      <p:sp>
        <p:nvSpPr>
          <p:cNvPr id="13" name="Shape 11"/>
          <p:cNvSpPr/>
          <p:nvPr/>
        </p:nvSpPr>
        <p:spPr>
          <a:xfrm>
            <a:off x="777240" y="4251960"/>
            <a:ext cx="54864" cy="384048"/>
          </a:xfrm>
          <a:prstGeom prst="rect">
            <a:avLst/>
          </a:prstGeom>
          <a:solidFill>
            <a:srgbClr val="C9A227"/>
          </a:solidFill>
          <a:ln w="12700">
            <a:solidFill>
              <a:srgbClr val="C9A227"/>
            </a:solidFill>
            <a:prstDash val="solid"/>
          </a:ln>
        </p:spPr>
      </p:sp>
      <p:sp>
        <p:nvSpPr>
          <p:cNvPr id="14" name="Text 12"/>
          <p:cNvSpPr txBox="1"/>
          <p:nvPr/>
        </p:nvSpPr>
        <p:spPr>
          <a:xfrm>
            <a:off x="1051560" y="4142232"/>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reorganisation</a:t>
            </a:r>
            <a:endParaRPr lang="en-US" sz="1600" dirty="0"/>
          </a:p>
        </p:txBody>
      </p:sp>
      <p:sp>
        <p:nvSpPr>
          <p:cNvPr id="15" name="Text 13"/>
          <p:cNvSpPr txBox="1"/>
          <p:nvPr/>
        </p:nvSpPr>
        <p:spPr>
          <a:xfrm>
            <a:off x="4480560" y="4169664"/>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resets it, and there are two a year</a:t>
            </a:r>
            <a:endParaRPr lang="en-US" sz="1400" dirty="0"/>
          </a:p>
        </p:txBody>
      </p:sp>
      <p:sp>
        <p:nvSpPr>
          <p:cNvPr id="16" name="Shape 14"/>
          <p:cNvSpPr/>
          <p:nvPr/>
        </p:nvSpPr>
        <p:spPr>
          <a:xfrm>
            <a:off x="777240" y="5038344"/>
            <a:ext cx="54864" cy="384048"/>
          </a:xfrm>
          <a:prstGeom prst="rect">
            <a:avLst/>
          </a:prstGeom>
          <a:solidFill>
            <a:srgbClr val="C9A227"/>
          </a:solidFill>
          <a:ln w="12700">
            <a:solidFill>
              <a:srgbClr val="C9A227"/>
            </a:solidFill>
            <a:prstDash val="solid"/>
          </a:ln>
        </p:spPr>
      </p:sp>
      <p:sp>
        <p:nvSpPr>
          <p:cNvPr id="17" name="Text 15"/>
          <p:cNvSpPr txBox="1"/>
          <p:nvPr/>
        </p:nvSpPr>
        <p:spPr>
          <a:xfrm>
            <a:off x="1051560" y="4928616"/>
            <a:ext cx="3200400" cy="384048"/>
          </a:xfrm>
          <a:prstGeom prst="rect">
            <a:avLst/>
          </a:prstGeom>
          <a:noFill/>
          <a:ln/>
        </p:spPr>
        <p:txBody>
          <a:bodyPr wrap="square" lIns="0" tIns="0" rIns="0" bIns="0" rtlCol="0" anchor="ctr"/>
          <a:lstStyle/>
          <a:p>
            <a:pPr indent="0" marL="0">
              <a:buNone/>
            </a:pPr>
            <a:r>
              <a:rPr lang="en-US" sz="1600" b="1" dirty="0">
                <a:solidFill>
                  <a:srgbClr val="14171A"/>
                </a:solidFill>
                <a:latin typeface="Cambria" pitchFamily="34" charset="0"/>
                <a:ea typeface="Cambria" pitchFamily="34" charset="-122"/>
                <a:cs typeface="Cambria" pitchFamily="34" charset="-120"/>
              </a:rPr>
              <a:t>Every single time</a:t>
            </a:r>
            <a:endParaRPr lang="en-US" sz="1600" dirty="0"/>
          </a:p>
        </p:txBody>
      </p:sp>
      <p:sp>
        <p:nvSpPr>
          <p:cNvPr id="18" name="Text 16"/>
          <p:cNvSpPr txBox="1"/>
          <p:nvPr/>
        </p:nvSpPr>
        <p:spPr>
          <a:xfrm>
            <a:off x="4480560" y="4956048"/>
            <a:ext cx="6949440" cy="457200"/>
          </a:xfrm>
          <a:prstGeom prst="rect">
            <a:avLst/>
          </a:prstGeom>
          <a:noFill/>
          <a:ln/>
        </p:spPr>
        <p:txBody>
          <a:bodyPr wrap="square" lIns="0" tIns="0" rIns="0" bIns="0" rtlCol="0" anchor="ctr"/>
          <a:lstStyle/>
          <a:p>
            <a:pPr indent="0" marL="0">
              <a:buNone/>
            </a:pPr>
            <a:r>
              <a:rPr lang="en-US" sz="1400" dirty="0">
                <a:solidFill>
                  <a:srgbClr val="42474C"/>
                </a:solidFill>
                <a:latin typeface="Calibri" pitchFamily="34" charset="0"/>
                <a:ea typeface="Calibri" pitchFamily="34" charset="-122"/>
                <a:cs typeface="Calibri" pitchFamily="34" charset="-120"/>
              </a:rPr>
              <a:t>she risks being believed a little less</a:t>
            </a:r>
            <a:endParaRPr lang="en-US" sz="1400" dirty="0"/>
          </a:p>
        </p:txBody>
      </p:sp>
      <p:sp>
        <p:nvSpPr>
          <p:cNvPr id="19" name="Text 17"/>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Researchers call this the educational labour of disclosure. It falls entirely on the person who is already tired.</a:t>
            </a:r>
            <a:endParaRPr lang="en-US" sz="1600" dirty="0"/>
          </a:p>
        </p:txBody>
      </p:sp>
      <p:sp>
        <p:nvSpPr>
          <p:cNvPr id="20" name="Text 18"/>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Ganesh and Lazar, Proceedings of the ACM on Human-Computer Interaction, 2021. Eight interview participants with invisible chronic conditions.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02</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evidence</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Four sources. They narrow rather than contradict.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02  THE EVIDENCE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How many people, and by whose count.</a:t>
            </a:r>
            <a:endParaRPr lang="en-US" sz="3300" dirty="0"/>
          </a:p>
        </p:txBody>
      </p:sp>
      <p:sp>
        <p:nvSpPr>
          <p:cNvPr id="4" name="Shape 2"/>
          <p:cNvSpPr/>
          <p:nvPr/>
        </p:nvSpPr>
        <p:spPr>
          <a:xfrm>
            <a:off x="777240" y="1783080"/>
            <a:ext cx="2514600" cy="2377440"/>
          </a:xfrm>
          <a:prstGeom prst="roundRect">
            <a:avLst>
              <a:gd name="adj" fmla="val 1923"/>
            </a:avLst>
          </a:prstGeom>
          <a:solidFill>
            <a:srgbClr val="FFFFFF"/>
          </a:solidFill>
          <a:ln w="15875">
            <a:solidFill>
              <a:srgbClr val="D3CEC0"/>
            </a:solidFill>
            <a:prstDash val="solid"/>
          </a:ln>
        </p:spPr>
      </p:sp>
      <p:sp>
        <p:nvSpPr>
          <p:cNvPr id="5" name="Text 3"/>
          <p:cNvSpPr txBox="1"/>
          <p:nvPr/>
        </p:nvSpPr>
        <p:spPr>
          <a:xfrm>
            <a:off x="9601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1.3bn</a:t>
            </a:r>
            <a:endParaRPr lang="en-US" sz="3000" dirty="0"/>
          </a:p>
        </p:txBody>
      </p:sp>
      <p:sp>
        <p:nvSpPr>
          <p:cNvPr id="6" name="Text 4"/>
          <p:cNvSpPr txBox="1"/>
          <p:nvPr/>
        </p:nvSpPr>
        <p:spPr>
          <a:xfrm>
            <a:off x="9601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16% of the world</a:t>
            </a:r>
            <a:endParaRPr lang="en-US" sz="1250" dirty="0"/>
          </a:p>
        </p:txBody>
      </p:sp>
      <p:sp>
        <p:nvSpPr>
          <p:cNvPr id="7" name="Text 5"/>
          <p:cNvSpPr txBox="1"/>
          <p:nvPr/>
        </p:nvSpPr>
        <p:spPr>
          <a:xfrm>
            <a:off x="9601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significant disability</a:t>
            </a:r>
            <a:endParaRPr lang="en-US" sz="1100" dirty="0"/>
          </a:p>
        </p:txBody>
      </p:sp>
      <p:sp>
        <p:nvSpPr>
          <p:cNvPr id="8" name="Text 6"/>
          <p:cNvSpPr txBox="1"/>
          <p:nvPr/>
        </p:nvSpPr>
        <p:spPr>
          <a:xfrm>
            <a:off x="9601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WHO, 2022</a:t>
            </a:r>
            <a:endParaRPr lang="en-US" sz="950" dirty="0"/>
          </a:p>
        </p:txBody>
      </p:sp>
      <p:sp>
        <p:nvSpPr>
          <p:cNvPr id="9" name="Shape 7"/>
          <p:cNvSpPr/>
          <p:nvPr/>
        </p:nvSpPr>
        <p:spPr>
          <a:xfrm>
            <a:off x="3520440" y="1783080"/>
            <a:ext cx="2514600" cy="2377440"/>
          </a:xfrm>
          <a:prstGeom prst="roundRect">
            <a:avLst>
              <a:gd name="adj" fmla="val 1923"/>
            </a:avLst>
          </a:prstGeom>
          <a:solidFill>
            <a:srgbClr val="FFFFFF"/>
          </a:solidFill>
          <a:ln w="15875">
            <a:solidFill>
              <a:srgbClr val="D3CEC0"/>
            </a:solidFill>
            <a:prstDash val="solid"/>
          </a:ln>
        </p:spPr>
      </p:sp>
      <p:sp>
        <p:nvSpPr>
          <p:cNvPr id="10" name="Text 8"/>
          <p:cNvSpPr txBox="1"/>
          <p:nvPr/>
        </p:nvSpPr>
        <p:spPr>
          <a:xfrm>
            <a:off x="37033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27%</a:t>
            </a:r>
            <a:endParaRPr lang="en-US" sz="3000" dirty="0"/>
          </a:p>
        </p:txBody>
      </p:sp>
      <p:sp>
        <p:nvSpPr>
          <p:cNvPr id="11" name="Text 9"/>
          <p:cNvSpPr txBox="1"/>
          <p:nvPr/>
        </p:nvSpPr>
        <p:spPr>
          <a:xfrm>
            <a:off x="37033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of Canadians 15+</a:t>
            </a:r>
            <a:endParaRPr lang="en-US" sz="1250" dirty="0"/>
          </a:p>
        </p:txBody>
      </p:sp>
      <p:sp>
        <p:nvSpPr>
          <p:cNvPr id="12" name="Text 10"/>
          <p:cNvSpPr txBox="1"/>
          <p:nvPr/>
        </p:nvSpPr>
        <p:spPr>
          <a:xfrm>
            <a:off x="37033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one or more disabilities</a:t>
            </a:r>
            <a:endParaRPr lang="en-US" sz="1100" dirty="0"/>
          </a:p>
        </p:txBody>
      </p:sp>
      <p:sp>
        <p:nvSpPr>
          <p:cNvPr id="13" name="Text 11"/>
          <p:cNvSpPr txBox="1"/>
          <p:nvPr/>
        </p:nvSpPr>
        <p:spPr>
          <a:xfrm>
            <a:off x="37033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Statistics Canada, 2022</a:t>
            </a:r>
            <a:endParaRPr lang="en-US" sz="950" dirty="0"/>
          </a:p>
        </p:txBody>
      </p:sp>
      <p:sp>
        <p:nvSpPr>
          <p:cNvPr id="14" name="Shape 12"/>
          <p:cNvSpPr/>
          <p:nvPr/>
        </p:nvSpPr>
        <p:spPr>
          <a:xfrm>
            <a:off x="6263640" y="1783080"/>
            <a:ext cx="2514600" cy="2377440"/>
          </a:xfrm>
          <a:prstGeom prst="roundRect">
            <a:avLst>
              <a:gd name="adj" fmla="val 1923"/>
            </a:avLst>
          </a:prstGeom>
          <a:solidFill>
            <a:srgbClr val="FFFFFF"/>
          </a:solidFill>
          <a:ln w="15875">
            <a:solidFill>
              <a:srgbClr val="D3CEC0"/>
            </a:solidFill>
            <a:prstDash val="solid"/>
          </a:ln>
        </p:spPr>
      </p:sp>
      <p:sp>
        <p:nvSpPr>
          <p:cNvPr id="15" name="Text 13"/>
          <p:cNvSpPr txBox="1"/>
          <p:nvPr/>
        </p:nvSpPr>
        <p:spPr>
          <a:xfrm>
            <a:off x="64465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22.8%</a:t>
            </a:r>
            <a:endParaRPr lang="en-US" sz="3000" dirty="0"/>
          </a:p>
        </p:txBody>
      </p:sp>
      <p:sp>
        <p:nvSpPr>
          <p:cNvPr id="16" name="Text 14"/>
          <p:cNvSpPr txBox="1"/>
          <p:nvPr/>
        </p:nvSpPr>
        <p:spPr>
          <a:xfrm>
            <a:off x="64465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employed, against 65.2%</a:t>
            </a:r>
            <a:endParaRPr lang="en-US" sz="1250" dirty="0"/>
          </a:p>
        </p:txBody>
      </p:sp>
      <p:sp>
        <p:nvSpPr>
          <p:cNvPr id="17" name="Text 15"/>
          <p:cNvSpPr txBox="1"/>
          <p:nvPr/>
        </p:nvSpPr>
        <p:spPr>
          <a:xfrm>
            <a:off x="64465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all people with a disability</a:t>
            </a:r>
            <a:endParaRPr lang="en-US" sz="1100" dirty="0"/>
          </a:p>
        </p:txBody>
      </p:sp>
      <p:sp>
        <p:nvSpPr>
          <p:cNvPr id="18" name="Text 16"/>
          <p:cNvSpPr txBox="1"/>
          <p:nvPr/>
        </p:nvSpPr>
        <p:spPr>
          <a:xfrm>
            <a:off x="64465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US BLS, 2025</a:t>
            </a:r>
            <a:endParaRPr lang="en-US" sz="950" dirty="0"/>
          </a:p>
        </p:txBody>
      </p:sp>
      <p:sp>
        <p:nvSpPr>
          <p:cNvPr id="19" name="Shape 17"/>
          <p:cNvSpPr/>
          <p:nvPr/>
        </p:nvSpPr>
        <p:spPr>
          <a:xfrm>
            <a:off x="9006840" y="1783080"/>
            <a:ext cx="2514600" cy="2377440"/>
          </a:xfrm>
          <a:prstGeom prst="roundRect">
            <a:avLst>
              <a:gd name="adj" fmla="val 1923"/>
            </a:avLst>
          </a:prstGeom>
          <a:solidFill>
            <a:srgbClr val="FFFFFF"/>
          </a:solidFill>
          <a:ln w="15875">
            <a:solidFill>
              <a:srgbClr val="D3CEC0"/>
            </a:solidFill>
            <a:prstDash val="solid"/>
          </a:ln>
        </p:spPr>
      </p:sp>
      <p:sp>
        <p:nvSpPr>
          <p:cNvPr id="20" name="Text 18"/>
          <p:cNvSpPr txBox="1"/>
          <p:nvPr/>
        </p:nvSpPr>
        <p:spPr>
          <a:xfrm>
            <a:off x="9189720" y="1938528"/>
            <a:ext cx="2194560" cy="640080"/>
          </a:xfrm>
          <a:prstGeom prst="rect">
            <a:avLst/>
          </a:prstGeom>
          <a:noFill/>
          <a:ln/>
        </p:spPr>
        <p:txBody>
          <a:bodyPr wrap="square" lIns="0" tIns="0" rIns="0" bIns="0" rtlCol="0" anchor="ctr"/>
          <a:lstStyle/>
          <a:p>
            <a:pPr indent="0" marL="0">
              <a:buNone/>
            </a:pPr>
            <a:r>
              <a:rPr lang="en-US" sz="3000" b="1" dirty="0">
                <a:solidFill>
                  <a:srgbClr val="9A6608"/>
                </a:solidFill>
                <a:latin typeface="Cambria" pitchFamily="34" charset="0"/>
                <a:ea typeface="Cambria" pitchFamily="34" charset="-122"/>
                <a:cs typeface="Cambria" pitchFamily="34" charset="-120"/>
              </a:rPr>
              <a:t>30%</a:t>
            </a:r>
            <a:endParaRPr lang="en-US" sz="3000" dirty="0"/>
          </a:p>
        </p:txBody>
      </p:sp>
      <p:sp>
        <p:nvSpPr>
          <p:cNvPr id="21" name="Text 19"/>
          <p:cNvSpPr txBox="1"/>
          <p:nvPr/>
        </p:nvSpPr>
        <p:spPr>
          <a:xfrm>
            <a:off x="9189720" y="2615184"/>
            <a:ext cx="2194560" cy="41148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of US white-collar</a:t>
            </a:r>
            <a:endParaRPr lang="en-US" sz="1250" dirty="0"/>
          </a:p>
        </p:txBody>
      </p:sp>
      <p:sp>
        <p:nvSpPr>
          <p:cNvPr id="22" name="Text 20"/>
          <p:cNvSpPr txBox="1"/>
          <p:nvPr/>
        </p:nvSpPr>
        <p:spPr>
          <a:xfrm>
            <a:off x="9189720" y="3017520"/>
            <a:ext cx="2194560" cy="548640"/>
          </a:xfrm>
          <a:prstGeom prst="rect">
            <a:avLst/>
          </a:prstGeom>
          <a:noFill/>
          <a:ln/>
        </p:spPr>
        <p:txBody>
          <a:bodyPr wrap="square" lIns="0" tIns="0" rIns="0" bIns="0" rtlCol="0" anchor="ctr"/>
          <a:lstStyle/>
          <a:p>
            <a:pPr indent="0" marL="0">
              <a:buNone/>
            </a:pPr>
            <a:r>
              <a:rPr lang="en-US" sz="1100" dirty="0">
                <a:solidFill>
                  <a:srgbClr val="42474C"/>
                </a:solidFill>
                <a:latin typeface="Calibri" pitchFamily="34" charset="0"/>
                <a:ea typeface="Calibri" pitchFamily="34" charset="-122"/>
                <a:cs typeface="Calibri" pitchFamily="34" charset="-120"/>
              </a:rPr>
              <a:t>broad federal definition</a:t>
            </a:r>
            <a:endParaRPr lang="en-US" sz="1100" dirty="0"/>
          </a:p>
        </p:txBody>
      </p:sp>
      <p:sp>
        <p:nvSpPr>
          <p:cNvPr id="23" name="Text 21"/>
          <p:cNvSpPr txBox="1"/>
          <p:nvPr/>
        </p:nvSpPr>
        <p:spPr>
          <a:xfrm>
            <a:off x="9189720" y="3657600"/>
            <a:ext cx="2194560" cy="320040"/>
          </a:xfrm>
          <a:prstGeom prst="rect">
            <a:avLst/>
          </a:prstGeom>
          <a:noFill/>
          <a:ln/>
        </p:spPr>
        <p:txBody>
          <a:bodyPr wrap="square" lIns="0" tIns="0" rIns="0" bIns="0" rtlCol="0" anchor="ctr"/>
          <a:lstStyle/>
          <a:p>
            <a:pPr indent="0" marL="0">
              <a:buNone/>
            </a:pPr>
            <a:r>
              <a:rPr lang="en-US" sz="950" dirty="0">
                <a:solidFill>
                  <a:srgbClr val="656B71"/>
                </a:solidFill>
                <a:latin typeface="Courier New" pitchFamily="34" charset="0"/>
                <a:ea typeface="Courier New" pitchFamily="34" charset="-122"/>
                <a:cs typeface="Courier New" pitchFamily="34" charset="-120"/>
              </a:rPr>
              <a:t>Coqual</a:t>
            </a:r>
            <a:endParaRPr lang="en-US" sz="950" dirty="0"/>
          </a:p>
        </p:txBody>
      </p:sp>
      <p:sp>
        <p:nvSpPr>
          <p:cNvPr id="24" name="Text 22"/>
          <p:cNvSpPr txBox="1"/>
          <p:nvPr/>
        </p:nvSpPr>
        <p:spPr>
          <a:xfrm>
            <a:off x="777240" y="4343400"/>
            <a:ext cx="10698480" cy="457200"/>
          </a:xfrm>
          <a:prstGeom prst="rect">
            <a:avLst/>
          </a:prstGeom>
          <a:noFill/>
          <a:ln/>
        </p:spPr>
        <p:txBody>
          <a:bodyPr wrap="square" lIns="0" tIns="0" rIns="0" bIns="0" rtlCol="0" anchor="ctr"/>
          <a:lstStyle/>
          <a:p>
            <a:pPr indent="0" marL="0">
              <a:buNone/>
            </a:pPr>
            <a:r>
              <a:rPr lang="en-US" sz="1400" dirty="0">
                <a:solidFill>
                  <a:srgbClr val="14171A"/>
                </a:solidFill>
                <a:latin typeface="Calibri" pitchFamily="34" charset="0"/>
                <a:ea typeface="Calibri" pitchFamily="34" charset="-122"/>
                <a:cs typeface="Calibri" pitchFamily="34" charset="-120"/>
              </a:rPr>
              <a:t>They disagree because they count different things. WHO measures significant disability. The national definitions are broader.</a:t>
            </a:r>
            <a:endParaRPr lang="en-US" sz="1400" dirty="0"/>
          </a:p>
        </p:txBody>
      </p:sp>
      <p:sp>
        <p:nvSpPr>
          <p:cNvPr id="25" name="Text 23"/>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That gap is the argument, not a flaw in it. The wider the definition, the more people find they are counted, and the more of them have never told anyone at work.</a:t>
            </a:r>
            <a:endParaRPr lang="en-US" sz="1600" dirty="0"/>
          </a:p>
        </p:txBody>
      </p:sp>
      <p:sp>
        <p:nvSpPr>
          <p:cNvPr id="26" name="Text 24"/>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who.int  |  statcan.gc.ca Canadian Survey on Disability 2022  |  bls.gov Current Population Survey, about 60,000 households monthly  |  coqual.org</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02  THE EVIDENCE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most common unmet need costs nothing.</a:t>
            </a:r>
            <a:endParaRPr lang="en-US" sz="3300" dirty="0"/>
          </a:p>
        </p:txBody>
      </p:sp>
      <p:sp>
        <p:nvSpPr>
          <p:cNvPr id="4" name="Text 2"/>
          <p:cNvSpPr txBox="1"/>
          <p:nvPr/>
        </p:nvSpPr>
        <p:spPr>
          <a:xfrm>
            <a:off x="777240" y="1645920"/>
            <a:ext cx="10698480" cy="365760"/>
          </a:xfrm>
          <a:prstGeom prst="rect">
            <a:avLst/>
          </a:prstGeom>
          <a:noFill/>
          <a:ln/>
        </p:spPr>
        <p:txBody>
          <a:bodyPr wrap="square" lIns="0" tIns="0" rIns="0" bIns="0" rtlCol="0" anchor="ctr"/>
          <a:lstStyle/>
          <a:p>
            <a:pPr indent="0" marL="0">
              <a:buNone/>
            </a:pPr>
            <a:r>
              <a:rPr lang="en-US" sz="1400" dirty="0">
                <a:solidFill>
                  <a:srgbClr val="14171A"/>
                </a:solidFill>
                <a:latin typeface="Calibri" pitchFamily="34" charset="0"/>
                <a:ea typeface="Calibri" pitchFamily="34" charset="-122"/>
                <a:cs typeface="Calibri" pitchFamily="34" charset="-120"/>
              </a:rPr>
              <a:t>Statistics Canada asked employed Canadians with disabilities what accommodation they needed, and whether they got it.</a:t>
            </a:r>
            <a:endParaRPr lang="en-US" sz="1400" dirty="0"/>
          </a:p>
        </p:txBody>
      </p:sp>
      <p:sp>
        <p:nvSpPr>
          <p:cNvPr id="5" name="Shape 3"/>
          <p:cNvSpPr/>
          <p:nvPr/>
        </p:nvSpPr>
        <p:spPr>
          <a:xfrm>
            <a:off x="777240" y="2148840"/>
            <a:ext cx="5067605" cy="365760"/>
          </a:xfrm>
          <a:prstGeom prst="rect">
            <a:avLst/>
          </a:prstGeom>
          <a:solidFill>
            <a:srgbClr val="C9A227"/>
          </a:solidFill>
          <a:ln w="9525">
            <a:solidFill>
              <a:srgbClr val="C9A227"/>
            </a:solidFill>
            <a:prstDash val="solid"/>
          </a:ln>
        </p:spPr>
      </p:sp>
      <p:sp>
        <p:nvSpPr>
          <p:cNvPr id="6" name="Text 4"/>
          <p:cNvSpPr txBox="1"/>
          <p:nvPr/>
        </p:nvSpPr>
        <p:spPr>
          <a:xfrm>
            <a:off x="886968" y="2185416"/>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16.3%</a:t>
            </a:r>
            <a:endParaRPr lang="en-US" sz="1250" dirty="0"/>
          </a:p>
        </p:txBody>
      </p:sp>
      <p:sp>
        <p:nvSpPr>
          <p:cNvPr id="7" name="Text 5"/>
          <p:cNvSpPr txBox="1"/>
          <p:nvPr/>
        </p:nvSpPr>
        <p:spPr>
          <a:xfrm>
            <a:off x="5943600" y="2176272"/>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Modified work hours</a:t>
            </a:r>
            <a:endParaRPr lang="en-US" sz="1350" dirty="0"/>
          </a:p>
        </p:txBody>
      </p:sp>
      <p:sp>
        <p:nvSpPr>
          <p:cNvPr id="8" name="Text 6"/>
          <p:cNvSpPr txBox="1"/>
          <p:nvPr/>
        </p:nvSpPr>
        <p:spPr>
          <a:xfrm>
            <a:off x="9692640" y="2194560"/>
            <a:ext cx="1737360" cy="274320"/>
          </a:xfrm>
          <a:prstGeom prst="rect">
            <a:avLst/>
          </a:prstGeom>
          <a:noFill/>
          <a:ln/>
        </p:spPr>
        <p:txBody>
          <a:bodyPr wrap="square" lIns="0" tIns="0" rIns="0" bIns="0" rtlCol="0" anchor="ctr"/>
          <a:lstStyle/>
          <a:p>
            <a:pPr indent="0" marL="0">
              <a:buNone/>
            </a:pPr>
            <a:r>
              <a:rPr lang="en-US" sz="1050" dirty="0">
                <a:solidFill>
                  <a:srgbClr val="1F5546"/>
                </a:solidFill>
                <a:latin typeface="Courier New" pitchFamily="34" charset="0"/>
                <a:ea typeface="Courier New" pitchFamily="34" charset="-122"/>
                <a:cs typeface="Courier New" pitchFamily="34" charset="-120"/>
              </a:rPr>
              <a:t>costs nothing</a:t>
            </a:r>
            <a:endParaRPr lang="en-US" sz="1050" dirty="0"/>
          </a:p>
        </p:txBody>
      </p:sp>
      <p:sp>
        <p:nvSpPr>
          <p:cNvPr id="9" name="Shape 7"/>
          <p:cNvSpPr/>
          <p:nvPr/>
        </p:nvSpPr>
        <p:spPr>
          <a:xfrm>
            <a:off x="777240" y="2715768"/>
            <a:ext cx="3606394" cy="365760"/>
          </a:xfrm>
          <a:prstGeom prst="rect">
            <a:avLst/>
          </a:prstGeom>
          <a:solidFill>
            <a:srgbClr val="C9A227"/>
          </a:solidFill>
          <a:ln w="9525">
            <a:solidFill>
              <a:srgbClr val="C9A227"/>
            </a:solidFill>
            <a:prstDash val="solid"/>
          </a:ln>
        </p:spPr>
      </p:sp>
      <p:sp>
        <p:nvSpPr>
          <p:cNvPr id="10" name="Text 8"/>
          <p:cNvSpPr txBox="1"/>
          <p:nvPr/>
        </p:nvSpPr>
        <p:spPr>
          <a:xfrm>
            <a:off x="886968" y="2752344"/>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11.6%</a:t>
            </a:r>
            <a:endParaRPr lang="en-US" sz="1250" dirty="0"/>
          </a:p>
        </p:txBody>
      </p:sp>
      <p:sp>
        <p:nvSpPr>
          <p:cNvPr id="11" name="Text 9"/>
          <p:cNvSpPr txBox="1"/>
          <p:nvPr/>
        </p:nvSpPr>
        <p:spPr>
          <a:xfrm>
            <a:off x="5943600" y="2743200"/>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Modified or different duties</a:t>
            </a:r>
            <a:endParaRPr lang="en-US" sz="1350" dirty="0"/>
          </a:p>
        </p:txBody>
      </p:sp>
      <p:sp>
        <p:nvSpPr>
          <p:cNvPr id="12" name="Text 10"/>
          <p:cNvSpPr txBox="1"/>
          <p:nvPr/>
        </p:nvSpPr>
        <p:spPr>
          <a:xfrm>
            <a:off x="9692640" y="2761488"/>
            <a:ext cx="1737360" cy="274320"/>
          </a:xfrm>
          <a:prstGeom prst="rect">
            <a:avLst/>
          </a:prstGeom>
          <a:noFill/>
          <a:ln/>
        </p:spPr>
        <p:txBody>
          <a:bodyPr wrap="square" lIns="0" tIns="0" rIns="0" bIns="0" rtlCol="0" anchor="ctr"/>
          <a:lstStyle/>
          <a:p>
            <a:pPr indent="0" marL="0">
              <a:buNone/>
            </a:pPr>
            <a:r>
              <a:rPr lang="en-US" sz="1050" dirty="0">
                <a:solidFill>
                  <a:srgbClr val="1F5546"/>
                </a:solidFill>
                <a:latin typeface="Courier New" pitchFamily="34" charset="0"/>
                <a:ea typeface="Courier New" pitchFamily="34" charset="-122"/>
                <a:cs typeface="Courier New" pitchFamily="34" charset="-120"/>
              </a:rPr>
              <a:t>costs nothing</a:t>
            </a:r>
            <a:endParaRPr lang="en-US" sz="1050" dirty="0"/>
          </a:p>
        </p:txBody>
      </p:sp>
      <p:sp>
        <p:nvSpPr>
          <p:cNvPr id="13" name="Shape 11"/>
          <p:cNvSpPr/>
          <p:nvPr/>
        </p:nvSpPr>
        <p:spPr>
          <a:xfrm>
            <a:off x="777240" y="3282696"/>
            <a:ext cx="3388766" cy="365760"/>
          </a:xfrm>
          <a:prstGeom prst="rect">
            <a:avLst/>
          </a:prstGeom>
          <a:solidFill>
            <a:srgbClr val="C9A227"/>
          </a:solidFill>
          <a:ln w="9525">
            <a:solidFill>
              <a:srgbClr val="C9A227"/>
            </a:solidFill>
            <a:prstDash val="solid"/>
          </a:ln>
        </p:spPr>
      </p:sp>
      <p:sp>
        <p:nvSpPr>
          <p:cNvPr id="14" name="Text 12"/>
          <p:cNvSpPr txBox="1"/>
          <p:nvPr/>
        </p:nvSpPr>
        <p:spPr>
          <a:xfrm>
            <a:off x="886968" y="3319272"/>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10.9%</a:t>
            </a:r>
            <a:endParaRPr lang="en-US" sz="1250" dirty="0"/>
          </a:p>
        </p:txBody>
      </p:sp>
      <p:sp>
        <p:nvSpPr>
          <p:cNvPr id="15" name="Text 13"/>
          <p:cNvSpPr txBox="1"/>
          <p:nvPr/>
        </p:nvSpPr>
        <p:spPr>
          <a:xfrm>
            <a:off x="5943600" y="3310128"/>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Working from home</a:t>
            </a:r>
            <a:endParaRPr lang="en-US" sz="1350" dirty="0"/>
          </a:p>
        </p:txBody>
      </p:sp>
      <p:sp>
        <p:nvSpPr>
          <p:cNvPr id="16" name="Text 14"/>
          <p:cNvSpPr txBox="1"/>
          <p:nvPr/>
        </p:nvSpPr>
        <p:spPr>
          <a:xfrm>
            <a:off x="9692640" y="3328416"/>
            <a:ext cx="1737360" cy="274320"/>
          </a:xfrm>
          <a:prstGeom prst="rect">
            <a:avLst/>
          </a:prstGeom>
          <a:noFill/>
          <a:ln/>
        </p:spPr>
        <p:txBody>
          <a:bodyPr wrap="square" lIns="0" tIns="0" rIns="0" bIns="0" rtlCol="0" anchor="ctr"/>
          <a:lstStyle/>
          <a:p>
            <a:pPr indent="0" marL="0">
              <a:buNone/>
            </a:pPr>
            <a:r>
              <a:rPr lang="en-US" sz="1050" dirty="0">
                <a:solidFill>
                  <a:srgbClr val="1F5546"/>
                </a:solidFill>
                <a:latin typeface="Courier New" pitchFamily="34" charset="0"/>
                <a:ea typeface="Courier New" pitchFamily="34" charset="-122"/>
                <a:cs typeface="Courier New" pitchFamily="34" charset="-120"/>
              </a:rPr>
              <a:t>costs nothing</a:t>
            </a:r>
            <a:endParaRPr lang="en-US" sz="1050" dirty="0"/>
          </a:p>
        </p:txBody>
      </p:sp>
      <p:sp>
        <p:nvSpPr>
          <p:cNvPr id="17" name="Shape 15"/>
          <p:cNvSpPr/>
          <p:nvPr/>
        </p:nvSpPr>
        <p:spPr>
          <a:xfrm>
            <a:off x="777240" y="3849624"/>
            <a:ext cx="3326587" cy="365760"/>
          </a:xfrm>
          <a:prstGeom prst="rect">
            <a:avLst/>
          </a:prstGeom>
          <a:solidFill>
            <a:srgbClr val="E7E3D8"/>
          </a:solidFill>
          <a:ln w="9525">
            <a:solidFill>
              <a:srgbClr val="D3CEC0"/>
            </a:solidFill>
            <a:prstDash val="solid"/>
          </a:ln>
        </p:spPr>
      </p:sp>
      <p:sp>
        <p:nvSpPr>
          <p:cNvPr id="18" name="Text 16"/>
          <p:cNvSpPr txBox="1"/>
          <p:nvPr/>
        </p:nvSpPr>
        <p:spPr>
          <a:xfrm>
            <a:off x="886968" y="3886200"/>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10.7%</a:t>
            </a:r>
            <a:endParaRPr lang="en-US" sz="1250" dirty="0"/>
          </a:p>
        </p:txBody>
      </p:sp>
      <p:sp>
        <p:nvSpPr>
          <p:cNvPr id="19" name="Text 17"/>
          <p:cNvSpPr txBox="1"/>
          <p:nvPr/>
        </p:nvSpPr>
        <p:spPr>
          <a:xfrm>
            <a:off x="5943600" y="3877056"/>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Modified or ergonomic workstation</a:t>
            </a:r>
            <a:endParaRPr lang="en-US" sz="1350" dirty="0"/>
          </a:p>
        </p:txBody>
      </p:sp>
      <p:sp>
        <p:nvSpPr>
          <p:cNvPr id="20" name="Text 18"/>
          <p:cNvSpPr txBox="1"/>
          <p:nvPr/>
        </p:nvSpPr>
        <p:spPr>
          <a:xfrm>
            <a:off x="9692640" y="3895344"/>
            <a:ext cx="1737360" cy="274320"/>
          </a:xfrm>
          <a:prstGeom prst="rect">
            <a:avLst/>
          </a:prstGeom>
          <a:noFill/>
          <a:ln/>
        </p:spPr>
        <p:txBody>
          <a:bodyPr wrap="square" lIns="0" tIns="0" rIns="0" bIns="0" rtlCol="0" anchor="ctr"/>
          <a:lstStyle/>
          <a:p>
            <a:pPr indent="0" marL="0">
              <a:buNone/>
            </a:pPr>
            <a:r>
              <a:rPr lang="en-US" sz="1050" dirty="0">
                <a:solidFill>
                  <a:srgbClr val="656B71"/>
                </a:solidFill>
                <a:latin typeface="Courier New" pitchFamily="34" charset="0"/>
                <a:ea typeface="Courier New" pitchFamily="34" charset="-122"/>
                <a:cs typeface="Courier New" pitchFamily="34" charset="-120"/>
              </a:rPr>
              <a:t>one-time cost</a:t>
            </a:r>
            <a:endParaRPr lang="en-US" sz="1050" dirty="0"/>
          </a:p>
        </p:txBody>
      </p:sp>
      <p:sp>
        <p:nvSpPr>
          <p:cNvPr id="21" name="Shape 19"/>
          <p:cNvSpPr/>
          <p:nvPr/>
        </p:nvSpPr>
        <p:spPr>
          <a:xfrm>
            <a:off x="777240" y="4416552"/>
            <a:ext cx="3202229" cy="365760"/>
          </a:xfrm>
          <a:prstGeom prst="rect">
            <a:avLst/>
          </a:prstGeom>
          <a:solidFill>
            <a:srgbClr val="E7E3D8"/>
          </a:solidFill>
          <a:ln w="9525">
            <a:solidFill>
              <a:srgbClr val="D3CEC0"/>
            </a:solidFill>
            <a:prstDash val="solid"/>
          </a:ln>
        </p:spPr>
      </p:sp>
      <p:sp>
        <p:nvSpPr>
          <p:cNvPr id="22" name="Text 20"/>
          <p:cNvSpPr txBox="1"/>
          <p:nvPr/>
        </p:nvSpPr>
        <p:spPr>
          <a:xfrm>
            <a:off x="886968" y="4453128"/>
            <a:ext cx="914400" cy="292608"/>
          </a:xfrm>
          <a:prstGeom prst="rect">
            <a:avLst/>
          </a:prstGeom>
          <a:noFill/>
          <a:ln/>
        </p:spPr>
        <p:txBody>
          <a:bodyPr wrap="square" lIns="0" tIns="0" rIns="0" bIns="0" rtlCol="0" anchor="ctr"/>
          <a:lstStyle/>
          <a:p>
            <a:pPr indent="0" marL="0">
              <a:buNone/>
            </a:pPr>
            <a:r>
              <a:rPr lang="en-US" sz="1250" b="1" dirty="0">
                <a:solidFill>
                  <a:srgbClr val="14171A"/>
                </a:solidFill>
                <a:latin typeface="Courier New" pitchFamily="34" charset="0"/>
                <a:ea typeface="Courier New" pitchFamily="34" charset="-122"/>
                <a:cs typeface="Courier New" pitchFamily="34" charset="-120"/>
              </a:rPr>
              <a:t>10.3%</a:t>
            </a:r>
            <a:endParaRPr lang="en-US" sz="1250" dirty="0"/>
          </a:p>
        </p:txBody>
      </p:sp>
      <p:sp>
        <p:nvSpPr>
          <p:cNvPr id="23" name="Text 21"/>
          <p:cNvSpPr txBox="1"/>
          <p:nvPr/>
        </p:nvSpPr>
        <p:spPr>
          <a:xfrm>
            <a:off x="5943600" y="4443984"/>
            <a:ext cx="3657600" cy="32004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Special chair or back support</a:t>
            </a:r>
            <a:endParaRPr lang="en-US" sz="1350" dirty="0"/>
          </a:p>
        </p:txBody>
      </p:sp>
      <p:sp>
        <p:nvSpPr>
          <p:cNvPr id="24" name="Text 22"/>
          <p:cNvSpPr txBox="1"/>
          <p:nvPr/>
        </p:nvSpPr>
        <p:spPr>
          <a:xfrm>
            <a:off x="9692640" y="4462272"/>
            <a:ext cx="1737360" cy="274320"/>
          </a:xfrm>
          <a:prstGeom prst="rect">
            <a:avLst/>
          </a:prstGeom>
          <a:noFill/>
          <a:ln/>
        </p:spPr>
        <p:txBody>
          <a:bodyPr wrap="square" lIns="0" tIns="0" rIns="0" bIns="0" rtlCol="0" anchor="ctr"/>
          <a:lstStyle/>
          <a:p>
            <a:pPr indent="0" marL="0">
              <a:buNone/>
            </a:pPr>
            <a:r>
              <a:rPr lang="en-US" sz="1050" dirty="0">
                <a:solidFill>
                  <a:srgbClr val="656B71"/>
                </a:solidFill>
                <a:latin typeface="Courier New" pitchFamily="34" charset="0"/>
                <a:ea typeface="Courier New" pitchFamily="34" charset="-122"/>
                <a:cs typeface="Courier New" pitchFamily="34" charset="-120"/>
              </a:rPr>
              <a:t>one-time cost</a:t>
            </a:r>
            <a:endParaRPr lang="en-US" sz="1050" dirty="0"/>
          </a:p>
        </p:txBody>
      </p:sp>
      <p:sp>
        <p:nvSpPr>
          <p:cNvPr id="25" name="Text 23"/>
          <p:cNvSpPr txBox="1"/>
          <p:nvPr/>
        </p:nvSpPr>
        <p:spPr>
          <a:xfrm>
            <a:off x="777240" y="5120640"/>
            <a:ext cx="10698480" cy="411480"/>
          </a:xfrm>
          <a:prstGeom prst="rect">
            <a:avLst/>
          </a:prstGeom>
          <a:noFill/>
          <a:ln/>
        </p:spPr>
        <p:txBody>
          <a:bodyPr wrap="square" lIns="0" tIns="0" rIns="0" bIns="0" rtlCol="0" anchor="ctr"/>
          <a:lstStyle/>
          <a:p>
            <a:pPr indent="0" marL="0">
              <a:buNone/>
            </a:pPr>
            <a:r>
              <a:rPr lang="en-US" sz="1700" b="1" dirty="0">
                <a:solidFill>
                  <a:srgbClr val="14171A"/>
                </a:solidFill>
                <a:latin typeface="Cambria" pitchFamily="34" charset="0"/>
                <a:ea typeface="Cambria" pitchFamily="34" charset="-122"/>
                <a:cs typeface="Cambria" pitchFamily="34" charset="-120"/>
              </a:rPr>
              <a:t>35.4% of employed Canadians with disabilities have an UNMET accommodation need.</a:t>
            </a:r>
            <a:endParaRPr lang="en-US" sz="1700" dirty="0"/>
          </a:p>
        </p:txBody>
      </p:sp>
      <p:sp>
        <p:nvSpPr>
          <p:cNvPr id="26" name="Text 24"/>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All five are in our library. The top three need somebody to say yes, and nothing else.</a:t>
            </a:r>
            <a:endParaRPr lang="en-US" sz="1600" dirty="0"/>
          </a:p>
        </p:txBody>
      </p:sp>
      <p:sp>
        <p:nvSpPr>
          <p:cNvPr id="27" name="Text 25"/>
          <p:cNvSpPr txBox="1"/>
          <p:nvPr/>
        </p:nvSpPr>
        <p:spPr>
          <a:xfrm>
            <a:off x="777240" y="6419088"/>
            <a:ext cx="1069848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Statistics Canada, Canadian Survey on Disability 2022. Job Accommodation Network: 61% of accommodations priced cost the employer nothing, n=1,425 of 5,406 respondents. 12% were reported ineffective, and we publish that too.</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02  THE EVIDENCE  |  WHO THIS IS FOR</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user buys nothing. That is deliberate.</a:t>
            </a:r>
            <a:endParaRPr lang="en-US" sz="3300" dirty="0"/>
          </a:p>
        </p:txBody>
      </p:sp>
      <p:sp>
        <p:nvSpPr>
          <p:cNvPr id="4" name="Text 2"/>
          <p:cNvSpPr txBox="1"/>
          <p:nvPr/>
        </p:nvSpPr>
        <p:spPr>
          <a:xfrm>
            <a:off x="777240" y="1645920"/>
            <a:ext cx="10698480" cy="685800"/>
          </a:xfrm>
          <a:prstGeom prst="rect">
            <a:avLst/>
          </a:prstGeom>
          <a:noFill/>
          <a:ln/>
        </p:spPr>
        <p:txBody>
          <a:bodyPr wrap="square" lIns="0" tIns="0" rIns="0" bIns="0" rtlCol="0" anchor="ctr"/>
          <a:lstStyle/>
          <a:p>
            <a:pPr indent="0" marL="0">
              <a:buNone/>
            </a:pPr>
            <a:r>
              <a:rPr lang="en-US" sz="1400" dirty="0">
                <a:solidFill>
                  <a:srgbClr val="14171A"/>
                </a:solidFill>
                <a:latin typeface="Calibri" pitchFamily="34" charset="0"/>
                <a:ea typeface="Calibri" pitchFamily="34" charset="-122"/>
                <a:cs typeface="Calibri" pitchFamily="34" charset="-120"/>
              </a:rPr>
              <a:t>The moment somebody has to be inside a licence to get help, the people who need it most are the ones excluded. So the primary user needs no account, no employer relationship with us, and nobody to have bought anything.</a:t>
            </a:r>
            <a:endParaRPr lang="en-US" sz="1400" dirty="0"/>
          </a:p>
        </p:txBody>
      </p:sp>
      <p:sp>
        <p:nvSpPr>
          <p:cNvPr id="5" name="Shape 3"/>
          <p:cNvSpPr/>
          <p:nvPr/>
        </p:nvSpPr>
        <p:spPr>
          <a:xfrm>
            <a:off x="777240" y="2487168"/>
            <a:ext cx="54864" cy="365760"/>
          </a:xfrm>
          <a:prstGeom prst="rect">
            <a:avLst/>
          </a:prstGeom>
          <a:solidFill>
            <a:srgbClr val="C9A227"/>
          </a:solidFill>
          <a:ln w="12700">
            <a:solidFill>
              <a:srgbClr val="C9A227"/>
            </a:solidFill>
            <a:prstDash val="solid"/>
          </a:ln>
        </p:spPr>
      </p:sp>
      <p:sp>
        <p:nvSpPr>
          <p:cNvPr id="6" name="Text 4"/>
          <p:cNvSpPr txBox="1"/>
          <p:nvPr/>
        </p:nvSpPr>
        <p:spPr>
          <a:xfrm>
            <a:off x="1051560" y="2395728"/>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Contractors, temps, gig workers</a:t>
            </a:r>
            <a:endParaRPr lang="en-US" sz="1350" dirty="0"/>
          </a:p>
        </p:txBody>
      </p:sp>
      <p:sp>
        <p:nvSpPr>
          <p:cNvPr id="7" name="Text 5"/>
          <p:cNvSpPr txBox="1"/>
          <p:nvPr/>
        </p:nvSpPr>
        <p:spPr>
          <a:xfrm>
            <a:off x="5212080" y="2423160"/>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no work login, no HR relationship, still expected to disclose</a:t>
            </a:r>
            <a:endParaRPr lang="en-US" sz="1200" dirty="0"/>
          </a:p>
        </p:txBody>
      </p:sp>
      <p:sp>
        <p:nvSpPr>
          <p:cNvPr id="8" name="Shape 6"/>
          <p:cNvSpPr/>
          <p:nvPr/>
        </p:nvSpPr>
        <p:spPr>
          <a:xfrm>
            <a:off x="777240" y="3017520"/>
            <a:ext cx="54864" cy="365760"/>
          </a:xfrm>
          <a:prstGeom prst="rect">
            <a:avLst/>
          </a:prstGeom>
          <a:solidFill>
            <a:srgbClr val="C9A227"/>
          </a:solidFill>
          <a:ln w="12700">
            <a:solidFill>
              <a:srgbClr val="C9A227"/>
            </a:solidFill>
            <a:prstDash val="solid"/>
          </a:ln>
        </p:spPr>
      </p:sp>
      <p:sp>
        <p:nvSpPr>
          <p:cNvPr id="9" name="Text 7"/>
          <p:cNvSpPr txBox="1"/>
          <p:nvPr/>
        </p:nvSpPr>
        <p:spPr>
          <a:xfrm>
            <a:off x="1051560" y="2926080"/>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People with invisible conditions</a:t>
            </a:r>
            <a:endParaRPr lang="en-US" sz="1350" dirty="0"/>
          </a:p>
        </p:txBody>
      </p:sp>
      <p:sp>
        <p:nvSpPr>
          <p:cNvPr id="10" name="Text 8"/>
          <p:cNvSpPr txBox="1"/>
          <p:nvPr/>
        </p:nvSpPr>
        <p:spPr>
          <a:xfrm>
            <a:off x="5212080" y="2953512"/>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62% of disabled employees. Believed less, asked to prove more</a:t>
            </a:r>
            <a:endParaRPr lang="en-US" sz="1200" dirty="0"/>
          </a:p>
        </p:txBody>
      </p:sp>
      <p:sp>
        <p:nvSpPr>
          <p:cNvPr id="11" name="Shape 9"/>
          <p:cNvSpPr/>
          <p:nvPr/>
        </p:nvSpPr>
        <p:spPr>
          <a:xfrm>
            <a:off x="777240" y="3547872"/>
            <a:ext cx="54864" cy="365760"/>
          </a:xfrm>
          <a:prstGeom prst="rect">
            <a:avLst/>
          </a:prstGeom>
          <a:solidFill>
            <a:srgbClr val="C9A227"/>
          </a:solidFill>
          <a:ln w="12700">
            <a:solidFill>
              <a:srgbClr val="C9A227"/>
            </a:solidFill>
            <a:prstDash val="solid"/>
          </a:ln>
        </p:spPr>
      </p:sp>
      <p:sp>
        <p:nvSpPr>
          <p:cNvPr id="12" name="Text 10"/>
          <p:cNvSpPr txBox="1"/>
          <p:nvPr/>
        </p:nvSpPr>
        <p:spPr>
          <a:xfrm>
            <a:off x="1051560" y="3456432"/>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Deaf and hard-of-hearing workers</a:t>
            </a:r>
            <a:endParaRPr lang="en-US" sz="1350" dirty="0"/>
          </a:p>
        </p:txBody>
      </p:sp>
      <p:sp>
        <p:nvSpPr>
          <p:cNvPr id="13" name="Text 11"/>
          <p:cNvSpPr txBox="1"/>
          <p:nvPr/>
        </p:nvSpPr>
        <p:spPr>
          <a:xfrm>
            <a:off x="5212080" y="3483864"/>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almost every escalation path ends at "give us a call"</a:t>
            </a:r>
            <a:endParaRPr lang="en-US" sz="1200" dirty="0"/>
          </a:p>
        </p:txBody>
      </p:sp>
      <p:sp>
        <p:nvSpPr>
          <p:cNvPr id="14" name="Shape 12"/>
          <p:cNvSpPr/>
          <p:nvPr/>
        </p:nvSpPr>
        <p:spPr>
          <a:xfrm>
            <a:off x="777240" y="4078224"/>
            <a:ext cx="54864" cy="365760"/>
          </a:xfrm>
          <a:prstGeom prst="rect">
            <a:avLst/>
          </a:prstGeom>
          <a:solidFill>
            <a:srgbClr val="C9A227"/>
          </a:solidFill>
          <a:ln w="12700">
            <a:solidFill>
              <a:srgbClr val="C9A227"/>
            </a:solidFill>
            <a:prstDash val="solid"/>
          </a:ln>
        </p:spPr>
      </p:sp>
      <p:sp>
        <p:nvSpPr>
          <p:cNvPr id="15" name="Text 13"/>
          <p:cNvSpPr txBox="1"/>
          <p:nvPr/>
        </p:nvSpPr>
        <p:spPr>
          <a:xfrm>
            <a:off x="1051560" y="3986784"/>
            <a:ext cx="3931920" cy="365760"/>
          </a:xfrm>
          <a:prstGeom prst="rect">
            <a:avLst/>
          </a:prstGeom>
          <a:noFill/>
          <a:ln/>
        </p:spPr>
        <p:txBody>
          <a:bodyPr wrap="square" lIns="0" tIns="0" rIns="0" bIns="0" rtlCol="0" anchor="ctr"/>
          <a:lstStyle/>
          <a:p>
            <a:pPr indent="0" marL="0">
              <a:buNone/>
            </a:pPr>
            <a:r>
              <a:rPr lang="en-US" sz="1350" b="1" dirty="0">
                <a:solidFill>
                  <a:srgbClr val="14171A"/>
                </a:solidFill>
                <a:latin typeface="Calibri" pitchFamily="34" charset="0"/>
                <a:ea typeface="Calibri" pitchFamily="34" charset="-122"/>
                <a:cs typeface="Calibri" pitchFamily="34" charset="-120"/>
              </a:rPr>
              <a:t>Anyone in their first weeks</a:t>
            </a:r>
            <a:endParaRPr lang="en-US" sz="1350" dirty="0"/>
          </a:p>
        </p:txBody>
      </p:sp>
      <p:sp>
        <p:nvSpPr>
          <p:cNvPr id="16" name="Text 14"/>
          <p:cNvSpPr txBox="1"/>
          <p:nvPr/>
        </p:nvSpPr>
        <p:spPr>
          <a:xfrm>
            <a:off x="5212080" y="4014216"/>
            <a:ext cx="6217920" cy="36576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least social capital, highest perceived cost of asking</a:t>
            </a:r>
            <a:endParaRPr lang="en-US" sz="1200" dirty="0"/>
          </a:p>
        </p:txBody>
      </p:sp>
      <p:sp>
        <p:nvSpPr>
          <p:cNvPr id="17" name="Text 15"/>
          <p:cNvSpPr txBox="1"/>
          <p:nvPr/>
        </p:nvSpPr>
        <p:spPr>
          <a:xfrm>
            <a:off x="777240" y="4617720"/>
            <a:ext cx="4572000" cy="274320"/>
          </a:xfrm>
          <a:prstGeom prst="rect">
            <a:avLst/>
          </a:prstGeom>
          <a:noFill/>
          <a:ln/>
        </p:spPr>
        <p:txBody>
          <a:bodyPr wrap="square" lIns="0" tIns="0" rIns="0" bIns="0" rtlCol="0" anchor="ctr"/>
          <a:lstStyle/>
          <a:p>
            <a:pPr indent="0" marL="0">
              <a:buNone/>
            </a:pPr>
            <a:r>
              <a:rPr lang="en-US" sz="1000" b="1" spc="150" kern="0" dirty="0">
                <a:solidFill>
                  <a:srgbClr val="656B71"/>
                </a:solidFill>
                <a:latin typeface="Courier New" pitchFamily="34" charset="0"/>
                <a:ea typeface="Courier New" pitchFamily="34" charset="-122"/>
                <a:cs typeface="Courier New" pitchFamily="34" charset="-120"/>
              </a:rPr>
              <a:t>WHO WOULD DEPLOY IT</a:t>
            </a:r>
            <a:endParaRPr lang="en-US" sz="1000" dirty="0"/>
          </a:p>
        </p:txBody>
      </p:sp>
      <p:sp>
        <p:nvSpPr>
          <p:cNvPr id="18" name="Text 16"/>
          <p:cNvSpPr txBox="1"/>
          <p:nvPr/>
        </p:nvSpPr>
        <p:spPr>
          <a:xfrm>
            <a:off x="777240" y="4919472"/>
            <a:ext cx="3383280" cy="292608"/>
          </a:xfrm>
          <a:prstGeom prst="rect">
            <a:avLst/>
          </a:prstGeom>
          <a:noFill/>
          <a:ln/>
        </p:spPr>
        <p:txBody>
          <a:bodyPr wrap="square" lIns="0" tIns="0" rIns="0" bIns="0" rtlCol="0" anchor="ctr"/>
          <a:lstStyle/>
          <a:p>
            <a:pPr indent="0" marL="0">
              <a:buNone/>
            </a:pPr>
            <a:r>
              <a:rPr lang="en-US" sz="1250" b="1" dirty="0">
                <a:solidFill>
                  <a:srgbClr val="14171A"/>
                </a:solidFill>
                <a:latin typeface="Cambria" pitchFamily="34" charset="0"/>
                <a:ea typeface="Cambria" pitchFamily="34" charset="-122"/>
                <a:cs typeface="Cambria" pitchFamily="34" charset="-120"/>
              </a:rPr>
              <a:t>Employers with a programme</a:t>
            </a:r>
            <a:endParaRPr lang="en-US" sz="1250" dirty="0"/>
          </a:p>
        </p:txBody>
      </p:sp>
      <p:sp>
        <p:nvSpPr>
          <p:cNvPr id="19" name="Text 17"/>
          <p:cNvSpPr txBox="1"/>
          <p:nvPr/>
        </p:nvSpPr>
        <p:spPr>
          <a:xfrm>
            <a:off x="777240" y="5230368"/>
            <a:ext cx="3383280" cy="457200"/>
          </a:xfrm>
          <a:prstGeom prst="rect">
            <a:avLst/>
          </a:prstGeom>
          <a:noFill/>
          <a:ln/>
        </p:spPr>
        <p:txBody>
          <a:bodyPr wrap="square" lIns="0" tIns="0" rIns="0" bIns="0" rtlCol="0" anchor="ctr"/>
          <a:lstStyle/>
          <a:p>
            <a:pPr indent="0" marL="0">
              <a:buNone/>
            </a:pPr>
            <a:r>
              <a:rPr lang="en-US" sz="1050" dirty="0">
                <a:solidFill>
                  <a:srgbClr val="42474C"/>
                </a:solidFill>
                <a:latin typeface="Calibri" pitchFamily="34" charset="0"/>
                <a:ea typeface="Calibri" pitchFamily="34" charset="-122"/>
                <a:cs typeface="Calibri" pitchFamily="34" charset="-120"/>
              </a:rPr>
              <a:t>Disability:IN alone: 400+ corporations, 25 state affiliates</a:t>
            </a:r>
            <a:endParaRPr lang="en-US" sz="1050" dirty="0"/>
          </a:p>
        </p:txBody>
      </p:sp>
      <p:sp>
        <p:nvSpPr>
          <p:cNvPr id="20" name="Text 18"/>
          <p:cNvSpPr txBox="1"/>
          <p:nvPr/>
        </p:nvSpPr>
        <p:spPr>
          <a:xfrm>
            <a:off x="4343400" y="4919472"/>
            <a:ext cx="3383280" cy="292608"/>
          </a:xfrm>
          <a:prstGeom prst="rect">
            <a:avLst/>
          </a:prstGeom>
          <a:noFill/>
          <a:ln/>
        </p:spPr>
        <p:txBody>
          <a:bodyPr wrap="square" lIns="0" tIns="0" rIns="0" bIns="0" rtlCol="0" anchor="ctr"/>
          <a:lstStyle/>
          <a:p>
            <a:pPr indent="0" marL="0">
              <a:buNone/>
            </a:pPr>
            <a:r>
              <a:rPr lang="en-US" sz="1250" b="1" dirty="0">
                <a:solidFill>
                  <a:srgbClr val="14171A"/>
                </a:solidFill>
                <a:latin typeface="Cambria" pitchFamily="34" charset="0"/>
                <a:ea typeface="Cambria" pitchFamily="34" charset="-122"/>
                <a:cs typeface="Cambria" pitchFamily="34" charset="-120"/>
              </a:rPr>
              <a:t>Disability employment services</a:t>
            </a:r>
            <a:endParaRPr lang="en-US" sz="1250" dirty="0"/>
          </a:p>
        </p:txBody>
      </p:sp>
      <p:sp>
        <p:nvSpPr>
          <p:cNvPr id="21" name="Text 19"/>
          <p:cNvSpPr txBox="1"/>
          <p:nvPr/>
        </p:nvSpPr>
        <p:spPr>
          <a:xfrm>
            <a:off x="4343400" y="5230368"/>
            <a:ext cx="3383280" cy="457200"/>
          </a:xfrm>
          <a:prstGeom prst="rect">
            <a:avLst/>
          </a:prstGeom>
          <a:noFill/>
          <a:ln/>
        </p:spPr>
        <p:txBody>
          <a:bodyPr wrap="square" lIns="0" tIns="0" rIns="0" bIns="0" rtlCol="0" anchor="ctr"/>
          <a:lstStyle/>
          <a:p>
            <a:pPr indent="0" marL="0">
              <a:buNone/>
            </a:pPr>
            <a:r>
              <a:rPr lang="en-US" sz="1050" dirty="0">
                <a:solidFill>
                  <a:srgbClr val="42474C"/>
                </a:solidFill>
                <a:latin typeface="Calibri" pitchFamily="34" charset="0"/>
                <a:ea typeface="Calibri" pitchFamily="34" charset="-122"/>
                <a:cs typeface="Calibri" pitchFamily="34" charset="-120"/>
              </a:rPr>
              <a:t>AbilityOne network: 36,000+ people placed in FY2024</a:t>
            </a:r>
            <a:endParaRPr lang="en-US" sz="1050" dirty="0"/>
          </a:p>
        </p:txBody>
      </p:sp>
      <p:sp>
        <p:nvSpPr>
          <p:cNvPr id="22" name="Text 20"/>
          <p:cNvSpPr txBox="1"/>
          <p:nvPr/>
        </p:nvSpPr>
        <p:spPr>
          <a:xfrm>
            <a:off x="7909560" y="4919472"/>
            <a:ext cx="3383280" cy="292608"/>
          </a:xfrm>
          <a:prstGeom prst="rect">
            <a:avLst/>
          </a:prstGeom>
          <a:noFill/>
          <a:ln/>
        </p:spPr>
        <p:txBody>
          <a:bodyPr wrap="square" lIns="0" tIns="0" rIns="0" bIns="0" rtlCol="0" anchor="ctr"/>
          <a:lstStyle/>
          <a:p>
            <a:pPr indent="0" marL="0">
              <a:buNone/>
            </a:pPr>
            <a:r>
              <a:rPr lang="en-US" sz="1250" b="1" dirty="0">
                <a:solidFill>
                  <a:srgbClr val="14171A"/>
                </a:solidFill>
                <a:latin typeface="Cambria" pitchFamily="34" charset="0"/>
                <a:ea typeface="Cambria" pitchFamily="34" charset="-122"/>
                <a:cs typeface="Cambria" pitchFamily="34" charset="-120"/>
              </a:rPr>
              <a:t>Independent living centres</a:t>
            </a:r>
            <a:endParaRPr lang="en-US" sz="1250" dirty="0"/>
          </a:p>
        </p:txBody>
      </p:sp>
      <p:sp>
        <p:nvSpPr>
          <p:cNvPr id="23" name="Text 21"/>
          <p:cNvSpPr txBox="1"/>
          <p:nvPr/>
        </p:nvSpPr>
        <p:spPr>
          <a:xfrm>
            <a:off x="7909560" y="5230368"/>
            <a:ext cx="3383280" cy="457200"/>
          </a:xfrm>
          <a:prstGeom prst="rect">
            <a:avLst/>
          </a:prstGeom>
          <a:noFill/>
          <a:ln/>
        </p:spPr>
        <p:txBody>
          <a:bodyPr wrap="square" lIns="0" tIns="0" rIns="0" bIns="0" rtlCol="0" anchor="ctr"/>
          <a:lstStyle/>
          <a:p>
            <a:pPr indent="0" marL="0">
              <a:buNone/>
            </a:pPr>
            <a:r>
              <a:rPr lang="en-US" sz="1050" dirty="0">
                <a:solidFill>
                  <a:srgbClr val="42474C"/>
                </a:solidFill>
                <a:latin typeface="Calibri" pitchFamily="34" charset="0"/>
                <a:ea typeface="Calibri" pitchFamily="34" charset="-122"/>
                <a:cs typeface="Calibri" pitchFamily="34" charset="-120"/>
              </a:rPr>
              <a:t>no Salesforce budget, so MCP and the shared API exist for them</a:t>
            </a:r>
            <a:endParaRPr lang="en-US" sz="1050" dirty="0"/>
          </a:p>
        </p:txBody>
      </p:sp>
      <p:sp>
        <p:nvSpPr>
          <p:cNvPr id="24" name="Text 22"/>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 gap is not a spending gap. It is a process gap, which is cheaper to close and harder to sell, because no budget line says "the asking was too hard".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03</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build</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An agent whose principal is the worker, not the employer.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REFERENCE ARCHITECTURE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Five layers. One of them is deliberately empty.</a:t>
            </a:r>
            <a:endParaRPr lang="en-US" sz="3300" dirty="0"/>
          </a:p>
        </p:txBody>
      </p:sp>
      <p:sp>
        <p:nvSpPr>
          <p:cNvPr id="4" name="Shape 2"/>
          <p:cNvSpPr/>
          <p:nvPr/>
        </p:nvSpPr>
        <p:spPr>
          <a:xfrm>
            <a:off x="777240" y="1783080"/>
            <a:ext cx="1371600" cy="658368"/>
          </a:xfrm>
          <a:prstGeom prst="rect">
            <a:avLst/>
          </a:prstGeom>
          <a:solidFill>
            <a:srgbClr val="14171A"/>
          </a:solidFill>
          <a:ln w="12700">
            <a:solidFill>
              <a:srgbClr val="14171A"/>
            </a:solidFill>
            <a:prstDash val="solid"/>
          </a:ln>
        </p:spPr>
      </p:sp>
      <p:sp>
        <p:nvSpPr>
          <p:cNvPr id="5" name="Text 3"/>
          <p:cNvSpPr txBox="1"/>
          <p:nvPr/>
        </p:nvSpPr>
        <p:spPr>
          <a:xfrm>
            <a:off x="777240" y="1984248"/>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PEOPLE</a:t>
            </a:r>
            <a:endParaRPr lang="en-US" sz="1000" dirty="0"/>
          </a:p>
        </p:txBody>
      </p:sp>
      <p:sp>
        <p:nvSpPr>
          <p:cNvPr id="6" name="Shape 4"/>
          <p:cNvSpPr/>
          <p:nvPr/>
        </p:nvSpPr>
        <p:spPr>
          <a:xfrm>
            <a:off x="2240280" y="1783080"/>
            <a:ext cx="9144000" cy="658368"/>
          </a:xfrm>
          <a:prstGeom prst="rect">
            <a:avLst/>
          </a:prstGeom>
          <a:solidFill>
            <a:srgbClr val="FFFFFF"/>
          </a:solidFill>
          <a:ln w="15875">
            <a:solidFill>
              <a:srgbClr val="D3CEC0"/>
            </a:solidFill>
            <a:prstDash val="solid"/>
          </a:ln>
        </p:spPr>
      </p:sp>
      <p:sp>
        <p:nvSpPr>
          <p:cNvPr id="7" name="Text 5"/>
          <p:cNvSpPr txBox="1"/>
          <p:nvPr/>
        </p:nvSpPr>
        <p:spPr>
          <a:xfrm>
            <a:off x="2450592" y="1984248"/>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Anonymous web  ·  Voice  ·  Text  ·  Email  ·  Slack DM  ·  Any MCP assistant</a:t>
            </a:r>
            <a:endParaRPr lang="en-US" sz="1250" dirty="0"/>
          </a:p>
        </p:txBody>
      </p:sp>
      <p:sp>
        <p:nvSpPr>
          <p:cNvPr id="8" name="Shape 6"/>
          <p:cNvSpPr/>
          <p:nvPr/>
        </p:nvSpPr>
        <p:spPr>
          <a:xfrm>
            <a:off x="3108960" y="2441448"/>
            <a:ext cx="0" cy="182880"/>
          </a:xfrm>
          <a:prstGeom prst="line">
            <a:avLst/>
          </a:prstGeom>
          <a:noFill/>
          <a:ln w="17780">
            <a:solidFill>
              <a:srgbClr val="42474C"/>
            </a:solidFill>
            <a:prstDash val="solid"/>
            <a:tailEnd type="triangle"/>
          </a:ln>
        </p:spPr>
      </p:sp>
      <p:sp>
        <p:nvSpPr>
          <p:cNvPr id="9" name="Shape 7"/>
          <p:cNvSpPr/>
          <p:nvPr/>
        </p:nvSpPr>
        <p:spPr>
          <a:xfrm>
            <a:off x="777240" y="2624328"/>
            <a:ext cx="1371600" cy="658368"/>
          </a:xfrm>
          <a:prstGeom prst="rect">
            <a:avLst/>
          </a:prstGeom>
          <a:solidFill>
            <a:srgbClr val="14171A"/>
          </a:solidFill>
          <a:ln w="12700">
            <a:solidFill>
              <a:srgbClr val="14171A"/>
            </a:solidFill>
            <a:prstDash val="solid"/>
          </a:ln>
        </p:spPr>
      </p:sp>
      <p:sp>
        <p:nvSpPr>
          <p:cNvPr id="10" name="Text 8"/>
          <p:cNvSpPr txBox="1"/>
          <p:nvPr/>
        </p:nvSpPr>
        <p:spPr>
          <a:xfrm>
            <a:off x="777240" y="2825496"/>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CONTROL</a:t>
            </a:r>
            <a:endParaRPr lang="en-US" sz="1000" dirty="0"/>
          </a:p>
        </p:txBody>
      </p:sp>
      <p:sp>
        <p:nvSpPr>
          <p:cNvPr id="11" name="Shape 9"/>
          <p:cNvSpPr/>
          <p:nvPr/>
        </p:nvSpPr>
        <p:spPr>
          <a:xfrm>
            <a:off x="2240280" y="2624328"/>
            <a:ext cx="9144000" cy="658368"/>
          </a:xfrm>
          <a:prstGeom prst="rect">
            <a:avLst/>
          </a:prstGeom>
          <a:solidFill>
            <a:srgbClr val="FFFFFF"/>
          </a:solidFill>
          <a:ln w="15875">
            <a:solidFill>
              <a:srgbClr val="D3CEC0"/>
            </a:solidFill>
            <a:prstDash val="solid"/>
          </a:ln>
        </p:spPr>
      </p:sp>
      <p:sp>
        <p:nvSpPr>
          <p:cNvPr id="12" name="Text 10"/>
          <p:cNvSpPr txBox="1"/>
          <p:nvPr/>
        </p:nvSpPr>
        <p:spPr>
          <a:xfrm>
            <a:off x="2450592" y="2825496"/>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CurbCutKeyword. About 70 phrases resolved before any inference happens.</a:t>
            </a:r>
            <a:endParaRPr lang="en-US" sz="1250" dirty="0"/>
          </a:p>
        </p:txBody>
      </p:sp>
      <p:sp>
        <p:nvSpPr>
          <p:cNvPr id="13" name="Shape 11"/>
          <p:cNvSpPr/>
          <p:nvPr/>
        </p:nvSpPr>
        <p:spPr>
          <a:xfrm>
            <a:off x="3108960" y="3282696"/>
            <a:ext cx="0" cy="182880"/>
          </a:xfrm>
          <a:prstGeom prst="line">
            <a:avLst/>
          </a:prstGeom>
          <a:noFill/>
          <a:ln w="17780">
            <a:solidFill>
              <a:srgbClr val="42474C"/>
            </a:solidFill>
            <a:prstDash val="solid"/>
            <a:tailEnd type="triangle"/>
          </a:ln>
        </p:spPr>
      </p:sp>
      <p:sp>
        <p:nvSpPr>
          <p:cNvPr id="14" name="Shape 12"/>
          <p:cNvSpPr/>
          <p:nvPr/>
        </p:nvSpPr>
        <p:spPr>
          <a:xfrm>
            <a:off x="777240" y="3465576"/>
            <a:ext cx="1371600" cy="658368"/>
          </a:xfrm>
          <a:prstGeom prst="rect">
            <a:avLst/>
          </a:prstGeom>
          <a:solidFill>
            <a:srgbClr val="14171A"/>
          </a:solidFill>
          <a:ln w="12700">
            <a:solidFill>
              <a:srgbClr val="14171A"/>
            </a:solidFill>
            <a:prstDash val="solid"/>
          </a:ln>
        </p:spPr>
      </p:sp>
      <p:sp>
        <p:nvSpPr>
          <p:cNvPr id="15" name="Text 13"/>
          <p:cNvSpPr txBox="1"/>
          <p:nvPr/>
        </p:nvSpPr>
        <p:spPr>
          <a:xfrm>
            <a:off x="777240" y="3666744"/>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DOOR</a:t>
            </a:r>
            <a:endParaRPr lang="en-US" sz="1000" dirty="0"/>
          </a:p>
        </p:txBody>
      </p:sp>
      <p:sp>
        <p:nvSpPr>
          <p:cNvPr id="16" name="Shape 14"/>
          <p:cNvSpPr/>
          <p:nvPr/>
        </p:nvSpPr>
        <p:spPr>
          <a:xfrm>
            <a:off x="2240280" y="3465576"/>
            <a:ext cx="9144000" cy="658368"/>
          </a:xfrm>
          <a:prstGeom prst="rect">
            <a:avLst/>
          </a:prstGeom>
          <a:solidFill>
            <a:srgbClr val="FFFFFF"/>
          </a:solidFill>
          <a:ln w="15875">
            <a:solidFill>
              <a:srgbClr val="D3CEC0"/>
            </a:solidFill>
            <a:prstDash val="solid"/>
          </a:ln>
        </p:spPr>
      </p:sp>
      <p:sp>
        <p:nvSpPr>
          <p:cNvPr id="17" name="Text 15"/>
          <p:cNvSpPr txBox="1"/>
          <p:nvPr/>
        </p:nvSpPr>
        <p:spPr>
          <a:xfrm>
            <a:off x="2450592" y="3666744"/>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CurbCutChannelApi. One authenticated Apex REST endpoint every channel shares.</a:t>
            </a:r>
            <a:endParaRPr lang="en-US" sz="1250" dirty="0"/>
          </a:p>
        </p:txBody>
      </p:sp>
      <p:sp>
        <p:nvSpPr>
          <p:cNvPr id="18" name="Shape 16"/>
          <p:cNvSpPr/>
          <p:nvPr/>
        </p:nvSpPr>
        <p:spPr>
          <a:xfrm>
            <a:off x="3108960" y="4123944"/>
            <a:ext cx="0" cy="182880"/>
          </a:xfrm>
          <a:prstGeom prst="line">
            <a:avLst/>
          </a:prstGeom>
          <a:noFill/>
          <a:ln w="17780">
            <a:solidFill>
              <a:srgbClr val="42474C"/>
            </a:solidFill>
            <a:prstDash val="solid"/>
            <a:tailEnd type="triangle"/>
          </a:ln>
        </p:spPr>
      </p:sp>
      <p:sp>
        <p:nvSpPr>
          <p:cNvPr id="19" name="Shape 17"/>
          <p:cNvSpPr/>
          <p:nvPr/>
        </p:nvSpPr>
        <p:spPr>
          <a:xfrm>
            <a:off x="777240" y="4306824"/>
            <a:ext cx="1371600" cy="658368"/>
          </a:xfrm>
          <a:prstGeom prst="rect">
            <a:avLst/>
          </a:prstGeom>
          <a:solidFill>
            <a:srgbClr val="14171A"/>
          </a:solidFill>
          <a:ln w="12700">
            <a:solidFill>
              <a:srgbClr val="14171A"/>
            </a:solidFill>
            <a:prstDash val="solid"/>
          </a:ln>
        </p:spPr>
      </p:sp>
      <p:sp>
        <p:nvSpPr>
          <p:cNvPr id="20" name="Text 18"/>
          <p:cNvSpPr txBox="1"/>
          <p:nvPr/>
        </p:nvSpPr>
        <p:spPr>
          <a:xfrm>
            <a:off x="777240" y="4507992"/>
            <a:ext cx="1371600" cy="274320"/>
          </a:xfrm>
          <a:prstGeom prst="rect">
            <a:avLst/>
          </a:prstGeom>
          <a:noFill/>
          <a:ln/>
        </p:spPr>
        <p:txBody>
          <a:bodyPr wrap="square" lIns="0" tIns="0" rIns="0" bIns="0" rtlCol="0" anchor="ctr"/>
          <a:lstStyle/>
          <a:p>
            <a:pPr algn="ctr" indent="0" marL="0">
              <a:buNone/>
            </a:pPr>
            <a:r>
              <a:rPr lang="en-US" sz="1000" b="1" spc="120" kern="0" dirty="0">
                <a:solidFill>
                  <a:srgbClr val="F7F5EF"/>
                </a:solidFill>
                <a:latin typeface="Courier New" pitchFamily="34" charset="0"/>
                <a:ea typeface="Courier New" pitchFamily="34" charset="-122"/>
                <a:cs typeface="Courier New" pitchFamily="34" charset="-120"/>
              </a:rPr>
              <a:t>LOGIC</a:t>
            </a:r>
            <a:endParaRPr lang="en-US" sz="1000" dirty="0"/>
          </a:p>
        </p:txBody>
      </p:sp>
      <p:sp>
        <p:nvSpPr>
          <p:cNvPr id="21" name="Shape 19"/>
          <p:cNvSpPr/>
          <p:nvPr/>
        </p:nvSpPr>
        <p:spPr>
          <a:xfrm>
            <a:off x="2240280" y="4306824"/>
            <a:ext cx="9144000" cy="658368"/>
          </a:xfrm>
          <a:prstGeom prst="rect">
            <a:avLst/>
          </a:prstGeom>
          <a:solidFill>
            <a:srgbClr val="FFFFFF"/>
          </a:solidFill>
          <a:ln w="15875">
            <a:solidFill>
              <a:srgbClr val="D3CEC0"/>
            </a:solidFill>
            <a:prstDash val="solid"/>
          </a:ln>
        </p:spPr>
      </p:sp>
      <p:sp>
        <p:nvSpPr>
          <p:cNvPr id="22" name="Text 20"/>
          <p:cNvSpPr txBox="1"/>
          <p:nvPr/>
        </p:nvSpPr>
        <p:spPr>
          <a:xfrm>
            <a:off x="2450592" y="4507992"/>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Options ranker  ·  Redaction  ·  Consent gate  ·  Handoff  ·  Standing preference</a:t>
            </a:r>
            <a:endParaRPr lang="en-US" sz="1250" dirty="0"/>
          </a:p>
        </p:txBody>
      </p:sp>
      <p:sp>
        <p:nvSpPr>
          <p:cNvPr id="23" name="Shape 21"/>
          <p:cNvSpPr/>
          <p:nvPr/>
        </p:nvSpPr>
        <p:spPr>
          <a:xfrm>
            <a:off x="3108960" y="4965192"/>
            <a:ext cx="0" cy="182880"/>
          </a:xfrm>
          <a:prstGeom prst="line">
            <a:avLst/>
          </a:prstGeom>
          <a:noFill/>
          <a:ln w="17780">
            <a:solidFill>
              <a:srgbClr val="42474C"/>
            </a:solidFill>
            <a:prstDash val="solid"/>
            <a:tailEnd type="triangle"/>
          </a:ln>
        </p:spPr>
      </p:sp>
      <p:sp>
        <p:nvSpPr>
          <p:cNvPr id="24" name="Shape 22"/>
          <p:cNvSpPr/>
          <p:nvPr/>
        </p:nvSpPr>
        <p:spPr>
          <a:xfrm>
            <a:off x="777240" y="5148072"/>
            <a:ext cx="1371600" cy="658368"/>
          </a:xfrm>
          <a:prstGeom prst="rect">
            <a:avLst/>
          </a:prstGeom>
          <a:solidFill>
            <a:srgbClr val="E7E3D8"/>
          </a:solidFill>
          <a:ln w="12700">
            <a:solidFill>
              <a:srgbClr val="D3CEC0"/>
            </a:solidFill>
            <a:prstDash val="solid"/>
          </a:ln>
        </p:spPr>
      </p:sp>
      <p:sp>
        <p:nvSpPr>
          <p:cNvPr id="25" name="Text 23"/>
          <p:cNvSpPr txBox="1"/>
          <p:nvPr/>
        </p:nvSpPr>
        <p:spPr>
          <a:xfrm>
            <a:off x="777240" y="5349240"/>
            <a:ext cx="1371600" cy="274320"/>
          </a:xfrm>
          <a:prstGeom prst="rect">
            <a:avLst/>
          </a:prstGeom>
          <a:noFill/>
          <a:ln/>
        </p:spPr>
        <p:txBody>
          <a:bodyPr wrap="square" lIns="0" tIns="0" rIns="0" bIns="0" rtlCol="0" anchor="ctr"/>
          <a:lstStyle/>
          <a:p>
            <a:pPr algn="ctr" indent="0" marL="0">
              <a:buNone/>
            </a:pPr>
            <a:r>
              <a:rPr lang="en-US" sz="1000" b="1" spc="120" kern="0" dirty="0">
                <a:solidFill>
                  <a:srgbClr val="14171A"/>
                </a:solidFill>
                <a:latin typeface="Courier New" pitchFamily="34" charset="0"/>
                <a:ea typeface="Courier New" pitchFamily="34" charset="-122"/>
                <a:cs typeface="Courier New" pitchFamily="34" charset="-120"/>
              </a:rPr>
              <a:t>RECORD</a:t>
            </a:r>
            <a:endParaRPr lang="en-US" sz="1000" dirty="0"/>
          </a:p>
        </p:txBody>
      </p:sp>
      <p:sp>
        <p:nvSpPr>
          <p:cNvPr id="26" name="Shape 24"/>
          <p:cNvSpPr/>
          <p:nvPr/>
        </p:nvSpPr>
        <p:spPr>
          <a:xfrm>
            <a:off x="2240280" y="5148072"/>
            <a:ext cx="9144000" cy="658368"/>
          </a:xfrm>
          <a:prstGeom prst="rect">
            <a:avLst/>
          </a:prstGeom>
          <a:solidFill>
            <a:srgbClr val="FFFFFF"/>
          </a:solidFill>
          <a:ln w="15875">
            <a:solidFill>
              <a:srgbClr val="D3CEC0"/>
            </a:solidFill>
            <a:prstDash val="solid"/>
          </a:ln>
        </p:spPr>
      </p:sp>
      <p:sp>
        <p:nvSpPr>
          <p:cNvPr id="27" name="Text 25"/>
          <p:cNvSpPr txBox="1"/>
          <p:nvPr/>
        </p:nvSpPr>
        <p:spPr>
          <a:xfrm>
            <a:off x="2450592" y="5349240"/>
            <a:ext cx="8778240" cy="32004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9 objects, 61 fields, a delivery ledger, and no field for a diagnosis.</a:t>
            </a:r>
            <a:endParaRPr lang="en-US" sz="1250" dirty="0"/>
          </a:p>
        </p:txBody>
      </p:sp>
      <p:sp>
        <p:nvSpPr>
          <p:cNvPr id="28" name="Text 26"/>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 model sits inside LOGIC and nowhere else. It may choose an action and phrase a reply. It may not invent an accommodation, a cost, or a precedent.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CHANNEL SWIM LANES</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 same contract, whichever door she comes through.</a:t>
            </a:r>
            <a:endParaRPr lang="en-US" sz="3300" dirty="0"/>
          </a:p>
        </p:txBody>
      </p:sp>
      <p:sp>
        <p:nvSpPr>
          <p:cNvPr id="4" name="Text 2"/>
          <p:cNvSpPr txBox="1"/>
          <p:nvPr/>
        </p:nvSpPr>
        <p:spPr>
          <a:xfrm>
            <a:off x="2880360"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Control word</a:t>
            </a:r>
            <a:endParaRPr lang="en-US" sz="1050" dirty="0"/>
          </a:p>
        </p:txBody>
      </p:sp>
      <p:sp>
        <p:nvSpPr>
          <p:cNvPr id="5" name="Text 3"/>
          <p:cNvSpPr txBox="1"/>
          <p:nvPr/>
        </p:nvSpPr>
        <p:spPr>
          <a:xfrm>
            <a:off x="2880360"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resolved in Apex</a:t>
            </a:r>
            <a:endParaRPr lang="en-US" sz="850" dirty="0"/>
          </a:p>
        </p:txBody>
      </p:sp>
      <p:sp>
        <p:nvSpPr>
          <p:cNvPr id="6" name="Text 4"/>
          <p:cNvSpPr txBox="1"/>
          <p:nvPr/>
        </p:nvSpPr>
        <p:spPr>
          <a:xfrm>
            <a:off x="4690872"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Grounded options</a:t>
            </a:r>
            <a:endParaRPr lang="en-US" sz="1050" dirty="0"/>
          </a:p>
        </p:txBody>
      </p:sp>
      <p:sp>
        <p:nvSpPr>
          <p:cNvPr id="7" name="Text 5"/>
          <p:cNvSpPr txBox="1"/>
          <p:nvPr/>
        </p:nvSpPr>
        <p:spPr>
          <a:xfrm>
            <a:off x="4690872"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from 28 sourced rows</a:t>
            </a:r>
            <a:endParaRPr lang="en-US" sz="850" dirty="0"/>
          </a:p>
        </p:txBody>
      </p:sp>
      <p:sp>
        <p:nvSpPr>
          <p:cNvPr id="8" name="Text 6"/>
          <p:cNvSpPr txBox="1"/>
          <p:nvPr/>
        </p:nvSpPr>
        <p:spPr>
          <a:xfrm>
            <a:off x="6501384"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Draft a request</a:t>
            </a:r>
            <a:endParaRPr lang="en-US" sz="1050" dirty="0"/>
          </a:p>
        </p:txBody>
      </p:sp>
      <p:sp>
        <p:nvSpPr>
          <p:cNvPr id="9" name="Text 7"/>
          <p:cNvSpPr txBox="1"/>
          <p:nvPr/>
        </p:nvSpPr>
        <p:spPr>
          <a:xfrm>
            <a:off x="6501384"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in her own words</a:t>
            </a:r>
            <a:endParaRPr lang="en-US" sz="850" dirty="0"/>
          </a:p>
        </p:txBody>
      </p:sp>
      <p:sp>
        <p:nvSpPr>
          <p:cNvPr id="10" name="Text 8"/>
          <p:cNvSpPr txBox="1"/>
          <p:nvPr/>
        </p:nvSpPr>
        <p:spPr>
          <a:xfrm>
            <a:off x="8311896"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Send it</a:t>
            </a:r>
            <a:endParaRPr lang="en-US" sz="1050" dirty="0"/>
          </a:p>
        </p:txBody>
      </p:sp>
      <p:sp>
        <p:nvSpPr>
          <p:cNvPr id="11" name="Text 9"/>
          <p:cNvSpPr txBox="1"/>
          <p:nvPr/>
        </p:nvSpPr>
        <p:spPr>
          <a:xfrm>
            <a:off x="8311896"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only on a clear yes</a:t>
            </a:r>
            <a:endParaRPr lang="en-US" sz="850" dirty="0"/>
          </a:p>
        </p:txBody>
      </p:sp>
      <p:sp>
        <p:nvSpPr>
          <p:cNvPr id="12" name="Text 10"/>
          <p:cNvSpPr txBox="1"/>
          <p:nvPr/>
        </p:nvSpPr>
        <p:spPr>
          <a:xfrm>
            <a:off x="10122408" y="1691640"/>
            <a:ext cx="1737360" cy="274320"/>
          </a:xfrm>
          <a:prstGeom prst="rect">
            <a:avLst/>
          </a:prstGeom>
          <a:noFill/>
          <a:ln/>
        </p:spPr>
        <p:txBody>
          <a:bodyPr wrap="square" lIns="0" tIns="0" rIns="0" bIns="0" rtlCol="0" anchor="ctr"/>
          <a:lstStyle/>
          <a:p>
            <a:pPr indent="0" marL="0">
              <a:buNone/>
            </a:pPr>
            <a:r>
              <a:rPr lang="en-US" sz="1050" b="1" dirty="0">
                <a:solidFill>
                  <a:srgbClr val="14171A"/>
                </a:solidFill>
                <a:latin typeface="Calibri" pitchFamily="34" charset="0"/>
                <a:ea typeface="Calibri" pitchFamily="34" charset="-122"/>
                <a:cs typeface="Calibri" pitchFamily="34" charset="-120"/>
              </a:rPr>
              <a:t>Photo or signed video</a:t>
            </a:r>
            <a:endParaRPr lang="en-US" sz="1050" dirty="0"/>
          </a:p>
        </p:txBody>
      </p:sp>
      <p:sp>
        <p:nvSpPr>
          <p:cNvPr id="13" name="Text 11"/>
          <p:cNvSpPr txBox="1"/>
          <p:nvPr/>
        </p:nvSpPr>
        <p:spPr>
          <a:xfrm>
            <a:off x="10122408" y="1938528"/>
            <a:ext cx="1737360" cy="274320"/>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to a human interpreter</a:t>
            </a:r>
            <a:endParaRPr lang="en-US" sz="850" dirty="0"/>
          </a:p>
        </p:txBody>
      </p:sp>
      <p:sp>
        <p:nvSpPr>
          <p:cNvPr id="14" name="Shape 12"/>
          <p:cNvSpPr/>
          <p:nvPr/>
        </p:nvSpPr>
        <p:spPr>
          <a:xfrm>
            <a:off x="777240" y="2331720"/>
            <a:ext cx="10607040" cy="493776"/>
          </a:xfrm>
          <a:prstGeom prst="rect">
            <a:avLst/>
          </a:prstGeom>
          <a:solidFill>
            <a:srgbClr val="F5F3ED"/>
          </a:solidFill>
          <a:ln w="9525">
            <a:solidFill>
              <a:srgbClr val="D3CEC0"/>
            </a:solidFill>
            <a:prstDash val="solid"/>
          </a:ln>
        </p:spPr>
      </p:sp>
      <p:sp>
        <p:nvSpPr>
          <p:cNvPr id="15" name="Text 13"/>
          <p:cNvSpPr txBox="1"/>
          <p:nvPr/>
        </p:nvSpPr>
        <p:spPr>
          <a:xfrm>
            <a:off x="914400" y="2450592"/>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Web</a:t>
            </a:r>
            <a:endParaRPr lang="en-US" sz="1250" dirty="0"/>
          </a:p>
        </p:txBody>
      </p:sp>
      <p:sp>
        <p:nvSpPr>
          <p:cNvPr id="16" name="Text 14"/>
          <p:cNvSpPr txBox="1"/>
          <p:nvPr/>
        </p:nvSpPr>
        <p:spPr>
          <a:xfrm>
            <a:off x="1920240" y="2478024"/>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anonymous, no login</a:t>
            </a:r>
            <a:endParaRPr lang="en-US" sz="850" dirty="0"/>
          </a:p>
        </p:txBody>
      </p:sp>
      <p:sp>
        <p:nvSpPr>
          <p:cNvPr id="17" name="Shape 15"/>
          <p:cNvSpPr/>
          <p:nvPr/>
        </p:nvSpPr>
        <p:spPr>
          <a:xfrm>
            <a:off x="3429000" y="2468880"/>
            <a:ext cx="219456" cy="219456"/>
          </a:xfrm>
          <a:prstGeom prst="ellipse">
            <a:avLst/>
          </a:prstGeom>
          <a:solidFill>
            <a:srgbClr val="1F5546"/>
          </a:solidFill>
          <a:ln w="12700">
            <a:solidFill>
              <a:srgbClr val="1F5546"/>
            </a:solidFill>
            <a:prstDash val="solid"/>
          </a:ln>
        </p:spPr>
      </p:sp>
      <p:sp>
        <p:nvSpPr>
          <p:cNvPr id="18" name="Shape 16"/>
          <p:cNvSpPr/>
          <p:nvPr/>
        </p:nvSpPr>
        <p:spPr>
          <a:xfrm>
            <a:off x="5239512" y="2468880"/>
            <a:ext cx="219456" cy="219456"/>
          </a:xfrm>
          <a:prstGeom prst="ellipse">
            <a:avLst/>
          </a:prstGeom>
          <a:solidFill>
            <a:srgbClr val="1F5546"/>
          </a:solidFill>
          <a:ln w="12700">
            <a:solidFill>
              <a:srgbClr val="1F5546"/>
            </a:solidFill>
            <a:prstDash val="solid"/>
          </a:ln>
        </p:spPr>
      </p:sp>
      <p:sp>
        <p:nvSpPr>
          <p:cNvPr id="19" name="Shape 17"/>
          <p:cNvSpPr/>
          <p:nvPr/>
        </p:nvSpPr>
        <p:spPr>
          <a:xfrm>
            <a:off x="7050024" y="2468880"/>
            <a:ext cx="219456" cy="219456"/>
          </a:xfrm>
          <a:prstGeom prst="ellipse">
            <a:avLst/>
          </a:prstGeom>
          <a:solidFill>
            <a:srgbClr val="1F5546"/>
          </a:solidFill>
          <a:ln w="12700">
            <a:solidFill>
              <a:srgbClr val="1F5546"/>
            </a:solidFill>
            <a:prstDash val="solid"/>
          </a:ln>
        </p:spPr>
      </p:sp>
      <p:sp>
        <p:nvSpPr>
          <p:cNvPr id="20" name="Shape 18"/>
          <p:cNvSpPr/>
          <p:nvPr/>
        </p:nvSpPr>
        <p:spPr>
          <a:xfrm>
            <a:off x="8860536" y="2468880"/>
            <a:ext cx="219456" cy="219456"/>
          </a:xfrm>
          <a:prstGeom prst="ellipse">
            <a:avLst/>
          </a:prstGeom>
          <a:solidFill>
            <a:srgbClr val="1F5546"/>
          </a:solidFill>
          <a:ln w="12700">
            <a:solidFill>
              <a:srgbClr val="1F5546"/>
            </a:solidFill>
            <a:prstDash val="solid"/>
          </a:ln>
        </p:spPr>
      </p:sp>
      <p:sp>
        <p:nvSpPr>
          <p:cNvPr id="21" name="Shape 19"/>
          <p:cNvSpPr/>
          <p:nvPr/>
        </p:nvSpPr>
        <p:spPr>
          <a:xfrm>
            <a:off x="10671048" y="2468880"/>
            <a:ext cx="219456" cy="219456"/>
          </a:xfrm>
          <a:prstGeom prst="ellipse">
            <a:avLst/>
          </a:prstGeom>
          <a:solidFill>
            <a:srgbClr val="1F5546"/>
          </a:solidFill>
          <a:ln w="12700">
            <a:solidFill>
              <a:srgbClr val="1F5546"/>
            </a:solidFill>
            <a:prstDash val="solid"/>
          </a:ln>
        </p:spPr>
      </p:sp>
      <p:sp>
        <p:nvSpPr>
          <p:cNvPr id="22" name="Shape 20"/>
          <p:cNvSpPr/>
          <p:nvPr/>
        </p:nvSpPr>
        <p:spPr>
          <a:xfrm>
            <a:off x="777240" y="2898648"/>
            <a:ext cx="10607040" cy="493776"/>
          </a:xfrm>
          <a:prstGeom prst="rect">
            <a:avLst/>
          </a:prstGeom>
          <a:solidFill>
            <a:srgbClr val="FFFFFF"/>
          </a:solidFill>
          <a:ln w="9525">
            <a:solidFill>
              <a:srgbClr val="D3CEC0"/>
            </a:solidFill>
            <a:prstDash val="solid"/>
          </a:ln>
        </p:spPr>
      </p:sp>
      <p:sp>
        <p:nvSpPr>
          <p:cNvPr id="23" name="Text 21"/>
          <p:cNvSpPr txBox="1"/>
          <p:nvPr/>
        </p:nvSpPr>
        <p:spPr>
          <a:xfrm>
            <a:off x="914400" y="3017520"/>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Voice</a:t>
            </a:r>
            <a:endParaRPr lang="en-US" sz="1250" dirty="0"/>
          </a:p>
        </p:txBody>
      </p:sp>
      <p:sp>
        <p:nvSpPr>
          <p:cNvPr id="24" name="Text 22"/>
          <p:cNvSpPr txBox="1"/>
          <p:nvPr/>
        </p:nvSpPr>
        <p:spPr>
          <a:xfrm>
            <a:off x="1920240" y="3044952"/>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live, no registration</a:t>
            </a:r>
            <a:endParaRPr lang="en-US" sz="850" dirty="0"/>
          </a:p>
        </p:txBody>
      </p:sp>
      <p:sp>
        <p:nvSpPr>
          <p:cNvPr id="25" name="Shape 23"/>
          <p:cNvSpPr/>
          <p:nvPr/>
        </p:nvSpPr>
        <p:spPr>
          <a:xfrm>
            <a:off x="3410712" y="3145536"/>
            <a:ext cx="256032" cy="0"/>
          </a:xfrm>
          <a:prstGeom prst="line">
            <a:avLst/>
          </a:prstGeom>
          <a:noFill/>
          <a:ln w="25400">
            <a:solidFill>
              <a:srgbClr val="D3CEC0"/>
            </a:solidFill>
            <a:prstDash val="solid"/>
          </a:ln>
        </p:spPr>
      </p:sp>
      <p:sp>
        <p:nvSpPr>
          <p:cNvPr id="26" name="Shape 24"/>
          <p:cNvSpPr/>
          <p:nvPr/>
        </p:nvSpPr>
        <p:spPr>
          <a:xfrm>
            <a:off x="5239512" y="3035808"/>
            <a:ext cx="219456" cy="219456"/>
          </a:xfrm>
          <a:prstGeom prst="ellipse">
            <a:avLst/>
          </a:prstGeom>
          <a:solidFill>
            <a:srgbClr val="1F5546"/>
          </a:solidFill>
          <a:ln w="12700">
            <a:solidFill>
              <a:srgbClr val="1F5546"/>
            </a:solidFill>
            <a:prstDash val="solid"/>
          </a:ln>
        </p:spPr>
      </p:sp>
      <p:sp>
        <p:nvSpPr>
          <p:cNvPr id="27" name="Shape 25"/>
          <p:cNvSpPr/>
          <p:nvPr/>
        </p:nvSpPr>
        <p:spPr>
          <a:xfrm>
            <a:off x="7031736" y="3145536"/>
            <a:ext cx="256032" cy="0"/>
          </a:xfrm>
          <a:prstGeom prst="line">
            <a:avLst/>
          </a:prstGeom>
          <a:noFill/>
          <a:ln w="25400">
            <a:solidFill>
              <a:srgbClr val="D3CEC0"/>
            </a:solidFill>
            <a:prstDash val="solid"/>
          </a:ln>
        </p:spPr>
      </p:sp>
      <p:sp>
        <p:nvSpPr>
          <p:cNvPr id="28" name="Shape 26"/>
          <p:cNvSpPr/>
          <p:nvPr/>
        </p:nvSpPr>
        <p:spPr>
          <a:xfrm>
            <a:off x="8842248" y="3145536"/>
            <a:ext cx="256032" cy="0"/>
          </a:xfrm>
          <a:prstGeom prst="line">
            <a:avLst/>
          </a:prstGeom>
          <a:noFill/>
          <a:ln w="25400">
            <a:solidFill>
              <a:srgbClr val="D3CEC0"/>
            </a:solidFill>
            <a:prstDash val="solid"/>
          </a:ln>
        </p:spPr>
      </p:sp>
      <p:sp>
        <p:nvSpPr>
          <p:cNvPr id="29" name="Shape 27"/>
          <p:cNvSpPr/>
          <p:nvPr/>
        </p:nvSpPr>
        <p:spPr>
          <a:xfrm>
            <a:off x="10652760" y="3145536"/>
            <a:ext cx="256032" cy="0"/>
          </a:xfrm>
          <a:prstGeom prst="line">
            <a:avLst/>
          </a:prstGeom>
          <a:noFill/>
          <a:ln w="25400">
            <a:solidFill>
              <a:srgbClr val="D3CEC0"/>
            </a:solidFill>
            <a:prstDash val="solid"/>
          </a:ln>
        </p:spPr>
      </p:sp>
      <p:sp>
        <p:nvSpPr>
          <p:cNvPr id="30" name="Shape 28"/>
          <p:cNvSpPr/>
          <p:nvPr/>
        </p:nvSpPr>
        <p:spPr>
          <a:xfrm>
            <a:off x="777240" y="3465576"/>
            <a:ext cx="10607040" cy="493776"/>
          </a:xfrm>
          <a:prstGeom prst="rect">
            <a:avLst/>
          </a:prstGeom>
          <a:solidFill>
            <a:srgbClr val="F5F3ED"/>
          </a:solidFill>
          <a:ln w="9525">
            <a:solidFill>
              <a:srgbClr val="D3CEC0"/>
            </a:solidFill>
            <a:prstDash val="solid"/>
          </a:ln>
        </p:spPr>
      </p:sp>
      <p:sp>
        <p:nvSpPr>
          <p:cNvPr id="31" name="Text 29"/>
          <p:cNvSpPr txBox="1"/>
          <p:nvPr/>
        </p:nvSpPr>
        <p:spPr>
          <a:xfrm>
            <a:off x="914400" y="3584448"/>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Text</a:t>
            </a:r>
            <a:endParaRPr lang="en-US" sz="1250" dirty="0"/>
          </a:p>
        </p:txBody>
      </p:sp>
      <p:sp>
        <p:nvSpPr>
          <p:cNvPr id="32" name="Text 30"/>
          <p:cNvSpPr txBox="1"/>
          <p:nvPr/>
        </p:nvSpPr>
        <p:spPr>
          <a:xfrm>
            <a:off x="1920240" y="3611880"/>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awaiting carrier</a:t>
            </a:r>
            <a:endParaRPr lang="en-US" sz="850" dirty="0"/>
          </a:p>
        </p:txBody>
      </p:sp>
      <p:sp>
        <p:nvSpPr>
          <p:cNvPr id="33" name="Shape 31"/>
          <p:cNvSpPr/>
          <p:nvPr/>
        </p:nvSpPr>
        <p:spPr>
          <a:xfrm>
            <a:off x="3429000" y="3602736"/>
            <a:ext cx="219456" cy="219456"/>
          </a:xfrm>
          <a:prstGeom prst="ellipse">
            <a:avLst/>
          </a:prstGeom>
          <a:solidFill>
            <a:srgbClr val="1F5546"/>
          </a:solidFill>
          <a:ln w="12700">
            <a:solidFill>
              <a:srgbClr val="1F5546"/>
            </a:solidFill>
            <a:prstDash val="solid"/>
          </a:ln>
        </p:spPr>
      </p:sp>
      <p:sp>
        <p:nvSpPr>
          <p:cNvPr id="34" name="Shape 32"/>
          <p:cNvSpPr/>
          <p:nvPr/>
        </p:nvSpPr>
        <p:spPr>
          <a:xfrm>
            <a:off x="5239512" y="3602736"/>
            <a:ext cx="219456" cy="219456"/>
          </a:xfrm>
          <a:prstGeom prst="ellipse">
            <a:avLst/>
          </a:prstGeom>
          <a:solidFill>
            <a:srgbClr val="1F5546"/>
          </a:solidFill>
          <a:ln w="12700">
            <a:solidFill>
              <a:srgbClr val="1F5546"/>
            </a:solidFill>
            <a:prstDash val="solid"/>
          </a:ln>
        </p:spPr>
      </p:sp>
      <p:sp>
        <p:nvSpPr>
          <p:cNvPr id="35" name="Shape 33"/>
          <p:cNvSpPr/>
          <p:nvPr/>
        </p:nvSpPr>
        <p:spPr>
          <a:xfrm>
            <a:off x="7050024" y="3602736"/>
            <a:ext cx="219456" cy="219456"/>
          </a:xfrm>
          <a:prstGeom prst="ellipse">
            <a:avLst/>
          </a:prstGeom>
          <a:solidFill>
            <a:srgbClr val="1F5546"/>
          </a:solidFill>
          <a:ln w="12700">
            <a:solidFill>
              <a:srgbClr val="1F5546"/>
            </a:solidFill>
            <a:prstDash val="solid"/>
          </a:ln>
        </p:spPr>
      </p:sp>
      <p:sp>
        <p:nvSpPr>
          <p:cNvPr id="36" name="Shape 34"/>
          <p:cNvSpPr/>
          <p:nvPr/>
        </p:nvSpPr>
        <p:spPr>
          <a:xfrm>
            <a:off x="8860536" y="3602736"/>
            <a:ext cx="219456" cy="219456"/>
          </a:xfrm>
          <a:prstGeom prst="ellipse">
            <a:avLst/>
          </a:prstGeom>
          <a:solidFill>
            <a:srgbClr val="1F5546"/>
          </a:solidFill>
          <a:ln w="12700">
            <a:solidFill>
              <a:srgbClr val="1F5546"/>
            </a:solidFill>
            <a:prstDash val="solid"/>
          </a:ln>
        </p:spPr>
      </p:sp>
      <p:sp>
        <p:nvSpPr>
          <p:cNvPr id="37" name="Shape 35"/>
          <p:cNvSpPr/>
          <p:nvPr/>
        </p:nvSpPr>
        <p:spPr>
          <a:xfrm>
            <a:off x="10652760" y="3712464"/>
            <a:ext cx="256032" cy="0"/>
          </a:xfrm>
          <a:prstGeom prst="line">
            <a:avLst/>
          </a:prstGeom>
          <a:noFill/>
          <a:ln w="25400">
            <a:solidFill>
              <a:srgbClr val="D3CEC0"/>
            </a:solidFill>
            <a:prstDash val="solid"/>
          </a:ln>
        </p:spPr>
      </p:sp>
      <p:sp>
        <p:nvSpPr>
          <p:cNvPr id="38" name="Shape 36"/>
          <p:cNvSpPr/>
          <p:nvPr/>
        </p:nvSpPr>
        <p:spPr>
          <a:xfrm>
            <a:off x="777240" y="4032504"/>
            <a:ext cx="10607040" cy="493776"/>
          </a:xfrm>
          <a:prstGeom prst="rect">
            <a:avLst/>
          </a:prstGeom>
          <a:solidFill>
            <a:srgbClr val="FFFFFF"/>
          </a:solidFill>
          <a:ln w="9525">
            <a:solidFill>
              <a:srgbClr val="D3CEC0"/>
            </a:solidFill>
            <a:prstDash val="solid"/>
          </a:ln>
        </p:spPr>
      </p:sp>
      <p:sp>
        <p:nvSpPr>
          <p:cNvPr id="39" name="Text 37"/>
          <p:cNvSpPr txBox="1"/>
          <p:nvPr/>
        </p:nvSpPr>
        <p:spPr>
          <a:xfrm>
            <a:off x="914400" y="4151376"/>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Email</a:t>
            </a:r>
            <a:endParaRPr lang="en-US" sz="1250" dirty="0"/>
          </a:p>
        </p:txBody>
      </p:sp>
      <p:sp>
        <p:nvSpPr>
          <p:cNvPr id="40" name="Text 38"/>
          <p:cNvSpPr txBox="1"/>
          <p:nvPr/>
        </p:nvSpPr>
        <p:spPr>
          <a:xfrm>
            <a:off x="1920240" y="4178808"/>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answers, never sends</a:t>
            </a:r>
            <a:endParaRPr lang="en-US" sz="850" dirty="0"/>
          </a:p>
        </p:txBody>
      </p:sp>
      <p:sp>
        <p:nvSpPr>
          <p:cNvPr id="41" name="Shape 39"/>
          <p:cNvSpPr/>
          <p:nvPr/>
        </p:nvSpPr>
        <p:spPr>
          <a:xfrm>
            <a:off x="3429000" y="4169664"/>
            <a:ext cx="219456" cy="219456"/>
          </a:xfrm>
          <a:prstGeom prst="ellipse">
            <a:avLst/>
          </a:prstGeom>
          <a:solidFill>
            <a:srgbClr val="1F5546"/>
          </a:solidFill>
          <a:ln w="12700">
            <a:solidFill>
              <a:srgbClr val="1F5546"/>
            </a:solidFill>
            <a:prstDash val="solid"/>
          </a:ln>
        </p:spPr>
      </p:sp>
      <p:sp>
        <p:nvSpPr>
          <p:cNvPr id="42" name="Shape 40"/>
          <p:cNvSpPr/>
          <p:nvPr/>
        </p:nvSpPr>
        <p:spPr>
          <a:xfrm>
            <a:off x="5239512" y="4169664"/>
            <a:ext cx="219456" cy="219456"/>
          </a:xfrm>
          <a:prstGeom prst="ellipse">
            <a:avLst/>
          </a:prstGeom>
          <a:solidFill>
            <a:srgbClr val="1F5546"/>
          </a:solidFill>
          <a:ln w="12700">
            <a:solidFill>
              <a:srgbClr val="1F5546"/>
            </a:solidFill>
            <a:prstDash val="solid"/>
          </a:ln>
        </p:spPr>
      </p:sp>
      <p:sp>
        <p:nvSpPr>
          <p:cNvPr id="43" name="Shape 41"/>
          <p:cNvSpPr/>
          <p:nvPr/>
        </p:nvSpPr>
        <p:spPr>
          <a:xfrm>
            <a:off x="7031736" y="4279392"/>
            <a:ext cx="256032" cy="0"/>
          </a:xfrm>
          <a:prstGeom prst="line">
            <a:avLst/>
          </a:prstGeom>
          <a:noFill/>
          <a:ln w="25400">
            <a:solidFill>
              <a:srgbClr val="D3CEC0"/>
            </a:solidFill>
            <a:prstDash val="solid"/>
          </a:ln>
        </p:spPr>
      </p:sp>
      <p:sp>
        <p:nvSpPr>
          <p:cNvPr id="44" name="Shape 42"/>
          <p:cNvSpPr/>
          <p:nvPr/>
        </p:nvSpPr>
        <p:spPr>
          <a:xfrm>
            <a:off x="8842248" y="4279392"/>
            <a:ext cx="256032" cy="0"/>
          </a:xfrm>
          <a:prstGeom prst="line">
            <a:avLst/>
          </a:prstGeom>
          <a:noFill/>
          <a:ln w="25400">
            <a:solidFill>
              <a:srgbClr val="D3CEC0"/>
            </a:solidFill>
            <a:prstDash val="solid"/>
          </a:ln>
        </p:spPr>
      </p:sp>
      <p:sp>
        <p:nvSpPr>
          <p:cNvPr id="45" name="Shape 43"/>
          <p:cNvSpPr/>
          <p:nvPr/>
        </p:nvSpPr>
        <p:spPr>
          <a:xfrm>
            <a:off x="10671048" y="4169664"/>
            <a:ext cx="219456" cy="219456"/>
          </a:xfrm>
          <a:prstGeom prst="ellipse">
            <a:avLst/>
          </a:prstGeom>
          <a:solidFill>
            <a:srgbClr val="1F5546"/>
          </a:solidFill>
          <a:ln w="12700">
            <a:solidFill>
              <a:srgbClr val="1F5546"/>
            </a:solidFill>
            <a:prstDash val="solid"/>
          </a:ln>
        </p:spPr>
      </p:sp>
      <p:sp>
        <p:nvSpPr>
          <p:cNvPr id="46" name="Shape 44"/>
          <p:cNvSpPr/>
          <p:nvPr/>
        </p:nvSpPr>
        <p:spPr>
          <a:xfrm>
            <a:off x="777240" y="4599432"/>
            <a:ext cx="10607040" cy="493776"/>
          </a:xfrm>
          <a:prstGeom prst="rect">
            <a:avLst/>
          </a:prstGeom>
          <a:solidFill>
            <a:srgbClr val="F5F3ED"/>
          </a:solidFill>
          <a:ln w="9525">
            <a:solidFill>
              <a:srgbClr val="D3CEC0"/>
            </a:solidFill>
            <a:prstDash val="solid"/>
          </a:ln>
        </p:spPr>
      </p:sp>
      <p:sp>
        <p:nvSpPr>
          <p:cNvPr id="47" name="Text 45"/>
          <p:cNvSpPr txBox="1"/>
          <p:nvPr/>
        </p:nvSpPr>
        <p:spPr>
          <a:xfrm>
            <a:off x="914400" y="4718304"/>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Slack</a:t>
            </a:r>
            <a:endParaRPr lang="en-US" sz="1250" dirty="0"/>
          </a:p>
        </p:txBody>
      </p:sp>
      <p:sp>
        <p:nvSpPr>
          <p:cNvPr id="48" name="Text 46"/>
          <p:cNvSpPr txBox="1"/>
          <p:nvPr/>
        </p:nvSpPr>
        <p:spPr>
          <a:xfrm>
            <a:off x="1920240" y="4745736"/>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DM only, never sends</a:t>
            </a:r>
            <a:endParaRPr lang="en-US" sz="850" dirty="0"/>
          </a:p>
        </p:txBody>
      </p:sp>
      <p:sp>
        <p:nvSpPr>
          <p:cNvPr id="49" name="Shape 47"/>
          <p:cNvSpPr/>
          <p:nvPr/>
        </p:nvSpPr>
        <p:spPr>
          <a:xfrm>
            <a:off x="3429000" y="4736592"/>
            <a:ext cx="219456" cy="219456"/>
          </a:xfrm>
          <a:prstGeom prst="ellipse">
            <a:avLst/>
          </a:prstGeom>
          <a:solidFill>
            <a:srgbClr val="1F5546"/>
          </a:solidFill>
          <a:ln w="12700">
            <a:solidFill>
              <a:srgbClr val="1F5546"/>
            </a:solidFill>
            <a:prstDash val="solid"/>
          </a:ln>
        </p:spPr>
      </p:sp>
      <p:sp>
        <p:nvSpPr>
          <p:cNvPr id="50" name="Shape 48"/>
          <p:cNvSpPr/>
          <p:nvPr/>
        </p:nvSpPr>
        <p:spPr>
          <a:xfrm>
            <a:off x="5239512" y="4736592"/>
            <a:ext cx="219456" cy="219456"/>
          </a:xfrm>
          <a:prstGeom prst="ellipse">
            <a:avLst/>
          </a:prstGeom>
          <a:solidFill>
            <a:srgbClr val="1F5546"/>
          </a:solidFill>
          <a:ln w="12700">
            <a:solidFill>
              <a:srgbClr val="1F5546"/>
            </a:solidFill>
            <a:prstDash val="solid"/>
          </a:ln>
        </p:spPr>
      </p:sp>
      <p:sp>
        <p:nvSpPr>
          <p:cNvPr id="51" name="Shape 49"/>
          <p:cNvSpPr/>
          <p:nvPr/>
        </p:nvSpPr>
        <p:spPr>
          <a:xfrm>
            <a:off x="7031736" y="4846320"/>
            <a:ext cx="256032" cy="0"/>
          </a:xfrm>
          <a:prstGeom prst="line">
            <a:avLst/>
          </a:prstGeom>
          <a:noFill/>
          <a:ln w="25400">
            <a:solidFill>
              <a:srgbClr val="D3CEC0"/>
            </a:solidFill>
            <a:prstDash val="solid"/>
          </a:ln>
        </p:spPr>
      </p:sp>
      <p:sp>
        <p:nvSpPr>
          <p:cNvPr id="52" name="Shape 50"/>
          <p:cNvSpPr/>
          <p:nvPr/>
        </p:nvSpPr>
        <p:spPr>
          <a:xfrm>
            <a:off x="8842248" y="4846320"/>
            <a:ext cx="256032" cy="0"/>
          </a:xfrm>
          <a:prstGeom prst="line">
            <a:avLst/>
          </a:prstGeom>
          <a:noFill/>
          <a:ln w="25400">
            <a:solidFill>
              <a:srgbClr val="D3CEC0"/>
            </a:solidFill>
            <a:prstDash val="solid"/>
          </a:ln>
        </p:spPr>
      </p:sp>
      <p:sp>
        <p:nvSpPr>
          <p:cNvPr id="53" name="Shape 51"/>
          <p:cNvSpPr/>
          <p:nvPr/>
        </p:nvSpPr>
        <p:spPr>
          <a:xfrm>
            <a:off x="10652760" y="4846320"/>
            <a:ext cx="256032" cy="0"/>
          </a:xfrm>
          <a:prstGeom prst="line">
            <a:avLst/>
          </a:prstGeom>
          <a:noFill/>
          <a:ln w="25400">
            <a:solidFill>
              <a:srgbClr val="D3CEC0"/>
            </a:solidFill>
            <a:prstDash val="solid"/>
          </a:ln>
        </p:spPr>
      </p:sp>
      <p:sp>
        <p:nvSpPr>
          <p:cNvPr id="54" name="Shape 52"/>
          <p:cNvSpPr/>
          <p:nvPr/>
        </p:nvSpPr>
        <p:spPr>
          <a:xfrm>
            <a:off x="777240" y="5166360"/>
            <a:ext cx="10607040" cy="493776"/>
          </a:xfrm>
          <a:prstGeom prst="rect">
            <a:avLst/>
          </a:prstGeom>
          <a:solidFill>
            <a:srgbClr val="FFFFFF"/>
          </a:solidFill>
          <a:ln w="9525">
            <a:solidFill>
              <a:srgbClr val="D3CEC0"/>
            </a:solidFill>
            <a:prstDash val="solid"/>
          </a:ln>
        </p:spPr>
      </p:sp>
      <p:sp>
        <p:nvSpPr>
          <p:cNvPr id="55" name="Text 53"/>
          <p:cNvSpPr txBox="1"/>
          <p:nvPr/>
        </p:nvSpPr>
        <p:spPr>
          <a:xfrm>
            <a:off x="914400" y="5285232"/>
            <a:ext cx="1005840" cy="274320"/>
          </a:xfrm>
          <a:prstGeom prst="rect">
            <a:avLst/>
          </a:prstGeom>
          <a:noFill/>
          <a:ln/>
        </p:spPr>
        <p:txBody>
          <a:bodyPr wrap="square" lIns="0" tIns="0" rIns="0" bIns="0" rtlCol="0" anchor="ctr"/>
          <a:lstStyle/>
          <a:p>
            <a:pPr indent="0" marL="0">
              <a:buNone/>
            </a:pPr>
            <a:r>
              <a:rPr lang="en-US" sz="1250" b="1" dirty="0">
                <a:solidFill>
                  <a:srgbClr val="14171A"/>
                </a:solidFill>
                <a:latin typeface="Calibri" pitchFamily="34" charset="0"/>
                <a:ea typeface="Calibri" pitchFamily="34" charset="-122"/>
                <a:cs typeface="Calibri" pitchFamily="34" charset="-120"/>
              </a:rPr>
              <a:t>MCP</a:t>
            </a:r>
            <a:endParaRPr lang="en-US" sz="1250" dirty="0"/>
          </a:p>
        </p:txBody>
      </p:sp>
      <p:sp>
        <p:nvSpPr>
          <p:cNvPr id="56" name="Text 54"/>
          <p:cNvSpPr txBox="1"/>
          <p:nvPr/>
        </p:nvSpPr>
        <p:spPr>
          <a:xfrm>
            <a:off x="1920240" y="5312664"/>
            <a:ext cx="1463040" cy="256032"/>
          </a:xfrm>
          <a:prstGeom prst="rect">
            <a:avLst/>
          </a:prstGeom>
          <a:noFill/>
          <a:ln/>
        </p:spPr>
        <p:txBody>
          <a:bodyPr wrap="square" lIns="0" tIns="0" rIns="0" bIns="0" rtlCol="0" anchor="ctr"/>
          <a:lstStyle/>
          <a:p>
            <a:pPr indent="0" marL="0">
              <a:buNone/>
            </a:pPr>
            <a:r>
              <a:rPr lang="en-US" sz="850" dirty="0">
                <a:solidFill>
                  <a:srgbClr val="656B71"/>
                </a:solidFill>
                <a:latin typeface="Courier New" pitchFamily="34" charset="0"/>
                <a:ea typeface="Courier New" pitchFamily="34" charset="-122"/>
                <a:cs typeface="Courier New" pitchFamily="34" charset="-120"/>
              </a:rPr>
              <a:t>external assistants</a:t>
            </a:r>
            <a:endParaRPr lang="en-US" sz="850" dirty="0"/>
          </a:p>
        </p:txBody>
      </p:sp>
      <p:sp>
        <p:nvSpPr>
          <p:cNvPr id="57" name="Shape 55"/>
          <p:cNvSpPr/>
          <p:nvPr/>
        </p:nvSpPr>
        <p:spPr>
          <a:xfrm>
            <a:off x="3429000" y="5303520"/>
            <a:ext cx="219456" cy="219456"/>
          </a:xfrm>
          <a:prstGeom prst="ellipse">
            <a:avLst/>
          </a:prstGeom>
          <a:solidFill>
            <a:srgbClr val="1F5546"/>
          </a:solidFill>
          <a:ln w="12700">
            <a:solidFill>
              <a:srgbClr val="1F5546"/>
            </a:solidFill>
            <a:prstDash val="solid"/>
          </a:ln>
        </p:spPr>
      </p:sp>
      <p:sp>
        <p:nvSpPr>
          <p:cNvPr id="58" name="Shape 56"/>
          <p:cNvSpPr/>
          <p:nvPr/>
        </p:nvSpPr>
        <p:spPr>
          <a:xfrm>
            <a:off x="5239512" y="5303520"/>
            <a:ext cx="219456" cy="219456"/>
          </a:xfrm>
          <a:prstGeom prst="ellipse">
            <a:avLst/>
          </a:prstGeom>
          <a:solidFill>
            <a:srgbClr val="1F5546"/>
          </a:solidFill>
          <a:ln w="12700">
            <a:solidFill>
              <a:srgbClr val="1F5546"/>
            </a:solidFill>
            <a:prstDash val="solid"/>
          </a:ln>
        </p:spPr>
      </p:sp>
      <p:sp>
        <p:nvSpPr>
          <p:cNvPr id="59" name="Shape 57"/>
          <p:cNvSpPr/>
          <p:nvPr/>
        </p:nvSpPr>
        <p:spPr>
          <a:xfrm>
            <a:off x="7050024" y="5303520"/>
            <a:ext cx="219456" cy="219456"/>
          </a:xfrm>
          <a:prstGeom prst="ellipse">
            <a:avLst/>
          </a:prstGeom>
          <a:solidFill>
            <a:srgbClr val="1F5546"/>
          </a:solidFill>
          <a:ln w="12700">
            <a:solidFill>
              <a:srgbClr val="1F5546"/>
            </a:solidFill>
            <a:prstDash val="solid"/>
          </a:ln>
        </p:spPr>
      </p:sp>
      <p:sp>
        <p:nvSpPr>
          <p:cNvPr id="60" name="Shape 58"/>
          <p:cNvSpPr/>
          <p:nvPr/>
        </p:nvSpPr>
        <p:spPr>
          <a:xfrm>
            <a:off x="8842248" y="5413248"/>
            <a:ext cx="256032" cy="0"/>
          </a:xfrm>
          <a:prstGeom prst="line">
            <a:avLst/>
          </a:prstGeom>
          <a:noFill/>
          <a:ln w="25400">
            <a:solidFill>
              <a:srgbClr val="D3CEC0"/>
            </a:solidFill>
            <a:prstDash val="solid"/>
          </a:ln>
        </p:spPr>
      </p:sp>
      <p:sp>
        <p:nvSpPr>
          <p:cNvPr id="61" name="Shape 59"/>
          <p:cNvSpPr/>
          <p:nvPr/>
        </p:nvSpPr>
        <p:spPr>
          <a:xfrm>
            <a:off x="10652760" y="5413248"/>
            <a:ext cx="256032" cy="0"/>
          </a:xfrm>
          <a:prstGeom prst="line">
            <a:avLst/>
          </a:prstGeom>
          <a:noFill/>
          <a:ln w="25400">
            <a:solidFill>
              <a:srgbClr val="D3CEC0"/>
            </a:solidFill>
            <a:prstDash val="solid"/>
          </a:ln>
        </p:spPr>
      </p:sp>
      <p:sp>
        <p:nvSpPr>
          <p:cNvPr id="62" name="Text 6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Email and Slack deliberately will not send. Agreeing in writing days later is not the same as choosing in the moment.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SAID ONCE</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Said once, instead of six times a day.</a:t>
            </a:r>
            <a:endParaRPr lang="en-US" sz="3300" dirty="0"/>
          </a:p>
        </p:txBody>
      </p:sp>
      <p:sp>
        <p:nvSpPr>
          <p:cNvPr id="4" name="Text 2"/>
          <p:cNvSpPr txBox="1"/>
          <p:nvPr/>
        </p:nvSpPr>
        <p:spPr>
          <a:xfrm>
            <a:off x="777240" y="1645920"/>
            <a:ext cx="10698480" cy="411480"/>
          </a:xfrm>
          <a:prstGeom prst="rect">
            <a:avLst/>
          </a:prstGeom>
          <a:noFill/>
          <a:ln/>
        </p:spPr>
        <p:txBody>
          <a:bodyPr wrap="square" lIns="0" tIns="0" rIns="0" bIns="0" rtlCol="0" anchor="ctr"/>
          <a:lstStyle/>
          <a:p>
            <a:pPr indent="0" marL="0">
              <a:buNone/>
            </a:pPr>
            <a:r>
              <a:rPr lang="en-US" sz="1450" i="1" dirty="0">
                <a:solidFill>
                  <a:srgbClr val="42474C"/>
                </a:solidFill>
                <a:latin typeface="Cambria" pitchFamily="34" charset="0"/>
                <a:ea typeface="Cambria" pitchFamily="34" charset="-122"/>
                <a:cs typeface="Cambria" pitchFamily="34" charset="-120"/>
              </a:rPr>
              <a:t>"...having to sit down and explain it six times a day to twenty different people."</a:t>
            </a:r>
            <a:endParaRPr lang="en-US" sz="1450" dirty="0"/>
          </a:p>
        </p:txBody>
      </p:sp>
      <p:sp>
        <p:nvSpPr>
          <p:cNvPr id="5" name="Shape 3"/>
          <p:cNvSpPr/>
          <p:nvPr/>
        </p:nvSpPr>
        <p:spPr>
          <a:xfrm>
            <a:off x="777240" y="2286000"/>
            <a:ext cx="512064" cy="512064"/>
          </a:xfrm>
          <a:prstGeom prst="ellipse">
            <a:avLst/>
          </a:prstGeom>
          <a:solidFill>
            <a:srgbClr val="C9A227"/>
          </a:solidFill>
          <a:ln w="12700">
            <a:solidFill>
              <a:srgbClr val="C9A227"/>
            </a:solidFill>
            <a:prstDash val="solid"/>
          </a:ln>
        </p:spPr>
      </p:sp>
      <p:sp>
        <p:nvSpPr>
          <p:cNvPr id="6" name="Text 4"/>
          <p:cNvSpPr txBox="1"/>
          <p:nvPr/>
        </p:nvSpPr>
        <p:spPr>
          <a:xfrm>
            <a:off x="7772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7772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writes it once</a:t>
            </a:r>
            <a:endParaRPr lang="en-US" sz="1500" dirty="0"/>
          </a:p>
        </p:txBody>
      </p:sp>
      <p:sp>
        <p:nvSpPr>
          <p:cNvPr id="8" name="Text 6"/>
          <p:cNvSpPr txBox="1"/>
          <p:nvPr/>
        </p:nvSpPr>
        <p:spPr>
          <a:xfrm>
            <a:off x="7772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in her own words, never a category from a dropdown</a:t>
            </a:r>
            <a:endParaRPr lang="en-US" sz="1200" dirty="0"/>
          </a:p>
        </p:txBody>
      </p:sp>
      <p:sp>
        <p:nvSpPr>
          <p:cNvPr id="9" name="Shape 7"/>
          <p:cNvSpPr/>
          <p:nvPr/>
        </p:nvSpPr>
        <p:spPr>
          <a:xfrm>
            <a:off x="3355848" y="2542032"/>
            <a:ext cx="137160" cy="0"/>
          </a:xfrm>
          <a:prstGeom prst="line">
            <a:avLst/>
          </a:prstGeom>
          <a:noFill/>
          <a:ln w="17780">
            <a:solidFill>
              <a:srgbClr val="42474C"/>
            </a:solidFill>
            <a:prstDash val="solid"/>
            <a:tailEnd type="triangle"/>
          </a:ln>
        </p:spPr>
      </p:sp>
      <p:sp>
        <p:nvSpPr>
          <p:cNvPr id="10" name="Shape 8"/>
          <p:cNvSpPr/>
          <p:nvPr/>
        </p:nvSpPr>
        <p:spPr>
          <a:xfrm>
            <a:off x="3520440" y="2286000"/>
            <a:ext cx="512064" cy="512064"/>
          </a:xfrm>
          <a:prstGeom prst="ellipse">
            <a:avLst/>
          </a:prstGeom>
          <a:solidFill>
            <a:srgbClr val="C9A227"/>
          </a:solidFill>
          <a:ln w="12700">
            <a:solidFill>
              <a:srgbClr val="C9A227"/>
            </a:solidFill>
            <a:prstDash val="solid"/>
          </a:ln>
        </p:spPr>
      </p:sp>
      <p:sp>
        <p:nvSpPr>
          <p:cNvPr id="11" name="Text 9"/>
          <p:cNvSpPr txBox="1"/>
          <p:nvPr/>
        </p:nvSpPr>
        <p:spPr>
          <a:xfrm>
            <a:off x="35204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35204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chooses who sees it</a:t>
            </a:r>
            <a:endParaRPr lang="en-US" sz="1500" dirty="0"/>
          </a:p>
        </p:txBody>
      </p:sp>
      <p:sp>
        <p:nvSpPr>
          <p:cNvPr id="13" name="Text 11"/>
          <p:cNvSpPr txBox="1"/>
          <p:nvPr/>
        </p:nvSpPr>
        <p:spPr>
          <a:xfrm>
            <a:off x="35204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her manager only, or meeting hosts, or her team</a:t>
            </a:r>
            <a:endParaRPr lang="en-US" sz="1200" dirty="0"/>
          </a:p>
        </p:txBody>
      </p:sp>
      <p:sp>
        <p:nvSpPr>
          <p:cNvPr id="14" name="Shape 12"/>
          <p:cNvSpPr/>
          <p:nvPr/>
        </p:nvSpPr>
        <p:spPr>
          <a:xfrm>
            <a:off x="6099048" y="2542032"/>
            <a:ext cx="137160" cy="0"/>
          </a:xfrm>
          <a:prstGeom prst="line">
            <a:avLst/>
          </a:prstGeom>
          <a:noFill/>
          <a:ln w="17780">
            <a:solidFill>
              <a:srgbClr val="42474C"/>
            </a:solidFill>
            <a:prstDash val="solid"/>
            <a:tailEnd type="triangle"/>
          </a:ln>
        </p:spPr>
      </p:sp>
      <p:sp>
        <p:nvSpPr>
          <p:cNvPr id="15" name="Shape 13"/>
          <p:cNvSpPr/>
          <p:nvPr/>
        </p:nvSpPr>
        <p:spPr>
          <a:xfrm>
            <a:off x="6263640" y="2286000"/>
            <a:ext cx="512064" cy="512064"/>
          </a:xfrm>
          <a:prstGeom prst="ellipse">
            <a:avLst/>
          </a:prstGeom>
          <a:solidFill>
            <a:srgbClr val="C9A227"/>
          </a:solidFill>
          <a:ln w="12700">
            <a:solidFill>
              <a:srgbClr val="C9A227"/>
            </a:solidFill>
            <a:prstDash val="solid"/>
          </a:ln>
        </p:spPr>
      </p:sp>
      <p:sp>
        <p:nvSpPr>
          <p:cNvPr id="16" name="Text 14"/>
          <p:cNvSpPr txBox="1"/>
          <p:nvPr/>
        </p:nvSpPr>
        <p:spPr>
          <a:xfrm>
            <a:off x="62636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62636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gets six characters</a:t>
            </a:r>
            <a:endParaRPr lang="en-US" sz="1500" dirty="0"/>
          </a:p>
        </p:txBody>
      </p:sp>
      <p:sp>
        <p:nvSpPr>
          <p:cNvPr id="18" name="Text 16"/>
          <p:cNvSpPr txBox="1"/>
          <p:nvPr/>
        </p:nvSpPr>
        <p:spPr>
          <a:xfrm>
            <a:off x="62636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shown once, because we hold no account for her</a:t>
            </a:r>
            <a:endParaRPr lang="en-US" sz="1200" dirty="0"/>
          </a:p>
        </p:txBody>
      </p:sp>
      <p:sp>
        <p:nvSpPr>
          <p:cNvPr id="19" name="Shape 17"/>
          <p:cNvSpPr/>
          <p:nvPr/>
        </p:nvSpPr>
        <p:spPr>
          <a:xfrm>
            <a:off x="8842248" y="2542032"/>
            <a:ext cx="137160" cy="0"/>
          </a:xfrm>
          <a:prstGeom prst="line">
            <a:avLst/>
          </a:prstGeom>
          <a:noFill/>
          <a:ln w="17780">
            <a:solidFill>
              <a:srgbClr val="42474C"/>
            </a:solidFill>
            <a:prstDash val="solid"/>
            <a:tailEnd type="triangle"/>
          </a:ln>
        </p:spPr>
      </p:sp>
      <p:sp>
        <p:nvSpPr>
          <p:cNvPr id="20" name="Shape 18"/>
          <p:cNvSpPr/>
          <p:nvPr/>
        </p:nvSpPr>
        <p:spPr>
          <a:xfrm>
            <a:off x="9006840" y="2286000"/>
            <a:ext cx="512064" cy="512064"/>
          </a:xfrm>
          <a:prstGeom prst="ellipse">
            <a:avLst/>
          </a:prstGeom>
          <a:solidFill>
            <a:srgbClr val="C9A227"/>
          </a:solidFill>
          <a:ln w="12700">
            <a:solidFill>
              <a:srgbClr val="C9A227"/>
            </a:solidFill>
            <a:prstDash val="solid"/>
          </a:ln>
        </p:spPr>
      </p:sp>
      <p:sp>
        <p:nvSpPr>
          <p:cNvPr id="21" name="Text 19"/>
          <p:cNvSpPr txBox="1"/>
          <p:nvPr/>
        </p:nvSpPr>
        <p:spPr>
          <a:xfrm>
            <a:off x="9006840" y="2386584"/>
            <a:ext cx="512064" cy="329184"/>
          </a:xfrm>
          <a:prstGeom prst="rect">
            <a:avLst/>
          </a:prstGeom>
          <a:noFill/>
          <a:ln/>
        </p:spPr>
        <p:txBody>
          <a:bodyPr wrap="square" lIns="0" tIns="0" rIns="0" bIns="0" rtlCol="0" anchor="ctr"/>
          <a:lstStyle/>
          <a:p>
            <a:pPr algn="ctr" indent="0" marL="0">
              <a:buNone/>
            </a:pPr>
            <a:r>
              <a:rPr lang="en-US" sz="1500" b="1" dirty="0">
                <a:solidFill>
                  <a:srgbClr val="14171A"/>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9006840" y="2944368"/>
            <a:ext cx="2514600" cy="457200"/>
          </a:xfrm>
          <a:prstGeom prst="rect">
            <a:avLst/>
          </a:prstGeom>
          <a:noFill/>
          <a:ln/>
        </p:spPr>
        <p:txBody>
          <a:bodyPr wrap="square" lIns="0" tIns="0" rIns="0" bIns="0" rtlCol="0" anchor="ctr"/>
          <a:lstStyle/>
          <a:p>
            <a:pPr indent="0" marL="0">
              <a:buNone/>
            </a:pPr>
            <a:r>
              <a:rPr lang="en-US" sz="1500" b="1" dirty="0">
                <a:solidFill>
                  <a:srgbClr val="14171A"/>
                </a:solidFill>
                <a:latin typeface="Cambria" pitchFamily="34" charset="0"/>
                <a:ea typeface="Cambria" pitchFamily="34" charset="-122"/>
                <a:cs typeface="Cambria" pitchFamily="34" charset="-120"/>
              </a:rPr>
              <a:t>She can take it back</a:t>
            </a:r>
            <a:endParaRPr lang="en-US" sz="1500" dirty="0"/>
          </a:p>
        </p:txBody>
      </p:sp>
      <p:sp>
        <p:nvSpPr>
          <p:cNvPr id="23" name="Text 21"/>
          <p:cNvSpPr txBox="1"/>
          <p:nvPr/>
        </p:nvSpPr>
        <p:spPr>
          <a:xfrm>
            <a:off x="9006840" y="3438144"/>
            <a:ext cx="2514600" cy="914400"/>
          </a:xfrm>
          <a:prstGeom prst="rect">
            <a:avLst/>
          </a:prstGeom>
          <a:noFill/>
          <a:ln/>
        </p:spPr>
        <p:txBody>
          <a:bodyPr wrap="square" lIns="0" tIns="0" rIns="0" bIns="0" rtlCol="0" anchor="ctr"/>
          <a:lstStyle/>
          <a:p>
            <a:pPr indent="0" marL="0">
              <a:buNone/>
            </a:pPr>
            <a:r>
              <a:rPr lang="en-US" sz="1200" dirty="0">
                <a:solidFill>
                  <a:srgbClr val="42474C"/>
                </a:solidFill>
                <a:latin typeface="Calibri" pitchFamily="34" charset="0"/>
                <a:ea typeface="Calibri" pitchFamily="34" charset="-122"/>
                <a:cs typeface="Calibri" pitchFamily="34" charset="-120"/>
              </a:rPr>
              <a:t>from any channel, immediately, no reason asked</a:t>
            </a:r>
            <a:endParaRPr lang="en-US" sz="1200" dirty="0"/>
          </a:p>
        </p:txBody>
      </p:sp>
      <p:sp>
        <p:nvSpPr>
          <p:cNvPr id="24" name="Text 22"/>
          <p:cNvSpPr txBox="1"/>
          <p:nvPr/>
        </p:nvSpPr>
        <p:spPr>
          <a:xfrm>
            <a:off x="777240" y="4572000"/>
            <a:ext cx="10698480" cy="457200"/>
          </a:xfrm>
          <a:prstGeom prst="rect">
            <a:avLst/>
          </a:prstGeom>
          <a:noFill/>
          <a:ln/>
        </p:spPr>
        <p:txBody>
          <a:bodyPr wrap="square" lIns="0" tIns="0" rIns="0" bIns="0" rtlCol="0" anchor="ctr"/>
          <a:lstStyle/>
          <a:p>
            <a:pPr indent="0" marL="0">
              <a:buNone/>
            </a:pPr>
            <a:r>
              <a:rPr lang="en-US" sz="1350" dirty="0">
                <a:solidFill>
                  <a:srgbClr val="14171A"/>
                </a:solidFill>
                <a:latin typeface="Calibri" pitchFamily="34" charset="0"/>
                <a:ea typeface="Calibri" pitchFamily="34" charset="-122"/>
                <a:cs typeface="Calibri" pitchFamily="34" charset="-120"/>
              </a:rPr>
              <a:t>A spent code and a wrong code return the same answer, so nobody can use this to test whether a stranger’s disclosure is still live.</a:t>
            </a:r>
            <a:endParaRPr lang="en-US" sz="1350" dirty="0"/>
          </a:p>
        </p:txBody>
      </p:sp>
      <p:sp>
        <p:nvSpPr>
          <p:cNvPr id="25" name="Text 23"/>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The alphabet leaves out O 0 I 1 S 5, the characters people confuse on a cracked screen or read aloud. An accessibility decision inside a cryptographic one.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03  THE BUILD  |  RESPONSIBLE AI</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There is no field for a diagnosis.</a:t>
            </a:r>
            <a:endParaRPr lang="en-US" sz="3300" dirty="0"/>
          </a:p>
        </p:txBody>
      </p:sp>
      <p:sp>
        <p:nvSpPr>
          <p:cNvPr id="4" name="Text 2"/>
          <p:cNvSpPr txBox="1"/>
          <p:nvPr/>
        </p:nvSpPr>
        <p:spPr>
          <a:xfrm>
            <a:off x="777240" y="1600200"/>
            <a:ext cx="10515600" cy="365760"/>
          </a:xfrm>
          <a:prstGeom prst="rect">
            <a:avLst/>
          </a:prstGeom>
          <a:noFill/>
          <a:ln/>
        </p:spPr>
        <p:txBody>
          <a:bodyPr wrap="square" lIns="0" tIns="0" rIns="0" bIns="0" rtlCol="0" anchor="ctr"/>
          <a:lstStyle/>
          <a:p>
            <a:pPr indent="0" marL="0">
              <a:buNone/>
            </a:pPr>
            <a:r>
              <a:rPr lang="en-US" sz="1650" i="1" dirty="0">
                <a:solidFill>
                  <a:srgbClr val="9A6608"/>
                </a:solidFill>
                <a:latin typeface="Cambria" pitchFamily="34" charset="0"/>
                <a:ea typeface="Cambria" pitchFamily="34" charset="-122"/>
                <a:cs typeface="Cambria" pitchFamily="34" charset="-120"/>
              </a:rPr>
              <a:t>Not encrypted. Not permission-restricted. Absent.</a:t>
            </a:r>
            <a:endParaRPr lang="en-US" sz="1650" dirty="0"/>
          </a:p>
        </p:txBody>
      </p:sp>
      <p:sp>
        <p:nvSpPr>
          <p:cNvPr id="5" name="Shape 3"/>
          <p:cNvSpPr/>
          <p:nvPr/>
        </p:nvSpPr>
        <p:spPr>
          <a:xfrm>
            <a:off x="777240" y="2103120"/>
            <a:ext cx="5029200" cy="2377440"/>
          </a:xfrm>
          <a:prstGeom prst="roundRect">
            <a:avLst>
              <a:gd name="adj" fmla="val 1923"/>
            </a:avLst>
          </a:prstGeom>
          <a:solidFill>
            <a:srgbClr val="FFFFFF"/>
          </a:solidFill>
          <a:ln w="19050">
            <a:solidFill>
              <a:srgbClr val="1F5546"/>
            </a:solidFill>
            <a:prstDash val="solid"/>
          </a:ln>
        </p:spPr>
      </p:sp>
      <p:sp>
        <p:nvSpPr>
          <p:cNvPr id="6" name="Text 4"/>
          <p:cNvSpPr txBox="1"/>
          <p:nvPr/>
        </p:nvSpPr>
        <p:spPr>
          <a:xfrm>
            <a:off x="960120" y="2240280"/>
            <a:ext cx="4572000" cy="274320"/>
          </a:xfrm>
          <a:prstGeom prst="rect">
            <a:avLst/>
          </a:prstGeom>
          <a:noFill/>
          <a:ln/>
        </p:spPr>
        <p:txBody>
          <a:bodyPr wrap="square" lIns="0" tIns="0" rIns="0" bIns="0" rtlCol="0" anchor="ctr"/>
          <a:lstStyle/>
          <a:p>
            <a:pPr indent="0" marL="0">
              <a:buNone/>
            </a:pPr>
            <a:r>
              <a:rPr lang="en-US" sz="1000" b="1" spc="150" kern="0" dirty="0">
                <a:solidFill>
                  <a:srgbClr val="1F5546"/>
                </a:solidFill>
                <a:latin typeface="Courier New" pitchFamily="34" charset="0"/>
                <a:ea typeface="Courier New" pitchFamily="34" charset="-122"/>
                <a:cs typeface="Courier New" pitchFamily="34" charset="-120"/>
              </a:rPr>
              <a:t>PRESENT</a:t>
            </a:r>
            <a:endParaRPr lang="en-US" sz="1000" dirty="0"/>
          </a:p>
        </p:txBody>
      </p:sp>
      <p:sp>
        <p:nvSpPr>
          <p:cNvPr id="7" name="Text 5"/>
          <p:cNvSpPr txBox="1"/>
          <p:nvPr/>
        </p:nvSpPr>
        <p:spPr>
          <a:xfrm>
            <a:off x="960120" y="2578608"/>
            <a:ext cx="4663440" cy="1737360"/>
          </a:xfrm>
          <a:prstGeom prst="rect">
            <a:avLst/>
          </a:prstGeom>
          <a:noFill/>
          <a:ln/>
        </p:spPr>
        <p:txBody>
          <a:bodyPr wrap="square" lIns="0" tIns="0" rIns="0" bIns="0" rtlCol="0" anchor="ctr"/>
          <a:lstStyle/>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Functional_Description__c</a:t>
            </a:r>
            <a:endParaRPr lang="en-US" sz="1200" dirty="0"/>
          </a:p>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Inbound_Modality__c</a:t>
            </a:r>
            <a:endParaRPr lang="en-US" sz="1200" dirty="0"/>
          </a:p>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Interpreter_Needed__c</a:t>
            </a:r>
            <a:endParaRPr lang="en-US" sz="1200" dirty="0"/>
          </a:p>
          <a:p>
            <a:pPr indent="0" marL="0">
              <a:spcAft>
                <a:spcPts val="700"/>
              </a:spcAft>
              <a:buNone/>
            </a:pPr>
            <a:r>
              <a:rPr lang="en-US" sz="1200" dirty="0">
                <a:solidFill>
                  <a:srgbClr val="14171A"/>
                </a:solidFill>
                <a:latin typeface="Courier New" pitchFamily="34" charset="0"/>
                <a:ea typeface="Courier New" pitchFamily="34" charset="-122"/>
                <a:cs typeface="Courier New" pitchFamily="34" charset="-120"/>
              </a:rPr>
              <a:t>Anonymous__c</a:t>
            </a:r>
            <a:endParaRPr lang="en-US" sz="1200" dirty="0"/>
          </a:p>
        </p:txBody>
      </p:sp>
      <p:sp>
        <p:nvSpPr>
          <p:cNvPr id="8" name="Shape 6"/>
          <p:cNvSpPr/>
          <p:nvPr/>
        </p:nvSpPr>
        <p:spPr>
          <a:xfrm>
            <a:off x="6355080" y="2103120"/>
            <a:ext cx="5029200" cy="2377440"/>
          </a:xfrm>
          <a:prstGeom prst="roundRect">
            <a:avLst>
              <a:gd name="adj" fmla="val 1923"/>
            </a:avLst>
          </a:prstGeom>
          <a:solidFill>
            <a:srgbClr val="FFFFFF"/>
          </a:solidFill>
          <a:ln w="19050">
            <a:solidFill>
              <a:srgbClr val="8A2F24"/>
            </a:solidFill>
            <a:prstDash val="solid"/>
          </a:ln>
        </p:spPr>
      </p:sp>
      <p:sp>
        <p:nvSpPr>
          <p:cNvPr id="9" name="Text 7"/>
          <p:cNvSpPr txBox="1"/>
          <p:nvPr/>
        </p:nvSpPr>
        <p:spPr>
          <a:xfrm>
            <a:off x="6537960" y="2240280"/>
            <a:ext cx="4663440" cy="274320"/>
          </a:xfrm>
          <a:prstGeom prst="rect">
            <a:avLst/>
          </a:prstGeom>
          <a:noFill/>
          <a:ln/>
        </p:spPr>
        <p:txBody>
          <a:bodyPr wrap="square" lIns="0" tIns="0" rIns="0" bIns="0" rtlCol="0" anchor="ctr"/>
          <a:lstStyle/>
          <a:p>
            <a:pPr indent="0" marL="0">
              <a:buNone/>
            </a:pPr>
            <a:r>
              <a:rPr lang="en-US" sz="1000" b="1" spc="150" kern="0" dirty="0">
                <a:solidFill>
                  <a:srgbClr val="8A2F24"/>
                </a:solidFill>
                <a:latin typeface="Courier New" pitchFamily="34" charset="0"/>
                <a:ea typeface="Courier New" pitchFamily="34" charset="-122"/>
                <a:cs typeface="Courier New" pitchFamily="34" charset="-120"/>
              </a:rPr>
              <a:t>ABSENT, AND ENFORCED ABSENT</a:t>
            </a:r>
            <a:endParaRPr lang="en-US" sz="1000" dirty="0"/>
          </a:p>
        </p:txBody>
      </p:sp>
      <p:sp>
        <p:nvSpPr>
          <p:cNvPr id="10" name="Text 8"/>
          <p:cNvSpPr txBox="1"/>
          <p:nvPr/>
        </p:nvSpPr>
        <p:spPr>
          <a:xfrm>
            <a:off x="6537960" y="2578608"/>
            <a:ext cx="4663440" cy="1828800"/>
          </a:xfrm>
          <a:prstGeom prst="rect">
            <a:avLst/>
          </a:prstGeom>
          <a:noFill/>
          <a:ln/>
        </p:spPr>
        <p:txBody>
          <a:bodyPr wrap="square" lIns="0" tIns="0" rIns="0" bIns="0" rtlCol="0" anchor="ctr"/>
          <a:lstStyle/>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Diagnosis__c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Condition__c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Disability_Type__c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Medical_Note__c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Severity__c</a:t>
            </a:r>
            <a:endParaRPr lang="en-US" sz="1200" dirty="0"/>
          </a:p>
          <a:p>
            <a:pPr indent="0" marL="0">
              <a:spcAft>
                <a:spcPts val="400"/>
              </a:spcAft>
              <a:buNone/>
            </a:pPr>
            <a:r>
              <a:rPr lang="en-US" sz="1200" strike="sngStrike" dirty="0">
                <a:solidFill>
                  <a:srgbClr val="8A2F24"/>
                </a:solidFill>
                <a:latin typeface="Courier New" pitchFamily="34" charset="0"/>
                <a:ea typeface="Courier New" pitchFamily="34" charset="-122"/>
                <a:cs typeface="Courier New" pitchFamily="34" charset="-120"/>
              </a:rPr>
              <a:t>Prognosis__c</a:t>
            </a:r>
            <a:endParaRPr lang="en-US" sz="1200" dirty="0"/>
          </a:p>
        </p:txBody>
      </p:sp>
      <p:sp>
        <p:nvSpPr>
          <p:cNvPr id="11" name="Text 9"/>
          <p:cNvSpPr txBox="1"/>
          <p:nvPr/>
        </p:nvSpPr>
        <p:spPr>
          <a:xfrm>
            <a:off x="777240" y="4663440"/>
            <a:ext cx="10515600" cy="365760"/>
          </a:xfrm>
          <a:prstGeom prst="rect">
            <a:avLst/>
          </a:prstGeom>
          <a:noFill/>
          <a:ln/>
        </p:spPr>
        <p:txBody>
          <a:bodyPr wrap="square" lIns="0" tIns="0" rIns="0" bIns="0" rtlCol="0" anchor="ctr"/>
          <a:lstStyle/>
          <a:p>
            <a:pPr indent="0" marL="0">
              <a:buNone/>
            </a:pPr>
            <a:r>
              <a:rPr lang="en-US" sz="1500" b="1" dirty="0">
                <a:solidFill>
                  <a:srgbClr val="14171A"/>
                </a:solidFill>
                <a:latin typeface="Calibri" pitchFamily="34" charset="0"/>
                <a:ea typeface="Calibri" pitchFamily="34" charset="-122"/>
                <a:cs typeface="Calibri" pitchFamily="34" charset="-120"/>
              </a:rPr>
              <a:t>0 matches across 61 fields in 9 objects. A build fails if anyone adds one.</a:t>
            </a:r>
            <a:endParaRPr lang="en-US" sz="1500" dirty="0"/>
          </a:p>
        </p:txBody>
      </p:sp>
      <p:sp>
        <p:nvSpPr>
          <p:cNvPr id="12" name="Text 1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Encryption defends against outsiders. Absence defends against the organisation holding the data, which is the actual adversary. A manager with legitimate access can still read an encrypted field.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A9B0B6"/>
                </a:solidFill>
                <a:latin typeface="Courier New" pitchFamily="34" charset="0"/>
                <a:ea typeface="Courier New" pitchFamily="34" charset="-122"/>
                <a:cs typeface="Courier New" pitchFamily="34" charset="-120"/>
              </a:rPr>
              <a:t>03  THE BUILD  |  THE REFUSAL</a:t>
            </a:r>
            <a:endParaRPr lang="en-US" sz="950" dirty="0"/>
          </a:p>
        </p:txBody>
      </p:sp>
      <p:sp>
        <p:nvSpPr>
          <p:cNvPr id="3" name="Text 1"/>
          <p:cNvSpPr txBox="1"/>
          <p:nvPr/>
        </p:nvSpPr>
        <p:spPr>
          <a:xfrm>
            <a:off x="777240" y="914400"/>
            <a:ext cx="10515600" cy="457200"/>
          </a:xfrm>
          <a:prstGeom prst="rect">
            <a:avLst/>
          </a:prstGeom>
          <a:noFill/>
          <a:ln/>
        </p:spPr>
        <p:txBody>
          <a:bodyPr wrap="square" lIns="0" tIns="0" rIns="0" bIns="0" rtlCol="0" anchor="ctr"/>
          <a:lstStyle/>
          <a:p>
            <a:pPr indent="0" marL="0">
              <a:buNone/>
            </a:pPr>
            <a:r>
              <a:rPr lang="en-US" sz="1550" dirty="0">
                <a:solidFill>
                  <a:srgbClr val="A9B0B6"/>
                </a:solidFill>
                <a:latin typeface="Calibri" pitchFamily="34" charset="0"/>
                <a:ea typeface="Calibri" pitchFamily="34" charset="-122"/>
                <a:cs typeface="Calibri" pitchFamily="34" charset="-120"/>
              </a:rPr>
              <a:t>Her manager asks the system what is wrong with her.</a:t>
            </a:r>
            <a:endParaRPr lang="en-US" sz="1550" dirty="0"/>
          </a:p>
        </p:txBody>
      </p:sp>
      <p:sp>
        <p:nvSpPr>
          <p:cNvPr id="4" name="Text 2"/>
          <p:cNvSpPr txBox="1"/>
          <p:nvPr/>
        </p:nvSpPr>
        <p:spPr>
          <a:xfrm>
            <a:off x="777240" y="1554480"/>
            <a:ext cx="10515600" cy="822960"/>
          </a:xfrm>
          <a:prstGeom prst="rect">
            <a:avLst/>
          </a:prstGeom>
          <a:noFill/>
          <a:ln/>
        </p:spPr>
        <p:txBody>
          <a:bodyPr wrap="square" lIns="0" tIns="0" rIns="0" bIns="0" rtlCol="0" anchor="ctr"/>
          <a:lstStyle/>
          <a:p>
            <a:pPr indent="0" marL="0">
              <a:buNone/>
            </a:pPr>
            <a:r>
              <a:rPr lang="en-US" sz="3100" b="1" dirty="0">
                <a:solidFill>
                  <a:srgbClr val="F7F5EF"/>
                </a:solidFill>
                <a:latin typeface="Cambria" pitchFamily="34" charset="0"/>
                <a:ea typeface="Cambria" pitchFamily="34" charset="-122"/>
                <a:cs typeface="Cambria" pitchFamily="34" charset="-120"/>
              </a:rPr>
              <a:t>"No. And not because of a permission setting."</a:t>
            </a:r>
            <a:endParaRPr lang="en-US" sz="3100" dirty="0"/>
          </a:p>
        </p:txBody>
      </p:sp>
      <p:sp>
        <p:nvSpPr>
          <p:cNvPr id="5" name="Text 3"/>
          <p:cNvSpPr txBox="1"/>
          <p:nvPr/>
        </p:nvSpPr>
        <p:spPr>
          <a:xfrm>
            <a:off x="777240" y="2606040"/>
            <a:ext cx="10332720" cy="1371600"/>
          </a:xfrm>
          <a:prstGeom prst="rect">
            <a:avLst/>
          </a:prstGeom>
          <a:noFill/>
          <a:ln/>
        </p:spPr>
        <p:txBody>
          <a:bodyPr wrap="square" lIns="0" tIns="0" rIns="0" bIns="0" rtlCol="0" anchor="ctr"/>
          <a:lstStyle/>
          <a:p>
            <a:pPr indent="0" marL="0">
              <a:buNone/>
            </a:pPr>
            <a:r>
              <a:rPr lang="en-US" sz="1550" dirty="0">
                <a:solidFill>
                  <a:srgbClr val="D8DAD6"/>
                </a:solidFill>
                <a:latin typeface="Calibri" pitchFamily="34" charset="0"/>
                <a:ea typeface="Calibri" pitchFamily="34" charset="-122"/>
                <a:cs typeface="Calibri" pitchFamily="34" charset="-120"/>
              </a:rPr>
              <a:t>There is no field for a diagnosis, condition, disability type, medical note, severity or prognosis anywhere in this system. Nobody holds that, including the person who built it, and the person you are helping was never asked.</a:t>
            </a:r>
            <a:endParaRPr lang="en-US" sz="1550" dirty="0"/>
          </a:p>
        </p:txBody>
      </p:sp>
      <p:sp>
        <p:nvSpPr>
          <p:cNvPr id="6" name="Text 4"/>
          <p:cNvSpPr txBox="1"/>
          <p:nvPr/>
        </p:nvSpPr>
        <p:spPr>
          <a:xfrm>
            <a:off x="777240" y="4206240"/>
            <a:ext cx="10332720" cy="914400"/>
          </a:xfrm>
          <a:prstGeom prst="rect">
            <a:avLst/>
          </a:prstGeom>
          <a:noFill/>
          <a:ln/>
        </p:spPr>
        <p:txBody>
          <a:bodyPr wrap="square" lIns="0" tIns="0" rIns="0" bIns="0" rtlCol="0" anchor="ctr"/>
          <a:lstStyle/>
          <a:p>
            <a:pPr indent="0" marL="0">
              <a:buNone/>
            </a:pPr>
            <a:r>
              <a:rPr lang="en-US" sz="1850" i="1" dirty="0">
                <a:solidFill>
                  <a:srgbClr val="E8C87A"/>
                </a:solidFill>
                <a:latin typeface="Cambria" pitchFamily="34" charset="0"/>
                <a:ea typeface="Cambria" pitchFamily="34" charset="-122"/>
                <a:cs typeface="Cambria" pitchFamily="34" charset="-120"/>
              </a:rPr>
              <a:t>"A manager who asks you gets the same answer, and you can tell them it came from the system rather than from you."</a:t>
            </a:r>
            <a:endParaRPr lang="en-US" sz="1850" dirty="0"/>
          </a:p>
        </p:txBody>
      </p:sp>
      <p:sp>
        <p:nvSpPr>
          <p:cNvPr id="7" name="Text 5"/>
          <p:cNvSpPr txBox="1"/>
          <p:nvPr/>
        </p:nvSpPr>
        <p:spPr>
          <a:xfrm>
            <a:off x="777240" y="5577840"/>
            <a:ext cx="10058400" cy="365760"/>
          </a:xfrm>
          <a:prstGeom prst="rect">
            <a:avLst/>
          </a:prstGeom>
          <a:noFill/>
          <a:ln/>
        </p:spPr>
        <p:txBody>
          <a:bodyPr wrap="square" lIns="0" tIns="0" rIns="0" bIns="0" rtlCol="0" anchor="ctr"/>
          <a:lstStyle/>
          <a:p>
            <a:pPr indent="0" marL="0">
              <a:buNone/>
            </a:pPr>
            <a:r>
              <a:rPr lang="en-US" sz="1250" dirty="0">
                <a:solidFill>
                  <a:srgbClr val="A9B0B6"/>
                </a:solidFill>
                <a:latin typeface="Courier New" pitchFamily="34" charset="0"/>
                <a:ea typeface="Courier New" pitchFamily="34" charset="-122"/>
                <a:cs typeface="Courier New" pitchFamily="34" charset="-120"/>
              </a:rPr>
              <a:t>The refusal protects the person answering, too. That clause took longest to get right.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2286000"/>
            <a:ext cx="1828800" cy="914400"/>
          </a:xfrm>
          <a:prstGeom prst="rect">
            <a:avLst/>
          </a:prstGeom>
          <a:noFill/>
          <a:ln/>
        </p:spPr>
        <p:txBody>
          <a:bodyPr wrap="square" lIns="0" tIns="0" rIns="0" bIns="0" rtlCol="0" anchor="ctr"/>
          <a:lstStyle/>
          <a:p>
            <a:pPr indent="0" marL="0">
              <a:buNone/>
            </a:pPr>
            <a:r>
              <a:rPr lang="en-US" sz="4800" b="1" dirty="0">
                <a:solidFill>
                  <a:srgbClr val="E8C87A"/>
                </a:solidFill>
                <a:latin typeface="Courier New" pitchFamily="34" charset="0"/>
                <a:ea typeface="Courier New" pitchFamily="34" charset="-122"/>
                <a:cs typeface="Courier New" pitchFamily="34" charset="-120"/>
              </a:rPr>
              <a:t>04</a:t>
            </a:r>
            <a:endParaRPr lang="en-US" sz="4800" dirty="0"/>
          </a:p>
        </p:txBody>
      </p:sp>
      <p:sp>
        <p:nvSpPr>
          <p:cNvPr id="3" name="Text 1"/>
          <p:cNvSpPr txBox="1"/>
          <p:nvPr/>
        </p:nvSpPr>
        <p:spPr>
          <a:xfrm>
            <a:off x="777240" y="3154680"/>
            <a:ext cx="10058400" cy="822960"/>
          </a:xfrm>
          <a:prstGeom prst="rect">
            <a:avLst/>
          </a:prstGeom>
          <a:noFill/>
          <a:ln/>
        </p:spPr>
        <p:txBody>
          <a:bodyPr wrap="square" lIns="0" tIns="0" rIns="0" bIns="0" rtlCol="0" anchor="ctr"/>
          <a:lstStyle/>
          <a:p>
            <a:pPr indent="0" marL="0">
              <a:buNone/>
            </a:pPr>
            <a:r>
              <a:rPr lang="en-US" sz="4100" b="1" dirty="0">
                <a:solidFill>
                  <a:srgbClr val="F7F5EF"/>
                </a:solidFill>
                <a:latin typeface="Cambria" pitchFamily="34" charset="0"/>
                <a:ea typeface="Cambria" pitchFamily="34" charset="-122"/>
                <a:cs typeface="Cambria" pitchFamily="34" charset="-120"/>
              </a:rPr>
              <a:t>The honest part</a:t>
            </a:r>
            <a:endParaRPr lang="en-US" sz="4100" dirty="0"/>
          </a:p>
        </p:txBody>
      </p:sp>
      <p:sp>
        <p:nvSpPr>
          <p:cNvPr id="4" name="Text 2"/>
          <p:cNvSpPr txBox="1"/>
          <p:nvPr/>
        </p:nvSpPr>
        <p:spPr>
          <a:xfrm>
            <a:off x="777240" y="4114800"/>
            <a:ext cx="9144000" cy="457200"/>
          </a:xfrm>
          <a:prstGeom prst="rect">
            <a:avLst/>
          </a:prstGeom>
          <a:noFill/>
          <a:ln/>
        </p:spPr>
        <p:txBody>
          <a:bodyPr wrap="square" lIns="0" tIns="0" rIns="0" bIns="0" rtlCol="0" anchor="ctr"/>
          <a:lstStyle/>
          <a:p>
            <a:pPr indent="0" marL="0">
              <a:buNone/>
            </a:pPr>
            <a:r>
              <a:rPr lang="en-US" sz="1600" dirty="0">
                <a:solidFill>
                  <a:srgbClr val="A9B0B6"/>
                </a:solidFill>
                <a:latin typeface="Calibri" pitchFamily="34" charset="0"/>
                <a:ea typeface="Calibri" pitchFamily="34" charset="-122"/>
                <a:cs typeface="Calibri" pitchFamily="34" charset="-120"/>
              </a:rPr>
              <a:t>What we shipped wrong, and what still fails.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8A2F24"/>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Three things we shipped that were wrong.</a:t>
            </a:r>
            <a:endParaRPr lang="en-US" sz="3300" dirty="0"/>
          </a:p>
        </p:txBody>
      </p:sp>
      <p:sp>
        <p:nvSpPr>
          <p:cNvPr id="4" name="Shape 2"/>
          <p:cNvSpPr/>
          <p:nvPr/>
        </p:nvSpPr>
        <p:spPr>
          <a:xfrm>
            <a:off x="777240" y="1783080"/>
            <a:ext cx="54864" cy="1051560"/>
          </a:xfrm>
          <a:prstGeom prst="rect">
            <a:avLst/>
          </a:prstGeom>
          <a:solidFill>
            <a:srgbClr val="8A2F24"/>
          </a:solidFill>
          <a:ln w="12700">
            <a:solidFill>
              <a:srgbClr val="8A2F24"/>
            </a:solidFill>
            <a:prstDash val="solid"/>
          </a:ln>
        </p:spPr>
      </p:sp>
      <p:sp>
        <p:nvSpPr>
          <p:cNvPr id="5" name="Text 3"/>
          <p:cNvSpPr txBox="1"/>
          <p:nvPr/>
        </p:nvSpPr>
        <p:spPr>
          <a:xfrm>
            <a:off x="1051560" y="1783080"/>
            <a:ext cx="3108960" cy="457200"/>
          </a:xfrm>
          <a:prstGeom prst="rect">
            <a:avLst/>
          </a:prstGeom>
          <a:noFill/>
          <a:ln/>
        </p:spPr>
        <p:txBody>
          <a:bodyPr wrap="square" lIns="0" tIns="0" rIns="0" bIns="0" rtlCol="0" anchor="ctr"/>
          <a:lstStyle/>
          <a:p>
            <a:pPr indent="0" marL="0">
              <a:buNone/>
            </a:pPr>
            <a:r>
              <a:rPr lang="en-US" sz="1500" b="1" dirty="0">
                <a:solidFill>
                  <a:srgbClr val="8A2F24"/>
                </a:solidFill>
                <a:latin typeface="Cambria" pitchFamily="34" charset="0"/>
                <a:ea typeface="Cambria" pitchFamily="34" charset="-122"/>
                <a:cs typeface="Cambria" pitchFamily="34" charset="-120"/>
              </a:rPr>
              <a:t>OFF did nothing.</a:t>
            </a:r>
            <a:endParaRPr lang="en-US" sz="1500" dirty="0"/>
          </a:p>
        </p:txBody>
      </p:sp>
      <p:sp>
        <p:nvSpPr>
          <p:cNvPr id="6" name="Text 4"/>
          <p:cNvSpPr txBox="1"/>
          <p:nvPr/>
        </p:nvSpPr>
        <p:spPr>
          <a:xfrm>
            <a:off x="4343400" y="1783080"/>
            <a:ext cx="7040880" cy="1078992"/>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Six control words were printed in our own copy and routed nowhere. The word that withdraws a disclosure returned "I do not have good information on that", and the sharing stayed on.</a:t>
            </a:r>
            <a:endParaRPr lang="en-US" sz="1200" dirty="0"/>
          </a:p>
        </p:txBody>
      </p:sp>
      <p:sp>
        <p:nvSpPr>
          <p:cNvPr id="7" name="Shape 5"/>
          <p:cNvSpPr/>
          <p:nvPr/>
        </p:nvSpPr>
        <p:spPr>
          <a:xfrm>
            <a:off x="777240" y="3081528"/>
            <a:ext cx="54864" cy="1051560"/>
          </a:xfrm>
          <a:prstGeom prst="rect">
            <a:avLst/>
          </a:prstGeom>
          <a:solidFill>
            <a:srgbClr val="8A2F24"/>
          </a:solidFill>
          <a:ln w="12700">
            <a:solidFill>
              <a:srgbClr val="8A2F24"/>
            </a:solidFill>
            <a:prstDash val="solid"/>
          </a:ln>
        </p:spPr>
      </p:sp>
      <p:sp>
        <p:nvSpPr>
          <p:cNvPr id="8" name="Text 6"/>
          <p:cNvSpPr txBox="1"/>
          <p:nvPr/>
        </p:nvSpPr>
        <p:spPr>
          <a:xfrm>
            <a:off x="1051560" y="3081528"/>
            <a:ext cx="3108960" cy="457200"/>
          </a:xfrm>
          <a:prstGeom prst="rect">
            <a:avLst/>
          </a:prstGeom>
          <a:noFill/>
          <a:ln/>
        </p:spPr>
        <p:txBody>
          <a:bodyPr wrap="square" lIns="0" tIns="0" rIns="0" bIns="0" rtlCol="0" anchor="ctr"/>
          <a:lstStyle/>
          <a:p>
            <a:pPr indent="0" marL="0">
              <a:buNone/>
            </a:pPr>
            <a:r>
              <a:rPr lang="en-US" sz="1500" b="1" dirty="0">
                <a:solidFill>
                  <a:srgbClr val="8A2F24"/>
                </a:solidFill>
                <a:latin typeface="Cambria" pitchFamily="34" charset="0"/>
                <a:ea typeface="Cambria" pitchFamily="34" charset="-122"/>
                <a:cs typeface="Cambria" pitchFamily="34" charset="-120"/>
              </a:rPr>
              <a:t>The privacy policy was false.</a:t>
            </a:r>
            <a:endParaRPr lang="en-US" sz="1500" dirty="0"/>
          </a:p>
        </p:txBody>
      </p:sp>
      <p:sp>
        <p:nvSpPr>
          <p:cNvPr id="9" name="Text 7"/>
          <p:cNvSpPr txBox="1"/>
          <p:nvPr/>
        </p:nvSpPr>
        <p:spPr>
          <a:xfrm>
            <a:off x="4343400" y="3081528"/>
            <a:ext cx="7040880" cy="1078992"/>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It said a volunteered condition "is not written to any record". It was stored word for word. Now stripped before the insert, with the claim rewritten to state its limit.</a:t>
            </a:r>
            <a:endParaRPr lang="en-US" sz="1200" dirty="0"/>
          </a:p>
        </p:txBody>
      </p:sp>
      <p:sp>
        <p:nvSpPr>
          <p:cNvPr id="10" name="Shape 8"/>
          <p:cNvSpPr/>
          <p:nvPr/>
        </p:nvSpPr>
        <p:spPr>
          <a:xfrm>
            <a:off x="777240" y="4379976"/>
            <a:ext cx="54864" cy="1051560"/>
          </a:xfrm>
          <a:prstGeom prst="rect">
            <a:avLst/>
          </a:prstGeom>
          <a:solidFill>
            <a:srgbClr val="8A2F24"/>
          </a:solidFill>
          <a:ln w="12700">
            <a:solidFill>
              <a:srgbClr val="8A2F24"/>
            </a:solidFill>
            <a:prstDash val="solid"/>
          </a:ln>
        </p:spPr>
      </p:sp>
      <p:sp>
        <p:nvSpPr>
          <p:cNvPr id="11" name="Text 9"/>
          <p:cNvSpPr txBox="1"/>
          <p:nvPr/>
        </p:nvSpPr>
        <p:spPr>
          <a:xfrm>
            <a:off x="1051560" y="4379976"/>
            <a:ext cx="3108960" cy="457200"/>
          </a:xfrm>
          <a:prstGeom prst="rect">
            <a:avLst/>
          </a:prstGeom>
          <a:noFill/>
          <a:ln/>
        </p:spPr>
        <p:txBody>
          <a:bodyPr wrap="square" lIns="0" tIns="0" rIns="0" bIns="0" rtlCol="0" anchor="ctr"/>
          <a:lstStyle/>
          <a:p>
            <a:pPr indent="0" marL="0">
              <a:buNone/>
            </a:pPr>
            <a:r>
              <a:rPr lang="en-US" sz="1500" b="1" dirty="0">
                <a:solidFill>
                  <a:srgbClr val="8A2F24"/>
                </a:solidFill>
                <a:latin typeface="Cambria" pitchFamily="34" charset="0"/>
                <a:ea typeface="Cambria" pitchFamily="34" charset="-122"/>
                <a:cs typeface="Cambria" pitchFamily="34" charset="-120"/>
              </a:rPr>
              <a:t>Silence read as success.</a:t>
            </a:r>
            <a:endParaRPr lang="en-US" sz="1500" dirty="0"/>
          </a:p>
        </p:txBody>
      </p:sp>
      <p:sp>
        <p:nvSpPr>
          <p:cNvPr id="12" name="Text 10"/>
          <p:cNvSpPr txBox="1"/>
          <p:nvPr/>
        </p:nvSpPr>
        <p:spPr>
          <a:xfrm>
            <a:off x="4343400" y="4379976"/>
            <a:ext cx="7040880" cy="1078992"/>
          </a:xfrm>
          <a:prstGeom prst="rect">
            <a:avLst/>
          </a:prstGeom>
          <a:noFill/>
          <a:ln/>
        </p:spPr>
        <p:txBody>
          <a:bodyPr wrap="square" lIns="0" tIns="0" rIns="0" bIns="0" rtlCol="0" anchor="ctr"/>
          <a:lstStyle/>
          <a:p>
            <a:pPr indent="0" marL="0">
              <a:buNone/>
            </a:pPr>
            <a:r>
              <a:rPr lang="en-US" sz="1200" dirty="0">
                <a:solidFill>
                  <a:srgbClr val="14171A"/>
                </a:solidFill>
                <a:latin typeface="Calibri" pitchFamily="34" charset="0"/>
                <a:ea typeface="Calibri" pitchFamily="34" charset="-122"/>
                <a:cs typeface="Calibri" pitchFamily="34" charset="-120"/>
              </a:rPr>
              <a:t>Our adversarial scorer exited zero with every assertion inconclusive. It printed "silence must never read as success" and then did exactly that.</a:t>
            </a:r>
            <a:endParaRPr lang="en-US" sz="1200" dirty="0"/>
          </a:p>
        </p:txBody>
      </p:sp>
      <p:sp>
        <p:nvSpPr>
          <p:cNvPr id="13" name="Text 11"/>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Each one now has a check that fails the build if it ever comes back.</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21 of 23. Three runs. Same score every time.</a:t>
            </a:r>
            <a:endParaRPr lang="en-US" sz="3300" dirty="0"/>
          </a:p>
        </p:txBody>
      </p:sp>
      <p:sp>
        <p:nvSpPr>
          <p:cNvPr id="4" name="Text 2"/>
          <p:cNvSpPr txBox="1"/>
          <p:nvPr/>
        </p:nvSpPr>
        <p:spPr>
          <a:xfrm>
            <a:off x="777240" y="1783080"/>
            <a:ext cx="5577840" cy="2194560"/>
          </a:xfrm>
          <a:prstGeom prst="rect">
            <a:avLst/>
          </a:prstGeom>
          <a:noFill/>
          <a:ln/>
        </p:spPr>
        <p:txBody>
          <a:bodyPr wrap="square" lIns="0" tIns="0" rIns="0" bIns="0" rtlCol="0" anchor="ctr"/>
          <a:lstStyle/>
          <a:p>
            <a:pPr marL="342900" indent="-342900">
              <a:spcAft>
                <a:spcPts val="800"/>
              </a:spcAft>
              <a:buSzPct val="100000"/>
              <a:buChar char="•"/>
            </a:pPr>
            <a:r>
              <a:rPr lang="en-US" sz="1400" b="1" dirty="0">
                <a:solidFill>
                  <a:srgbClr val="14171A"/>
                </a:solidFill>
                <a:latin typeface="Calibri" pitchFamily="34" charset="0"/>
                <a:ea typeface="Calibri" pitchFamily="34" charset="-122"/>
                <a:cs typeface="Calibri" pitchFamily="34" charset="-120"/>
              </a:rPr>
              <a:t>One assertion fails on every run</a:t>
            </a:r>
            <a:endParaRPr lang="en-US" sz="1400" dirty="0"/>
          </a:p>
          <a:p>
            <a:pPr indent="0" marL="0">
              <a:spcAft>
                <a:spcPts val="800"/>
              </a:spcAft>
              <a:buNone/>
            </a:pPr>
            <a:r>
              <a:rPr lang="en-US" sz="1400" dirty="0">
                <a:solidFill>
                  <a:srgbClr val="14171A"/>
                </a:solidFill>
                <a:latin typeface="Calibri" pitchFamily="34" charset="0"/>
                <a:ea typeface="Calibri" pitchFamily="34" charset="-122"/>
                <a:cs typeface="Calibri" pitchFamily="34" charset="-120"/>
              </a:rPr>
              <a:t>the agent does not reliably say out loud that it discarded a volunteered condition</a:t>
            </a:r>
            <a:endParaRPr lang="en-US" sz="1400" dirty="0"/>
          </a:p>
          <a:p>
            <a:pPr marL="342900" indent="-342900">
              <a:spcAft>
                <a:spcPts val="800"/>
              </a:spcAft>
              <a:buSzPct val="100000"/>
              <a:buChar char="•"/>
            </a:pPr>
            <a:r>
              <a:rPr lang="en-US" sz="1400" b="1" dirty="0">
                <a:solidFill>
                  <a:srgbClr val="14171A"/>
                </a:solidFill>
                <a:latin typeface="Calibri" pitchFamily="34" charset="0"/>
                <a:ea typeface="Calibri" pitchFamily="34" charset="-122"/>
                <a:cs typeface="Calibri" pitchFamily="34" charset="-120"/>
              </a:rPr>
              <a:t>The second failure alternates</a:t>
            </a:r>
            <a:endParaRPr lang="en-US" sz="1400" dirty="0"/>
          </a:p>
          <a:p>
            <a:pPr indent="0" marL="0">
              <a:spcAft>
                <a:spcPts val="800"/>
              </a:spcAft>
              <a:buNone/>
            </a:pPr>
            <a:r>
              <a:rPr lang="en-US" sz="1400" dirty="0">
                <a:solidFill>
                  <a:srgbClr val="14171A"/>
                </a:solidFill>
                <a:latin typeface="Calibri" pitchFamily="34" charset="0"/>
                <a:ea typeface="Calibri" pitchFamily="34" charset="-122"/>
                <a:cs typeface="Calibri" pitchFamily="34" charset="-120"/>
              </a:rPr>
              <a:t>same build, same prompts, different answers, run to run</a:t>
            </a:r>
            <a:endParaRPr lang="en-US" sz="1400" dirty="0"/>
          </a:p>
        </p:txBody>
      </p:sp>
      <p:sp>
        <p:nvSpPr>
          <p:cNvPr id="5" name="Shape 3"/>
          <p:cNvSpPr/>
          <p:nvPr/>
        </p:nvSpPr>
        <p:spPr>
          <a:xfrm>
            <a:off x="6766560" y="1783080"/>
            <a:ext cx="4617720" cy="2194560"/>
          </a:xfrm>
          <a:prstGeom prst="roundRect">
            <a:avLst>
              <a:gd name="adj" fmla="val 2083"/>
            </a:avLst>
          </a:prstGeom>
          <a:solidFill>
            <a:srgbClr val="FFFFFF"/>
          </a:solidFill>
          <a:ln w="19050">
            <a:solidFill>
              <a:srgbClr val="1F5546"/>
            </a:solidFill>
            <a:prstDash val="solid"/>
          </a:ln>
        </p:spPr>
      </p:sp>
      <p:sp>
        <p:nvSpPr>
          <p:cNvPr id="6" name="Text 4"/>
          <p:cNvSpPr txBox="1"/>
          <p:nvPr/>
        </p:nvSpPr>
        <p:spPr>
          <a:xfrm>
            <a:off x="7022592" y="1993392"/>
            <a:ext cx="4114800" cy="457200"/>
          </a:xfrm>
          <a:prstGeom prst="rect">
            <a:avLst/>
          </a:prstGeom>
          <a:noFill/>
          <a:ln/>
        </p:spPr>
        <p:txBody>
          <a:bodyPr wrap="square" lIns="0" tIns="0" rIns="0" bIns="0" rtlCol="0" anchor="ctr"/>
          <a:lstStyle/>
          <a:p>
            <a:pPr indent="0" marL="0">
              <a:buNone/>
            </a:pPr>
            <a:r>
              <a:rPr lang="en-US" sz="1450" b="1" dirty="0">
                <a:solidFill>
                  <a:srgbClr val="1F5546"/>
                </a:solidFill>
                <a:latin typeface="Cambria" pitchFamily="34" charset="0"/>
                <a:ea typeface="Cambria" pitchFamily="34" charset="-122"/>
                <a:cs typeface="Cambria" pitchFamily="34" charset="-120"/>
              </a:rPr>
              <a:t>Where it is deterministic, it is 100%</a:t>
            </a:r>
            <a:endParaRPr lang="en-US" sz="1450" dirty="0"/>
          </a:p>
        </p:txBody>
      </p:sp>
      <p:sp>
        <p:nvSpPr>
          <p:cNvPr id="7" name="Text 5"/>
          <p:cNvSpPr txBox="1"/>
          <p:nvPr/>
        </p:nvSpPr>
        <p:spPr>
          <a:xfrm>
            <a:off x="7022592" y="2487168"/>
            <a:ext cx="4114800" cy="1280160"/>
          </a:xfrm>
          <a:prstGeom prst="rect">
            <a:avLst/>
          </a:prstGeom>
          <a:noFill/>
          <a:ln/>
        </p:spPr>
        <p:txBody>
          <a:bodyPr wrap="square" lIns="0" tIns="0" rIns="0" bIns="0" rtlCol="0" anchor="ctr"/>
          <a:lstStyle/>
          <a:p>
            <a:pPr indent="0" marL="0">
              <a:buNone/>
            </a:pPr>
            <a:r>
              <a:rPr lang="en-US" sz="1250" dirty="0">
                <a:solidFill>
                  <a:srgbClr val="14171A"/>
                </a:solidFill>
                <a:latin typeface="Calibri" pitchFamily="34" charset="0"/>
                <a:ea typeface="Calibri" pitchFamily="34" charset="-122"/>
                <a:cs typeface="Calibri" pitchFamily="34" charset="-120"/>
              </a:rPr>
              <a:t>The four channels that compose their reply in Apex, web, text, email and Slack, say it every single time. Pinned by a test that exercises all four.</a:t>
            </a:r>
            <a:endParaRPr lang="en-US" sz="1250" dirty="0"/>
          </a:p>
        </p:txBody>
      </p:sp>
      <p:sp>
        <p:nvSpPr>
          <p:cNvPr id="8" name="Text 6"/>
          <p:cNvSpPr txBox="1"/>
          <p:nvPr/>
        </p:nvSpPr>
        <p:spPr>
          <a:xfrm>
            <a:off x="777240" y="4206240"/>
            <a:ext cx="10515600" cy="822960"/>
          </a:xfrm>
          <a:prstGeom prst="rect">
            <a:avLst/>
          </a:prstGeom>
          <a:noFill/>
          <a:ln/>
        </p:spPr>
        <p:txBody>
          <a:bodyPr wrap="square" lIns="0" tIns="0" rIns="0" bIns="0" rtlCol="0" anchor="ctr"/>
          <a:lstStyle/>
          <a:p>
            <a:pPr indent="0" marL="0">
              <a:buNone/>
            </a:pPr>
            <a:r>
              <a:rPr lang="en-US" sz="1450" i="1" dirty="0">
                <a:solidFill>
                  <a:srgbClr val="14171A"/>
                </a:solidFill>
                <a:latin typeface="Cambria" pitchFamily="34" charset="0"/>
                <a:ea typeface="Cambria" pitchFamily="34" charset="-122"/>
                <a:cs typeface="Cambria" pitchFamily="34" charset="-120"/>
              </a:rPr>
              <a:t>"Good" is 23 of 23 with zero variance across five runs. Getting there means moving anything safety critical out of the model’s narration and into code that runs whether or not it remembers.</a:t>
            </a:r>
            <a:endParaRPr lang="en-US" sz="1450" dirty="0"/>
          </a:p>
        </p:txBody>
      </p:sp>
      <p:sp>
        <p:nvSpPr>
          <p:cNvPr id="9" name="Text 7"/>
          <p:cNvSpPr txBox="1"/>
          <p:nvPr/>
        </p:nvSpPr>
        <p:spPr>
          <a:xfrm>
            <a:off x="777240" y="5212080"/>
            <a:ext cx="10698480" cy="457200"/>
          </a:xfrm>
          <a:prstGeom prst="rect">
            <a:avLst/>
          </a:prstGeom>
          <a:noFill/>
          <a:ln/>
        </p:spPr>
        <p:txBody>
          <a:bodyPr wrap="square" lIns="0" tIns="0" rIns="0" bIns="0" rtlCol="0" anchor="ctr"/>
          <a:lstStyle/>
          <a:p>
            <a:pPr indent="0" marL="0">
              <a:buNone/>
            </a:pPr>
            <a:r>
              <a:rPr lang="en-US" sz="1200" dirty="0">
                <a:solidFill>
                  <a:srgbClr val="42474C"/>
                </a:solidFill>
                <a:latin typeface="Courier New" pitchFamily="34" charset="0"/>
                <a:ea typeface="Courier New" pitchFamily="34" charset="-122"/>
                <a:cs typeface="Courier New" pitchFamily="34" charset="-120"/>
              </a:rPr>
              <a:t>124 Apex tests   |   491 structural invariants   |   333 accessibility checks   |   28 contrast   |   16 reading level   |   all passing, every build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D"/>
        </a:solidFill>
      </p:bgPr>
    </p:bg>
    <p:spTree>
      <p:nvGrpSpPr>
        <p:cNvPr id="1" name=""/>
        <p:cNvGrpSpPr/>
        <p:nvPr/>
      </p:nvGrpSpPr>
      <p:grpSpPr>
        <a:xfrm>
          <a:off x="0" y="0"/>
          <a:ext cx="0" cy="0"/>
          <a:chOff x="0" y="0"/>
          <a:chExt cx="0" cy="0"/>
        </a:xfrm>
      </p:grpSpPr>
      <p:sp>
        <p:nvSpPr>
          <p:cNvPr id="2" name="Text 0"/>
          <p:cNvSpPr txBox="1"/>
          <p:nvPr/>
        </p:nvSpPr>
        <p:spPr>
          <a:xfrm>
            <a:off x="777240" y="384048"/>
            <a:ext cx="7315200" cy="237744"/>
          </a:xfrm>
          <a:prstGeom prst="rect">
            <a:avLst/>
          </a:prstGeom>
          <a:noFill/>
          <a:ln/>
        </p:spPr>
        <p:txBody>
          <a:bodyPr wrap="square" lIns="0" tIns="0" rIns="0" bIns="0" rtlCol="0" anchor="ctr"/>
          <a:lstStyle/>
          <a:p>
            <a:pPr indent="0" marL="0">
              <a:buNone/>
            </a:pPr>
            <a:r>
              <a:rPr lang="en-US" sz="950" spc="170" kern="0" dirty="0">
                <a:solidFill>
                  <a:srgbClr val="656B71"/>
                </a:solidFill>
                <a:latin typeface="Courier New" pitchFamily="34" charset="0"/>
                <a:ea typeface="Courier New" pitchFamily="34" charset="-122"/>
                <a:cs typeface="Courier New" pitchFamily="34" charset="-120"/>
              </a:rPr>
              <a:t>04  THE HONEST PART</a:t>
            </a:r>
            <a:endParaRPr lang="en-US" sz="950" dirty="0"/>
          </a:p>
        </p:txBody>
      </p:sp>
      <p:sp>
        <p:nvSpPr>
          <p:cNvPr id="3" name="Text 1"/>
          <p:cNvSpPr txBox="1"/>
          <p:nvPr/>
        </p:nvSpPr>
        <p:spPr>
          <a:xfrm>
            <a:off x="777240" y="713232"/>
            <a:ext cx="10607040" cy="914400"/>
          </a:xfrm>
          <a:prstGeom prst="rect">
            <a:avLst/>
          </a:prstGeom>
          <a:noFill/>
          <a:ln/>
        </p:spPr>
        <p:txBody>
          <a:bodyPr wrap="square" lIns="0" tIns="0" rIns="0" bIns="0" rtlCol="0" anchor="ctr"/>
          <a:lstStyle/>
          <a:p>
            <a:pPr indent="0" marL="0">
              <a:buNone/>
            </a:pPr>
            <a:r>
              <a:rPr lang="en-US" sz="3300" b="1" dirty="0">
                <a:solidFill>
                  <a:srgbClr val="14171A"/>
                </a:solidFill>
                <a:latin typeface="Cambria" pitchFamily="34" charset="0"/>
                <a:ea typeface="Cambria" pitchFamily="34" charset="-122"/>
                <a:cs typeface="Cambria" pitchFamily="34" charset="-120"/>
              </a:rPr>
              <a:t>What is still wrong.</a:t>
            </a:r>
            <a:endParaRPr lang="en-US" sz="3300" dirty="0"/>
          </a:p>
        </p:txBody>
      </p:sp>
      <p:sp>
        <p:nvSpPr>
          <p:cNvPr id="4" name="Text 2"/>
          <p:cNvSpPr txBox="1"/>
          <p:nvPr/>
        </p:nvSpPr>
        <p:spPr>
          <a:xfrm>
            <a:off x="777240" y="178308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No screen-reader user has tested this.</a:t>
            </a:r>
            <a:endParaRPr lang="en-US" sz="1350" dirty="0"/>
          </a:p>
        </p:txBody>
      </p:sp>
      <p:sp>
        <p:nvSpPr>
          <p:cNvPr id="5" name="Text 3"/>
          <p:cNvSpPr txBox="1"/>
          <p:nvPr/>
        </p:nvSpPr>
        <p:spPr>
          <a:xfrm>
            <a:off x="5029200" y="178308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Every accessibility claim is machine or browser verified, which is not the same as a person using it. One session with somebody who uses one daily is worth more than the next five features.</a:t>
            </a:r>
            <a:endParaRPr lang="en-US" sz="1150" dirty="0"/>
          </a:p>
        </p:txBody>
      </p:sp>
      <p:sp>
        <p:nvSpPr>
          <p:cNvPr id="6" name="Text 4"/>
          <p:cNvSpPr txBox="1"/>
          <p:nvPr/>
        </p:nvSpPr>
        <p:spPr>
          <a:xfrm>
            <a:off x="777240" y="274320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The agent’s narration is nondeterministic.</a:t>
            </a:r>
            <a:endParaRPr lang="en-US" sz="1350" dirty="0"/>
          </a:p>
        </p:txBody>
      </p:sp>
      <p:sp>
        <p:nvSpPr>
          <p:cNvPr id="7" name="Text 5"/>
          <p:cNvSpPr txBox="1"/>
          <p:nvPr/>
        </p:nvSpPr>
        <p:spPr>
          <a:xfrm>
            <a:off x="5029200" y="274320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It rewrites what an action returns rather than relaying it. Three separate fixes did not move it.</a:t>
            </a:r>
            <a:endParaRPr lang="en-US" sz="1150" dirty="0"/>
          </a:p>
        </p:txBody>
      </p:sp>
      <p:sp>
        <p:nvSpPr>
          <p:cNvPr id="8" name="Text 6"/>
          <p:cNvSpPr txBox="1"/>
          <p:nvPr/>
        </p:nvSpPr>
        <p:spPr>
          <a:xfrm>
            <a:off x="777240" y="370332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Text messaging is not carrier registered.</a:t>
            </a:r>
            <a:endParaRPr lang="en-US" sz="1350" dirty="0"/>
          </a:p>
        </p:txBody>
      </p:sp>
      <p:sp>
        <p:nvSpPr>
          <p:cNvPr id="9" name="Text 7"/>
          <p:cNvSpPr txBox="1"/>
          <p:nvPr/>
        </p:nvSpPr>
        <p:spPr>
          <a:xfrm>
            <a:off x="5029200" y="370332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A2P 10DLC gates SMS from a ten digit number. Voice on the same number needs none and works today.</a:t>
            </a:r>
            <a:endParaRPr lang="en-US" sz="1150" dirty="0"/>
          </a:p>
        </p:txBody>
      </p:sp>
      <p:sp>
        <p:nvSpPr>
          <p:cNvPr id="10" name="Text 8"/>
          <p:cNvSpPr txBox="1"/>
          <p:nvPr/>
        </p:nvSpPr>
        <p:spPr>
          <a:xfrm>
            <a:off x="777240" y="4663440"/>
            <a:ext cx="4114800" cy="411480"/>
          </a:xfrm>
          <a:prstGeom prst="rect">
            <a:avLst/>
          </a:prstGeom>
          <a:noFill/>
          <a:ln/>
        </p:spPr>
        <p:txBody>
          <a:bodyPr wrap="square" lIns="0" tIns="0" rIns="0" bIns="0" rtlCol="0" anchor="ctr"/>
          <a:lstStyle/>
          <a:p>
            <a:pPr indent="0" marL="0">
              <a:buNone/>
            </a:pPr>
            <a:r>
              <a:rPr lang="en-US" sz="1350" b="1" dirty="0">
                <a:solidFill>
                  <a:srgbClr val="14171A"/>
                </a:solidFill>
                <a:latin typeface="Cambria" pitchFamily="34" charset="0"/>
                <a:ea typeface="Cambria" pitchFamily="34" charset="-122"/>
                <a:cs typeface="Cambria" pitchFamily="34" charset="-120"/>
              </a:rPr>
              <a:t>The Slack app has never met a real workspace.</a:t>
            </a:r>
            <a:endParaRPr lang="en-US" sz="1350" dirty="0"/>
          </a:p>
        </p:txBody>
      </p:sp>
      <p:sp>
        <p:nvSpPr>
          <p:cNvPr id="11" name="Text 9"/>
          <p:cNvSpPr txBox="1"/>
          <p:nvPr/>
        </p:nvSpPr>
        <p:spPr>
          <a:xfrm>
            <a:off x="5029200" y="4663440"/>
            <a:ext cx="6355080" cy="868680"/>
          </a:xfrm>
          <a:prstGeom prst="rect">
            <a:avLst/>
          </a:prstGeom>
          <a:noFill/>
          <a:ln/>
        </p:spPr>
        <p:txBody>
          <a:bodyPr wrap="square" lIns="0" tIns="0" rIns="0" bIns="0" rtlCol="0" anchor="ctr"/>
          <a:lstStyle/>
          <a:p>
            <a:pPr indent="0" marL="0">
              <a:buNone/>
            </a:pPr>
            <a:r>
              <a:rPr lang="en-US" sz="1150" dirty="0">
                <a:solidFill>
                  <a:srgbClr val="42474C"/>
                </a:solidFill>
                <a:latin typeface="Calibri" pitchFamily="34" charset="0"/>
                <a:ea typeface="Calibri" pitchFamily="34" charset="-122"/>
                <a:cs typeface="Calibri" pitchFamily="34" charset="-120"/>
              </a:rPr>
              <a:t>The Apex behind it is live and verified. The handshake is not.</a:t>
            </a:r>
            <a:endParaRPr lang="en-US" sz="1150" dirty="0"/>
          </a:p>
        </p:txBody>
      </p:sp>
      <p:sp>
        <p:nvSpPr>
          <p:cNvPr id="12" name="Text 10"/>
          <p:cNvSpPr txBox="1"/>
          <p:nvPr/>
        </p:nvSpPr>
        <p:spPr>
          <a:xfrm>
            <a:off x="777240" y="5742432"/>
            <a:ext cx="10698480" cy="603504"/>
          </a:xfrm>
          <a:prstGeom prst="rect">
            <a:avLst/>
          </a:prstGeom>
          <a:noFill/>
          <a:ln/>
        </p:spPr>
        <p:txBody>
          <a:bodyPr wrap="square" lIns="0" tIns="0" rIns="0" bIns="0" rtlCol="0" anchor="ctr"/>
          <a:lstStyle/>
          <a:p>
            <a:pPr indent="0" marL="0">
              <a:buNone/>
            </a:pPr>
            <a:r>
              <a:rPr lang="en-US" sz="1600" i="1" dirty="0">
                <a:solidFill>
                  <a:srgbClr val="9A6608"/>
                </a:solidFill>
                <a:latin typeface="Cambria" pitchFamily="34" charset="0"/>
                <a:ea typeface="Cambria" pitchFamily="34" charset="-122"/>
                <a:cs typeface="Cambria" pitchFamily="34" charset="-120"/>
              </a:rPr>
              <a:t>A system that claims a perfect score against its own adversarial suite is telling you about its suite, not its agent.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0242A"/>
        </a:solidFill>
      </p:bgPr>
    </p:bg>
    <p:spTree>
      <p:nvGrpSpPr>
        <p:cNvPr id="1" name=""/>
        <p:cNvGrpSpPr/>
        <p:nvPr/>
      </p:nvGrpSpPr>
      <p:grpSpPr>
        <a:xfrm>
          <a:off x="0" y="0"/>
          <a:ext cx="0" cy="0"/>
          <a:chOff x="0" y="0"/>
          <a:chExt cx="0" cy="0"/>
        </a:xfrm>
      </p:grpSpPr>
      <p:sp>
        <p:nvSpPr>
          <p:cNvPr id="2" name="Text 0"/>
          <p:cNvSpPr txBox="1"/>
          <p:nvPr/>
        </p:nvSpPr>
        <p:spPr>
          <a:xfrm>
            <a:off x="777240" y="1691640"/>
            <a:ext cx="10332720" cy="822960"/>
          </a:xfrm>
          <a:prstGeom prst="rect">
            <a:avLst/>
          </a:prstGeom>
          <a:noFill/>
          <a:ln/>
        </p:spPr>
        <p:txBody>
          <a:bodyPr wrap="square" lIns="0" tIns="0" rIns="0" bIns="0" rtlCol="0" anchor="ctr"/>
          <a:lstStyle/>
          <a:p>
            <a:pPr indent="0" marL="0">
              <a:buNone/>
            </a:pPr>
            <a:r>
              <a:rPr lang="en-US" sz="3800" b="1" dirty="0">
                <a:solidFill>
                  <a:srgbClr val="F7F5EF"/>
                </a:solidFill>
                <a:latin typeface="Cambria" pitchFamily="34" charset="0"/>
                <a:ea typeface="Cambria" pitchFamily="34" charset="-122"/>
                <a:cs typeface="Cambria" pitchFamily="34" charset="-120"/>
              </a:rPr>
              <a:t>There is still no percent sick number.</a:t>
            </a:r>
            <a:endParaRPr lang="en-US" sz="3800" dirty="0"/>
          </a:p>
        </p:txBody>
      </p:sp>
      <p:sp>
        <p:nvSpPr>
          <p:cNvPr id="3" name="Text 1"/>
          <p:cNvSpPr txBox="1"/>
          <p:nvPr/>
        </p:nvSpPr>
        <p:spPr>
          <a:xfrm>
            <a:off x="777240" y="2697480"/>
            <a:ext cx="9875520" cy="914400"/>
          </a:xfrm>
          <a:prstGeom prst="rect">
            <a:avLst/>
          </a:prstGeom>
          <a:noFill/>
          <a:ln/>
        </p:spPr>
        <p:txBody>
          <a:bodyPr wrap="square" lIns="0" tIns="0" rIns="0" bIns="0" rtlCol="0" anchor="ctr"/>
          <a:lstStyle/>
          <a:p>
            <a:pPr indent="0" marL="0">
              <a:buNone/>
            </a:pPr>
            <a:r>
              <a:rPr lang="en-US" sz="1800" dirty="0">
                <a:solidFill>
                  <a:srgbClr val="D8DAD6"/>
                </a:solidFill>
                <a:latin typeface="Calibri" pitchFamily="34" charset="0"/>
                <a:ea typeface="Calibri" pitchFamily="34" charset="-122"/>
                <a:cs typeface="Calibri" pitchFamily="34" charset="-120"/>
              </a:rPr>
              <a:t>There does not need to be. Nobody should have to prove anything to get a chair that does not hurt, an hour moved, or captions turned on.</a:t>
            </a:r>
            <a:endParaRPr lang="en-US" sz="1800" dirty="0"/>
          </a:p>
        </p:txBody>
      </p:sp>
      <p:sp>
        <p:nvSpPr>
          <p:cNvPr id="4" name="Text 2"/>
          <p:cNvSpPr txBox="1"/>
          <p:nvPr/>
        </p:nvSpPr>
        <p:spPr>
          <a:xfrm>
            <a:off x="777240" y="3840480"/>
            <a:ext cx="9601200" cy="640080"/>
          </a:xfrm>
          <a:prstGeom prst="rect">
            <a:avLst/>
          </a:prstGeom>
          <a:noFill/>
          <a:ln/>
        </p:spPr>
        <p:txBody>
          <a:bodyPr wrap="square" lIns="0" tIns="0" rIns="0" bIns="0" rtlCol="0" anchor="ctr"/>
          <a:lstStyle/>
          <a:p>
            <a:pPr indent="0" marL="0">
              <a:buNone/>
            </a:pPr>
            <a:r>
              <a:rPr lang="en-US" sz="2500" i="1" dirty="0">
                <a:solidFill>
                  <a:srgbClr val="E8C87A"/>
                </a:solidFill>
                <a:latin typeface="Cambria" pitchFamily="34" charset="0"/>
                <a:ea typeface="Cambria" pitchFamily="34" charset="-122"/>
                <a:cs typeface="Cambria" pitchFamily="34" charset="-120"/>
              </a:rPr>
              <a:t>They only have to be able to ask.</a:t>
            </a:r>
            <a:endParaRPr lang="en-US" sz="2500" dirty="0"/>
          </a:p>
        </p:txBody>
      </p:sp>
      <p:sp>
        <p:nvSpPr>
          <p:cNvPr id="5" name="Text 3"/>
          <p:cNvSpPr txBox="1"/>
          <p:nvPr/>
        </p:nvSpPr>
        <p:spPr>
          <a:xfrm>
            <a:off x="777240" y="4846320"/>
            <a:ext cx="5486400" cy="320040"/>
          </a:xfrm>
          <a:prstGeom prst="rect">
            <a:avLst/>
          </a:prstGeom>
          <a:noFill/>
          <a:ln/>
        </p:spPr>
        <p:txBody>
          <a:bodyPr wrap="square" lIns="0" tIns="0" rIns="0" bIns="0" rtlCol="0" anchor="ctr"/>
          <a:lstStyle/>
          <a:p>
            <a:pPr indent="0" marL="0">
              <a:buNone/>
            </a:pPr>
            <a:r>
              <a:rPr lang="en-US" sz="1150" dirty="0">
                <a:solidFill>
                  <a:srgbClr val="A9B0B6"/>
                </a:solidFill>
                <a:latin typeface="Courier New" pitchFamily="34" charset="0"/>
                <a:ea typeface="Courier New" pitchFamily="34" charset="-122"/>
                <a:cs typeface="Courier New" pitchFamily="34" charset="-120"/>
              </a:rPr>
              <a:t>Verify anything in this deck:</a:t>
            </a:r>
            <a:endParaRPr lang="en-US" sz="1150" dirty="0"/>
          </a:p>
        </p:txBody>
      </p:sp>
      <p:sp>
        <p:nvSpPr>
          <p:cNvPr id="6" name="Text 4"/>
          <p:cNvSpPr txBox="1"/>
          <p:nvPr/>
        </p:nvSpPr>
        <p:spPr>
          <a:xfrm>
            <a:off x="777240" y="5138928"/>
            <a:ext cx="7772400" cy="914400"/>
          </a:xfrm>
          <a:prstGeom prst="rect">
            <a:avLst/>
          </a:prstGeom>
          <a:noFill/>
          <a:ln/>
        </p:spPr>
        <p:txBody>
          <a:bodyPr wrap="square" lIns="0" tIns="0" rIns="0" bIns="0" rtlCol="0" anchor="ctr"/>
          <a:lstStyle/>
          <a:p>
            <a:pPr indent="0" marL="0">
              <a:buNone/>
            </a:pPr>
            <a:r>
              <a:rPr lang="en-US" sz="1050" dirty="0">
                <a:solidFill>
                  <a:srgbClr val="D8DAD6"/>
                </a:solidFill>
                <a:latin typeface="Courier New" pitchFamily="34" charset="0"/>
                <a:ea typeface="Courier New" pitchFamily="34" charset="-122"/>
                <a:cs typeface="Courier New" pitchFamily="34" charset="-120"/>
              </a:rPr>
              <a:t>python3 tests/invariants.py          491 checks</a:t>
            </a:r>
            <a:endParaRPr lang="en-US" sz="1050" dirty="0"/>
          </a:p>
          <a:p>
            <a:pPr indent="0" marL="0">
              <a:buNone/>
            </a:pPr>
            <a:r>
              <a:rPr lang="en-US" sz="1050" dirty="0">
                <a:solidFill>
                  <a:srgbClr val="D8DAD6"/>
                </a:solidFill>
                <a:latin typeface="Courier New" pitchFamily="34" charset="0"/>
                <a:ea typeface="Courier New" pitchFamily="34" charset="-122"/>
                <a:cs typeface="Courier New" pitchFamily="34" charset="-120"/>
              </a:rPr>
              <a:t>sf apex run test -l RunLocalTests     124 tests</a:t>
            </a:r>
            <a:endParaRPr lang="en-US" sz="1050" dirty="0"/>
          </a:p>
          <a:p>
            <a:pPr indent="0" marL="0">
              <a:buNone/>
            </a:pPr>
            <a:r>
              <a:rPr lang="en-US" sz="1050" dirty="0">
                <a:solidFill>
                  <a:srgbClr val="D8DAD6"/>
                </a:solidFill>
                <a:latin typeface="Courier New" pitchFamily="34" charset="0"/>
                <a:ea typeface="Courier New" pitchFamily="34" charset="-122"/>
                <a:cs typeface="Courier New" pitchFamily="34" charset="-120"/>
              </a:rPr>
              <a:t>python3 tests/a11y_audit.py          333 checks, against the live pages</a:t>
            </a:r>
            <a:endParaRPr lang="en-US" sz="1050" dirty="0"/>
          </a:p>
        </p:txBody>
      </p:sp>
      <p:sp>
        <p:nvSpPr>
          <p:cNvPr id="7" name="Text 5"/>
          <p:cNvSpPr txBox="1"/>
          <p:nvPr/>
        </p:nvSpPr>
        <p:spPr>
          <a:xfrm>
            <a:off x="777240" y="6172200"/>
            <a:ext cx="10058400" cy="320040"/>
          </a:xfrm>
          <a:prstGeom prst="rect">
            <a:avLst/>
          </a:prstGeom>
          <a:noFill/>
          <a:ln/>
        </p:spPr>
        <p:txBody>
          <a:bodyPr wrap="square" lIns="0" tIns="0" rIns="0" bIns="0" rtlCol="0" anchor="ctr"/>
          <a:lstStyle/>
          <a:p>
            <a:pPr indent="0" marL="0">
              <a:buNone/>
            </a:pPr>
            <a:r>
              <a:rPr lang="en-US" sz="1150" dirty="0">
                <a:solidFill>
                  <a:srgbClr val="A9B0B6"/>
                </a:solidFill>
                <a:latin typeface="Courier New" pitchFamily="34" charset="0"/>
                <a:ea typeface="Courier New" pitchFamily="34" charset="-122"/>
                <a:cs typeface="Courier New" pitchFamily="34" charset="-120"/>
              </a:rPr>
              <a:t>orgfarm-7a04c62cb9.my.salesforce-sites.com/curbcut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Curb Cut</dc:title>
  <dc:subject>PptxGenJS Presentation</dc:subject>
  <dc:creator>Parth Sevak</dc:creator>
  <cp:lastModifiedBy>Parth Sevak</cp:lastModifiedBy>
  <cp:revision>1</cp:revision>
  <dcterms:created xsi:type="dcterms:W3CDTF">2026-09-04T17:01:21Z</dcterms:created>
  <dcterms:modified xsi:type="dcterms:W3CDTF">2026-09-04T17:01:21Z</dcterms:modified>
</cp:coreProperties>
</file>