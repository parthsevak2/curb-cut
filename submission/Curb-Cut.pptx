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 not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 not rush it and do not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 not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 not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 is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roughly three in ten people at work, that calculation is not occasional. It is a standing condition of the job, and the price of getting it wrong is not an awkward moment. It is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 is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 not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 not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is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The form, the login, the policy nobody can find,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say everyone is equal. In a market, everyone is a transaction. It should not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will not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 not done this, and what we will give the first ten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 not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1.3bn</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16% of the world</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significant disability</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WHO,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27%</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Canadians 15+</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one or more disabilities</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Statistics Canada, 2022</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2025</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US white-collar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broad federal definition</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Coqual</a:t>
            </a:r>
            <a:endParaRPr lang="en-US" sz="950" dirty="0"/>
          </a:p>
        </p:txBody>
      </p:sp>
      <p:sp>
        <p:nvSpPr>
          <p:cNvPr id="24" name="Text 22"/>
          <p:cNvSpPr txBox="1"/>
          <p:nvPr/>
        </p:nvSpPr>
        <p:spPr>
          <a:xfrm>
            <a:off x="777240" y="4343400"/>
            <a:ext cx="10698480" cy="4572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They disagree because they count different things. WHO measures significant disability. The national definitions are broader.</a:t>
            </a:r>
            <a:endParaRPr lang="en-US" sz="140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who.int  |  statcan.gc.ca Canadian Survey on Disability 2022  |  bls.gov Current Population Survey, about 60,000 households monthly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user buys nothing. That is deliberate.</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8" name="Shape 6"/>
          <p:cNvSpPr/>
          <p:nvPr/>
        </p:nvSpPr>
        <p:spPr>
          <a:xfrm>
            <a:off x="777240" y="301752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92608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0" name="Text 8"/>
          <p:cNvSpPr txBox="1"/>
          <p:nvPr/>
        </p:nvSpPr>
        <p:spPr>
          <a:xfrm>
            <a:off x="5212080" y="295351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1" name="Shape 9"/>
          <p:cNvSpPr/>
          <p:nvPr/>
        </p:nvSpPr>
        <p:spPr>
          <a:xfrm>
            <a:off x="777240" y="354787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45643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3" name="Text 11"/>
          <p:cNvSpPr txBox="1"/>
          <p:nvPr/>
        </p:nvSpPr>
        <p:spPr>
          <a:xfrm>
            <a:off x="5212080" y="348386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4" name="Shape 12"/>
          <p:cNvSpPr/>
          <p:nvPr/>
        </p:nvSpPr>
        <p:spPr>
          <a:xfrm>
            <a:off x="777240" y="407822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98678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6" name="Text 14"/>
          <p:cNvSpPr txBox="1"/>
          <p:nvPr/>
        </p:nvSpPr>
        <p:spPr>
          <a:xfrm>
            <a:off x="5212080" y="401421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17" name="Text 15"/>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18" name="Text 16"/>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19" name="Text 17"/>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0" name="Text 18"/>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1" name="Text 19"/>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2" name="Text 20"/>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3" name="Text 21"/>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4" name="Text 22"/>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gap is not a spending gap. It is a process gap, which is cheaper to close and harder to sell, because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One of them is deliberately empty.</a:t>
            </a:r>
            <a:endParaRPr lang="en-US" sz="3300" dirty="0"/>
          </a:p>
        </p:txBody>
      </p:sp>
      <p:sp>
        <p:nvSpPr>
          <p:cNvPr id="4" name="Shape 2"/>
          <p:cNvSpPr/>
          <p:nvPr/>
        </p:nvSpPr>
        <p:spPr>
          <a:xfrm>
            <a:off x="777240" y="1783080"/>
            <a:ext cx="1371600" cy="658368"/>
          </a:xfrm>
          <a:prstGeom prst="rect">
            <a:avLst/>
          </a:prstGeom>
          <a:solidFill>
            <a:srgbClr val="14171A"/>
          </a:solidFill>
          <a:ln w="12700">
            <a:solidFill>
              <a:srgbClr val="14171A"/>
            </a:solidFill>
            <a:prstDash val="solid"/>
          </a:ln>
        </p:spPr>
      </p:sp>
      <p:sp>
        <p:nvSpPr>
          <p:cNvPr id="5" name="Text 3"/>
          <p:cNvSpPr txBox="1"/>
          <p:nvPr/>
        </p:nvSpPr>
        <p:spPr>
          <a:xfrm>
            <a:off x="777240" y="1984248"/>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83080"/>
            <a:ext cx="9144000" cy="658368"/>
          </a:xfrm>
          <a:prstGeom prst="rect">
            <a:avLst/>
          </a:prstGeom>
          <a:solidFill>
            <a:srgbClr val="FFFFFF"/>
          </a:solidFill>
          <a:ln w="15875">
            <a:solidFill>
              <a:srgbClr val="D3CEC0"/>
            </a:solidFill>
            <a:prstDash val="solid"/>
          </a:ln>
        </p:spPr>
      </p:sp>
      <p:sp>
        <p:nvSpPr>
          <p:cNvPr id="7" name="Text 5"/>
          <p:cNvSpPr txBox="1"/>
          <p:nvPr/>
        </p:nvSpPr>
        <p:spPr>
          <a:xfrm>
            <a:off x="2450592" y="1984248"/>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441448"/>
            <a:ext cx="0" cy="182880"/>
          </a:xfrm>
          <a:prstGeom prst="line">
            <a:avLst/>
          </a:prstGeom>
          <a:noFill/>
          <a:ln w="17780">
            <a:solidFill>
              <a:srgbClr val="42474C"/>
            </a:solidFill>
            <a:prstDash val="solid"/>
            <a:tailEnd type="triangle"/>
          </a:ln>
        </p:spPr>
      </p:sp>
      <p:sp>
        <p:nvSpPr>
          <p:cNvPr id="9" name="Shape 7"/>
          <p:cNvSpPr/>
          <p:nvPr/>
        </p:nvSpPr>
        <p:spPr>
          <a:xfrm>
            <a:off x="777240" y="2624328"/>
            <a:ext cx="1371600" cy="658368"/>
          </a:xfrm>
          <a:prstGeom prst="rect">
            <a:avLst/>
          </a:prstGeom>
          <a:solidFill>
            <a:srgbClr val="14171A"/>
          </a:solidFill>
          <a:ln w="12700">
            <a:solidFill>
              <a:srgbClr val="14171A"/>
            </a:solidFill>
            <a:prstDash val="solid"/>
          </a:ln>
        </p:spPr>
      </p:sp>
      <p:sp>
        <p:nvSpPr>
          <p:cNvPr id="10" name="Text 8"/>
          <p:cNvSpPr txBox="1"/>
          <p:nvPr/>
        </p:nvSpPr>
        <p:spPr>
          <a:xfrm>
            <a:off x="777240" y="2825496"/>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624328"/>
            <a:ext cx="9144000" cy="658368"/>
          </a:xfrm>
          <a:prstGeom prst="rect">
            <a:avLst/>
          </a:prstGeom>
          <a:solidFill>
            <a:srgbClr val="FFFFFF"/>
          </a:solidFill>
          <a:ln w="15875">
            <a:solidFill>
              <a:srgbClr val="D3CEC0"/>
            </a:solidFill>
            <a:prstDash val="solid"/>
          </a:ln>
        </p:spPr>
      </p:sp>
      <p:sp>
        <p:nvSpPr>
          <p:cNvPr id="12" name="Text 10"/>
          <p:cNvSpPr txBox="1"/>
          <p:nvPr/>
        </p:nvSpPr>
        <p:spPr>
          <a:xfrm>
            <a:off x="2450592" y="2825496"/>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282696"/>
            <a:ext cx="0" cy="182880"/>
          </a:xfrm>
          <a:prstGeom prst="line">
            <a:avLst/>
          </a:prstGeom>
          <a:noFill/>
          <a:ln w="17780">
            <a:solidFill>
              <a:srgbClr val="42474C"/>
            </a:solidFill>
            <a:prstDash val="solid"/>
            <a:tailEnd type="triangle"/>
          </a:ln>
        </p:spPr>
      </p:sp>
      <p:sp>
        <p:nvSpPr>
          <p:cNvPr id="14" name="Shape 12"/>
          <p:cNvSpPr/>
          <p:nvPr/>
        </p:nvSpPr>
        <p:spPr>
          <a:xfrm>
            <a:off x="777240" y="3465576"/>
            <a:ext cx="1371600" cy="658368"/>
          </a:xfrm>
          <a:prstGeom prst="rect">
            <a:avLst/>
          </a:prstGeom>
          <a:solidFill>
            <a:srgbClr val="14171A"/>
          </a:solidFill>
          <a:ln w="12700">
            <a:solidFill>
              <a:srgbClr val="14171A"/>
            </a:solidFill>
            <a:prstDash val="solid"/>
          </a:ln>
        </p:spPr>
      </p:sp>
      <p:sp>
        <p:nvSpPr>
          <p:cNvPr id="15" name="Text 13"/>
          <p:cNvSpPr txBox="1"/>
          <p:nvPr/>
        </p:nvSpPr>
        <p:spPr>
          <a:xfrm>
            <a:off x="777240" y="36667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465576"/>
            <a:ext cx="9144000" cy="658368"/>
          </a:xfrm>
          <a:prstGeom prst="rect">
            <a:avLst/>
          </a:prstGeom>
          <a:solidFill>
            <a:srgbClr val="FFFFFF"/>
          </a:solidFill>
          <a:ln w="15875">
            <a:solidFill>
              <a:srgbClr val="D3CEC0"/>
            </a:solidFill>
            <a:prstDash val="solid"/>
          </a:ln>
        </p:spPr>
      </p:sp>
      <p:sp>
        <p:nvSpPr>
          <p:cNvPr id="17" name="Text 15"/>
          <p:cNvSpPr txBox="1"/>
          <p:nvPr/>
        </p:nvSpPr>
        <p:spPr>
          <a:xfrm>
            <a:off x="2450592" y="36667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4123944"/>
            <a:ext cx="0" cy="182880"/>
          </a:xfrm>
          <a:prstGeom prst="line">
            <a:avLst/>
          </a:prstGeom>
          <a:noFill/>
          <a:ln w="17780">
            <a:solidFill>
              <a:srgbClr val="42474C"/>
            </a:solidFill>
            <a:prstDash val="solid"/>
            <a:tailEnd type="triangle"/>
          </a:ln>
        </p:spPr>
      </p:sp>
      <p:sp>
        <p:nvSpPr>
          <p:cNvPr id="19" name="Shape 17"/>
          <p:cNvSpPr/>
          <p:nvPr/>
        </p:nvSpPr>
        <p:spPr>
          <a:xfrm>
            <a:off x="777240" y="4306824"/>
            <a:ext cx="1371600" cy="658368"/>
          </a:xfrm>
          <a:prstGeom prst="rect">
            <a:avLst/>
          </a:prstGeom>
          <a:solidFill>
            <a:srgbClr val="14171A"/>
          </a:solidFill>
          <a:ln w="12700">
            <a:solidFill>
              <a:srgbClr val="14171A"/>
            </a:solidFill>
            <a:prstDash val="solid"/>
          </a:ln>
        </p:spPr>
      </p:sp>
      <p:sp>
        <p:nvSpPr>
          <p:cNvPr id="20" name="Text 18"/>
          <p:cNvSpPr txBox="1"/>
          <p:nvPr/>
        </p:nvSpPr>
        <p:spPr>
          <a:xfrm>
            <a:off x="777240" y="4507992"/>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306824"/>
            <a:ext cx="9144000" cy="658368"/>
          </a:xfrm>
          <a:prstGeom prst="rect">
            <a:avLst/>
          </a:prstGeom>
          <a:solidFill>
            <a:srgbClr val="FFFFFF"/>
          </a:solidFill>
          <a:ln w="15875">
            <a:solidFill>
              <a:srgbClr val="D3CEC0"/>
            </a:solidFill>
            <a:prstDash val="solid"/>
          </a:ln>
        </p:spPr>
      </p:sp>
      <p:sp>
        <p:nvSpPr>
          <p:cNvPr id="22" name="Text 20"/>
          <p:cNvSpPr txBox="1"/>
          <p:nvPr/>
        </p:nvSpPr>
        <p:spPr>
          <a:xfrm>
            <a:off x="2450592" y="4507992"/>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965192"/>
            <a:ext cx="0" cy="182880"/>
          </a:xfrm>
          <a:prstGeom prst="line">
            <a:avLst/>
          </a:prstGeom>
          <a:noFill/>
          <a:ln w="17780">
            <a:solidFill>
              <a:srgbClr val="42474C"/>
            </a:solidFill>
            <a:prstDash val="solid"/>
            <a:tailEnd type="triangle"/>
          </a:ln>
        </p:spPr>
      </p:sp>
      <p:sp>
        <p:nvSpPr>
          <p:cNvPr id="24" name="Shape 22"/>
          <p:cNvSpPr/>
          <p:nvPr/>
        </p:nvSpPr>
        <p:spPr>
          <a:xfrm>
            <a:off x="777240" y="5148072"/>
            <a:ext cx="1371600" cy="658368"/>
          </a:xfrm>
          <a:prstGeom prst="rect">
            <a:avLst/>
          </a:prstGeom>
          <a:solidFill>
            <a:srgbClr val="E7E3D8"/>
          </a:solidFill>
          <a:ln w="12700">
            <a:solidFill>
              <a:srgbClr val="D3CEC0"/>
            </a:solidFill>
            <a:prstDash val="solid"/>
          </a:ln>
        </p:spPr>
      </p:sp>
      <p:sp>
        <p:nvSpPr>
          <p:cNvPr id="25" name="Text 23"/>
          <p:cNvSpPr txBox="1"/>
          <p:nvPr/>
        </p:nvSpPr>
        <p:spPr>
          <a:xfrm>
            <a:off x="777240" y="5349240"/>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5148072"/>
            <a:ext cx="9144000" cy="658368"/>
          </a:xfrm>
          <a:prstGeom prst="rect">
            <a:avLst/>
          </a:prstGeom>
          <a:solidFill>
            <a:srgbClr val="FFFFFF"/>
          </a:solidFill>
          <a:ln w="15875">
            <a:solidFill>
              <a:srgbClr val="D3CEC0"/>
            </a:solidFill>
            <a:prstDash val="solid"/>
          </a:ln>
        </p:spPr>
      </p:sp>
      <p:sp>
        <p:nvSpPr>
          <p:cNvPr id="27" name="Text 25"/>
          <p:cNvSpPr txBox="1"/>
          <p:nvPr/>
        </p:nvSpPr>
        <p:spPr>
          <a:xfrm>
            <a:off x="2450592" y="5349240"/>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810512"/>
            <a:ext cx="502920" cy="676656"/>
          </a:xfrm>
          <a:prstGeom prst="rect">
            <a:avLst/>
          </a:prstGeom>
          <a:solidFill>
            <a:srgbClr val="14171A"/>
          </a:solidFill>
          <a:ln w="12700">
            <a:solidFill>
              <a:srgbClr val="14171A"/>
            </a:solidFill>
            <a:prstDash val="solid"/>
          </a:ln>
        </p:spPr>
      </p:sp>
      <p:sp>
        <p:nvSpPr>
          <p:cNvPr id="5" name="Text 3"/>
          <p:cNvSpPr txBox="1"/>
          <p:nvPr/>
        </p:nvSpPr>
        <p:spPr>
          <a:xfrm>
            <a:off x="777240" y="1993392"/>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2002536"/>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810512"/>
            <a:ext cx="8503920" cy="676656"/>
          </a:xfrm>
          <a:prstGeom prst="rect">
            <a:avLst/>
          </a:prstGeom>
          <a:solidFill>
            <a:srgbClr val="FFFFFF"/>
          </a:solidFill>
          <a:ln w="15875">
            <a:solidFill>
              <a:srgbClr val="D3CEC0"/>
            </a:solidFill>
            <a:prstDash val="solid"/>
          </a:ln>
        </p:spPr>
      </p:sp>
      <p:sp>
        <p:nvSpPr>
          <p:cNvPr id="8" name="Text 6"/>
          <p:cNvSpPr txBox="1"/>
          <p:nvPr/>
        </p:nvSpPr>
        <p:spPr>
          <a:xfrm>
            <a:off x="3090672" y="1993392"/>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87168"/>
            <a:ext cx="0" cy="164592"/>
          </a:xfrm>
          <a:prstGeom prst="line">
            <a:avLst/>
          </a:prstGeom>
          <a:noFill/>
          <a:ln w="17780">
            <a:solidFill>
              <a:srgbClr val="42474C"/>
            </a:solidFill>
            <a:prstDash val="solid"/>
            <a:tailEnd type="triangle"/>
          </a:ln>
        </p:spPr>
      </p:sp>
      <p:sp>
        <p:nvSpPr>
          <p:cNvPr id="10" name="Shape 8"/>
          <p:cNvSpPr/>
          <p:nvPr/>
        </p:nvSpPr>
        <p:spPr>
          <a:xfrm>
            <a:off x="777240" y="2651760"/>
            <a:ext cx="502920" cy="676656"/>
          </a:xfrm>
          <a:prstGeom prst="rect">
            <a:avLst/>
          </a:prstGeom>
          <a:solidFill>
            <a:srgbClr val="14171A"/>
          </a:solidFill>
          <a:ln w="12700">
            <a:solidFill>
              <a:srgbClr val="14171A"/>
            </a:solidFill>
            <a:prstDash val="solid"/>
          </a:ln>
        </p:spPr>
      </p:sp>
      <p:sp>
        <p:nvSpPr>
          <p:cNvPr id="11" name="Text 9"/>
          <p:cNvSpPr txBox="1"/>
          <p:nvPr/>
        </p:nvSpPr>
        <p:spPr>
          <a:xfrm>
            <a:off x="777240" y="2834640"/>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843784"/>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651760"/>
            <a:ext cx="8503920" cy="676656"/>
          </a:xfrm>
          <a:prstGeom prst="rect">
            <a:avLst/>
          </a:prstGeom>
          <a:solidFill>
            <a:srgbClr val="FFFFFF"/>
          </a:solidFill>
          <a:ln w="15875">
            <a:solidFill>
              <a:srgbClr val="D3CEC0"/>
            </a:solidFill>
            <a:prstDash val="solid"/>
          </a:ln>
        </p:spPr>
      </p:sp>
      <p:sp>
        <p:nvSpPr>
          <p:cNvPr id="14" name="Text 12"/>
          <p:cNvSpPr txBox="1"/>
          <p:nvPr/>
        </p:nvSpPr>
        <p:spPr>
          <a:xfrm>
            <a:off x="3090672" y="2834640"/>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328416"/>
            <a:ext cx="0" cy="164592"/>
          </a:xfrm>
          <a:prstGeom prst="line">
            <a:avLst/>
          </a:prstGeom>
          <a:noFill/>
          <a:ln w="17780">
            <a:solidFill>
              <a:srgbClr val="42474C"/>
            </a:solidFill>
            <a:prstDash val="solid"/>
            <a:tailEnd type="triangle"/>
          </a:ln>
        </p:spPr>
      </p:sp>
      <p:sp>
        <p:nvSpPr>
          <p:cNvPr id="16" name="Shape 14"/>
          <p:cNvSpPr/>
          <p:nvPr/>
        </p:nvSpPr>
        <p:spPr>
          <a:xfrm>
            <a:off x="777240" y="3493008"/>
            <a:ext cx="502920" cy="676656"/>
          </a:xfrm>
          <a:prstGeom prst="rect">
            <a:avLst/>
          </a:prstGeom>
          <a:solidFill>
            <a:srgbClr val="14171A"/>
          </a:solidFill>
          <a:ln w="12700">
            <a:solidFill>
              <a:srgbClr val="14171A"/>
            </a:solidFill>
            <a:prstDash val="solid"/>
          </a:ln>
        </p:spPr>
      </p:sp>
      <p:sp>
        <p:nvSpPr>
          <p:cNvPr id="17" name="Text 15"/>
          <p:cNvSpPr txBox="1"/>
          <p:nvPr/>
        </p:nvSpPr>
        <p:spPr>
          <a:xfrm>
            <a:off x="777240" y="3675888"/>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685032"/>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493008"/>
            <a:ext cx="8503920" cy="676656"/>
          </a:xfrm>
          <a:prstGeom prst="rect">
            <a:avLst/>
          </a:prstGeom>
          <a:solidFill>
            <a:srgbClr val="FFFFFF"/>
          </a:solidFill>
          <a:ln w="15875">
            <a:solidFill>
              <a:srgbClr val="D3CEC0"/>
            </a:solidFill>
            <a:prstDash val="solid"/>
          </a:ln>
        </p:spPr>
      </p:sp>
      <p:sp>
        <p:nvSpPr>
          <p:cNvPr id="20" name="Text 18"/>
          <p:cNvSpPr txBox="1"/>
          <p:nvPr/>
        </p:nvSpPr>
        <p:spPr>
          <a:xfrm>
            <a:off x="3090672" y="3675888"/>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4169664"/>
            <a:ext cx="0" cy="164592"/>
          </a:xfrm>
          <a:prstGeom prst="line">
            <a:avLst/>
          </a:prstGeom>
          <a:noFill/>
          <a:ln w="17780">
            <a:solidFill>
              <a:srgbClr val="42474C"/>
            </a:solidFill>
            <a:prstDash val="solid"/>
            <a:tailEnd type="triangle"/>
          </a:ln>
        </p:spPr>
      </p:sp>
      <p:sp>
        <p:nvSpPr>
          <p:cNvPr id="22" name="Shape 20"/>
          <p:cNvSpPr/>
          <p:nvPr/>
        </p:nvSpPr>
        <p:spPr>
          <a:xfrm>
            <a:off x="777240" y="4334256"/>
            <a:ext cx="502920" cy="676656"/>
          </a:xfrm>
          <a:prstGeom prst="rect">
            <a:avLst/>
          </a:prstGeom>
          <a:solidFill>
            <a:srgbClr val="14171A"/>
          </a:solidFill>
          <a:ln w="12700">
            <a:solidFill>
              <a:srgbClr val="14171A"/>
            </a:solidFill>
            <a:prstDash val="solid"/>
          </a:ln>
        </p:spPr>
      </p:sp>
      <p:sp>
        <p:nvSpPr>
          <p:cNvPr id="23" name="Text 21"/>
          <p:cNvSpPr txBox="1"/>
          <p:nvPr/>
        </p:nvSpPr>
        <p:spPr>
          <a:xfrm>
            <a:off x="777240" y="4517136"/>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526280"/>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334256"/>
            <a:ext cx="8503920" cy="676656"/>
          </a:xfrm>
          <a:prstGeom prst="rect">
            <a:avLst/>
          </a:prstGeom>
          <a:solidFill>
            <a:srgbClr val="FFFFFF"/>
          </a:solidFill>
          <a:ln w="15875">
            <a:solidFill>
              <a:srgbClr val="D3CEC0"/>
            </a:solidFill>
            <a:prstDash val="solid"/>
          </a:ln>
        </p:spPr>
      </p:sp>
      <p:sp>
        <p:nvSpPr>
          <p:cNvPr id="26" name="Text 24"/>
          <p:cNvSpPr txBox="1"/>
          <p:nvPr/>
        </p:nvSpPr>
        <p:spPr>
          <a:xfrm>
            <a:off x="3090672" y="4517136"/>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5010912"/>
            <a:ext cx="0" cy="164592"/>
          </a:xfrm>
          <a:prstGeom prst="line">
            <a:avLst/>
          </a:prstGeom>
          <a:noFill/>
          <a:ln w="17780">
            <a:solidFill>
              <a:srgbClr val="42474C"/>
            </a:solidFill>
            <a:prstDash val="solid"/>
            <a:tailEnd type="triangle"/>
          </a:ln>
        </p:spPr>
      </p:sp>
      <p:sp>
        <p:nvSpPr>
          <p:cNvPr id="28" name="Shape 26"/>
          <p:cNvSpPr/>
          <p:nvPr/>
        </p:nvSpPr>
        <p:spPr>
          <a:xfrm>
            <a:off x="777240" y="5175504"/>
            <a:ext cx="502920" cy="676656"/>
          </a:xfrm>
          <a:prstGeom prst="rect">
            <a:avLst/>
          </a:prstGeom>
          <a:solidFill>
            <a:srgbClr val="C9A227"/>
          </a:solidFill>
          <a:ln w="12700">
            <a:solidFill>
              <a:srgbClr val="C9A227"/>
            </a:solidFill>
            <a:prstDash val="solid"/>
          </a:ln>
        </p:spPr>
      </p:sp>
      <p:sp>
        <p:nvSpPr>
          <p:cNvPr id="29" name="Text 27"/>
          <p:cNvSpPr txBox="1"/>
          <p:nvPr/>
        </p:nvSpPr>
        <p:spPr>
          <a:xfrm>
            <a:off x="777240" y="535838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36752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5175504"/>
            <a:ext cx="8503920" cy="676656"/>
          </a:xfrm>
          <a:prstGeom prst="rect">
            <a:avLst/>
          </a:prstGeom>
          <a:solidFill>
            <a:srgbClr val="FFFFFF"/>
          </a:solidFill>
          <a:ln w="15875">
            <a:solidFill>
              <a:srgbClr val="D3CEC0"/>
            </a:solidFill>
            <a:prstDash val="solid"/>
          </a:ln>
        </p:spPr>
      </p:sp>
      <p:sp>
        <p:nvSpPr>
          <p:cNvPr id="32" name="Text 30"/>
          <p:cNvSpPr txBox="1"/>
          <p:nvPr/>
        </p:nvSpPr>
        <p:spPr>
          <a:xfrm>
            <a:off x="3090672" y="53583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contain no inference at all. The cheapest system is the one that does not ask a model a question it already knows the answer to.</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awaiting carrier</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will not send. Agreeing in writing days later is not the same as choosing in the moment.</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alphabet leaves out O 0 I 1 S 5, the characters people confuse on a cracked screen or read aloud. An accessibility decision inside a cryptographic one.</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 is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Not encrypted. Not permission-restricted. Absent.</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 is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 not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 not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Each one now has a check that fails the build if it ever comes back.</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 not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cannot inspect media. So it could not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cannot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An incomplete is not a pass. Reporting it as one would have been the easiest lie in the submission.</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 not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 not.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check that lies to you is worse than no check. So --selftest breaks four of them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 not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 is deterministic, it is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124 Apex   |   494 invariants   |   333 accessibility   |   131 Sa11y   |   28 contrast   |   16 reading level   |   all passing, every build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 not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 not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messaging is not carrier registered.</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A2P 10DLC gates SMS from a ten digit number. Voice on the same number needs none and works today.</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Slack app has never met a real workspace.</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Apex behind it is live and verified. The handshake is not.</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system that claims a perfect score against its own adversarial suite is telling you about its suite, not its agent.</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 not happened, and why that is over.</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 not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cannot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 not safer. It is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assumed disclosure first.</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start from a diagnosis field. Building one without it meant building something new, and nobody had.</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is malice. All of it was a reason. From today none of it is an excuse, because the thing exists, it is open, and it costs nothing to try.</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Free for the first ten. Here is the price.</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No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we ask instead of money</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175504"/>
            <a:ext cx="10607040" cy="603504"/>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 not asking for a case study or a logo. Those five things are what actually makes an accommodation arrive, and an organisation unwilling to do them would not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The first ten will find that out on their own data, in public, and then nobody gets to say it was the money.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against 65.2%</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30% have one, 3.2% tell</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US college-educated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83% of those who told say it helped</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same study</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 not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494</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124</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333</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Nothing in this deck is asserted from memory. Every figure was read from the deployed org, or from the run that produced it.</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494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124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333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2026-09-04T19:06:11Z</dcterms:created>
  <dcterms:modified xsi:type="dcterms:W3CDTF">2026-09-04T19:06:11Z</dcterms:modified>
</cp:coreProperties>
</file>