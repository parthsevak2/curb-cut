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second line, then stop. Let the room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once. Do not explain it. This is a real person, not 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moral argument. Do not rush it and do not soften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the standing preference exists for. Call back to 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live: set on the web, queried over SMS, revoked from Slack.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seconds of silence here. No music underneath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"They only have to be able to ask."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01168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100" kern="0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CURB CUT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089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C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Accommodation without disclosure.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803904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9B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for asking is itself the barrier.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6035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Agentforce for Good   |   Dreamforce 2026   |   Builder Track   |   Abilityforce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65836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E8C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048256"/>
            <a:ext cx="10424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i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wish we had a percent sick number on our forehead, so others could have something tangible to understand what we are going through.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51206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participant, quoted in Ganesh and Lazar, "The Work of Workplace Disclosure",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Proceedings of the ACM on Human-Computer Interaction, 2021.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THAT SENTENCE IS ASKING FOR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be believed without having to prove it.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6309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not asking for sympathy.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asking for a way to communicate one fact about her body without spending herself doing it, to people who will not believe her without evidence she should never have had to hand over.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percent sick number. What there is, in almost every workplace, is a form.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498080" y="1783080"/>
            <a:ext cx="3886200" cy="2240280"/>
          </a:xfrm>
          <a:prstGeom prst="rect">
            <a:avLst/>
          </a:prstGeom>
          <a:solidFill>
            <a:srgbClr val="FFFFFF"/>
          </a:solidFill>
          <a:ln w="25400">
            <a:solidFill>
              <a:srgbClr val="8A2F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0" y="2057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of disability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772400" y="2505456"/>
            <a:ext cx="3291840" cy="475488"/>
          </a:xfrm>
          <a:prstGeom prst="rect">
            <a:avLst/>
          </a:prstGeom>
          <a:solidFill>
            <a:srgbClr val="F5F3ED"/>
          </a:solidFill>
          <a:ln w="12700">
            <a:solidFill>
              <a:srgbClr val="D3CEC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82128" y="2596896"/>
            <a:ext cx="18288" cy="274320"/>
          </a:xfrm>
          <a:prstGeom prst="rect">
            <a:avLst/>
          </a:prstGeom>
          <a:solidFill>
            <a:srgbClr val="14171A"/>
          </a:solidFill>
          <a:ln w="12700">
            <a:solidFill>
              <a:srgbClr val="1417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0" y="30906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2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34290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247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after this slide is about that box.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want to understand her. It wants a diagnosis, in writing, for somebody who will still be her manager on Monday.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THIS IS NOT A SMALL THING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roadblock is not one bad day.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12064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19293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ends careers quietly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231343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fired for needing an hour moved. They just stop being considered, stop being staffed, stop being asked.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12064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4808" y="19293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compounds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64808" y="231343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lost is a reference lost, a gap on a CV, a mortgage refused. The roadblock is one afternoon. The consequence is a decade.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383280"/>
            <a:ext cx="512064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5295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almost always man-made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978408" y="391363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condition. The form, the login, the policy nobody can find, the manager who needs proof.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383280"/>
            <a:ext cx="512064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4808" y="352958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reaches past the person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4808" y="391363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family. Their kids. The income that pays for the thing that would have helped.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say everyone is equal. In a market, everyone is a transaction. It should not take a dataset to argue that a person is worth an hour of flexibility. Here is the dataset anyway.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things, in order.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A66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783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telling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81965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disclosure takes out of a person, in their own words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706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A66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770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80720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Statistics Canada, US Bureau of Labor Statistics, and the study that measures the gap directly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58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A66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7581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379476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architecture, the channel layer, and the three rules the system will not break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7457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9A66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47457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part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4782312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wrong, what still fails, and what we measured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is verifiable against a deployed org. The commands are on the last slide.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54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telling</a:t>
            </a:r>
            <a:endParaRPr lang="en-US" sz="4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658368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E8C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048256"/>
            <a:ext cx="10424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300" i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...having to sit down and explain it six times a day to twenty different people adds to that exhaustion.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51206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participant, quoted in Ganesh and Lazar, "The Work of Workplace Disclosure",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Proceedings of the ACM on Human-Computer Interaction, 2021.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THE COST OF TELLING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is never one conversation.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1892808"/>
            <a:ext cx="54864" cy="38404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new manager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181051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explanation again from nothing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679192"/>
            <a:ext cx="54864" cy="38404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56946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new 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5968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to be taught what the condition means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54864" cy="38404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3558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meeting host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3832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same request, said the same way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" y="4251960"/>
            <a:ext cx="54864" cy="38404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1422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reorganisation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480560" y="416966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resets it, and there are two a year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77240" y="5038344"/>
            <a:ext cx="54864" cy="384048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9286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single time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495604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risks being believed a little less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Researchers call this the educational labour of disclosure. It falls entirely on the person who is already tired.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41908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Ganesh and Lazar, Proceedings of the ACM on Human-Computer Interaction, 2021. Eight interview participants with invisible chronic conditions.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54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41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sources. They narrow rather than contradict.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THE EVIDENCE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people, and by whose count.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25146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385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1.3bn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6151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of the world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disability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WHO, 2022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520440" y="1783080"/>
            <a:ext cx="25146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03320" y="19385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6151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Canadians 15+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more disabilities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Statistics Canada, 2022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63640" y="1783080"/>
            <a:ext cx="25146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9385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22.8%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6151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employed, against 65.2%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people with a disability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 BLS, 2025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06840" y="1783080"/>
            <a:ext cx="25146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19385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9189720" y="261518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white-collar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89720" y="30175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federal definition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Coqual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3434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disagree because they count different things. WHO measures significant disability. The national definitions are broader.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gap is the argument, not a flaw in it. The wider the definition, the more people find they are counted, and the more of them have never told anyone at work.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641908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who.int  |  statcan.gc.ca Canadian Survey on Disability 2022  |  bls.gov Current Population Survey, about 60,000 households monthly  |  coqual.org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THE EVIDENCE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common unmet need costs nothing.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45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asked employed Canadians with disabilities what accommodation they needed, and whether they got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5067605" cy="365760"/>
          </a:xfrm>
          <a:prstGeom prst="rect">
            <a:avLst/>
          </a:prstGeom>
          <a:solidFill>
            <a:srgbClr val="C9A227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6968" y="21854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16.3%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1762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work hours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9264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55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77240" y="2715768"/>
            <a:ext cx="3606394" cy="365760"/>
          </a:xfrm>
          <a:prstGeom prst="rect">
            <a:avLst/>
          </a:prstGeom>
          <a:solidFill>
            <a:srgbClr val="C9A227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75234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11.6%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or different duties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55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3282696"/>
            <a:ext cx="3388766" cy="365760"/>
          </a:xfrm>
          <a:prstGeom prst="rect">
            <a:avLst/>
          </a:prstGeom>
          <a:solidFill>
            <a:srgbClr val="C9A227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6968" y="33192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10.9%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310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from home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33284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55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7240" y="3849624"/>
            <a:ext cx="3326587" cy="365760"/>
          </a:xfrm>
          <a:prstGeom prst="rect">
            <a:avLst/>
          </a:prstGeom>
          <a:solidFill>
            <a:srgbClr val="E7E3D8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6968" y="3886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10.7%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8770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or ergonomic workstation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9692640" y="389534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one-time cost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77240" y="4416552"/>
            <a:ext cx="3202229" cy="365760"/>
          </a:xfrm>
          <a:prstGeom prst="rect">
            <a:avLst/>
          </a:prstGeom>
          <a:solidFill>
            <a:srgbClr val="E7E3D8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45312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10.3%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44439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chair or back support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692640" y="44622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one-time cost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120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35.4% of employed Canadians with disabilities have an UNMET accommodation need.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five are in our library. The top three need somebody to say yes, and nothing else.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641908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Statistics Canada, Canadian Survey on Disability 2022. Job Accommodation Network: 61% of accommodations priced cost the employer nothing, n=1,425 of 5,406 respondents. 12% were reported ineffective, and we publish that too.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54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41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whose principal is the worker, not the employer.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REFERENCE ARCHITECTURE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layers. One of them is deliberately empty.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371600" cy="658368"/>
          </a:xfrm>
          <a:prstGeom prst="rect">
            <a:avLst/>
          </a:prstGeom>
          <a:solidFill>
            <a:srgbClr val="14171A"/>
          </a:solidFill>
          <a:ln w="12700">
            <a:solidFill>
              <a:srgbClr val="1417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842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F7F5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1783080"/>
            <a:ext cx="91440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50592" y="1984248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web  ·  Voice  ·  Text  ·  Email  ·  Slack DM  ·  Any MCP assistant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108960" y="2441448"/>
            <a:ext cx="0" cy="182880"/>
          </a:xfrm>
          <a:prstGeom prst="line">
            <a:avLst/>
          </a:prstGeom>
          <a:noFill/>
          <a:ln w="17780">
            <a:solidFill>
              <a:srgbClr val="42474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7240" y="2624328"/>
            <a:ext cx="1371600" cy="658368"/>
          </a:xfrm>
          <a:prstGeom prst="rect">
            <a:avLst/>
          </a:prstGeom>
          <a:solidFill>
            <a:srgbClr val="14171A"/>
          </a:solidFill>
          <a:ln w="12700">
            <a:solidFill>
              <a:srgbClr val="1417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825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F7F5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40280" y="2624328"/>
            <a:ext cx="91440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50592" y="2825496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CurbCutKeyword. About 70 phrases resolved before any inference happens.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108960" y="3282696"/>
            <a:ext cx="0" cy="182880"/>
          </a:xfrm>
          <a:prstGeom prst="line">
            <a:avLst/>
          </a:prstGeom>
          <a:noFill/>
          <a:ln w="17780">
            <a:solidFill>
              <a:srgbClr val="42474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7240" y="3465576"/>
            <a:ext cx="1371600" cy="658368"/>
          </a:xfrm>
          <a:prstGeom prst="rect">
            <a:avLst/>
          </a:prstGeom>
          <a:solidFill>
            <a:srgbClr val="14171A"/>
          </a:solidFill>
          <a:ln w="12700">
            <a:solidFill>
              <a:srgbClr val="14171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6667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F7F5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DOOR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240280" y="3465576"/>
            <a:ext cx="91440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50592" y="3666744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CurbCutChannelApi. One authenticated Apex REST endpoint every channel shares.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108960" y="4123944"/>
            <a:ext cx="0" cy="182880"/>
          </a:xfrm>
          <a:prstGeom prst="line">
            <a:avLst/>
          </a:prstGeom>
          <a:noFill/>
          <a:ln w="17780">
            <a:solidFill>
              <a:srgbClr val="42474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7240" y="4306824"/>
            <a:ext cx="1371600" cy="658368"/>
          </a:xfrm>
          <a:prstGeom prst="rect">
            <a:avLst/>
          </a:prstGeom>
          <a:solidFill>
            <a:srgbClr val="14171A"/>
          </a:solidFill>
          <a:ln w="12700">
            <a:solidFill>
              <a:srgbClr val="14171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5079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F7F5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LOGIC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4306824"/>
            <a:ext cx="91440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450592" y="4507992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ranker  ·  Redaction  ·  Consent gate  ·  Handoff  ·  Standing preference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108960" y="4965192"/>
            <a:ext cx="0" cy="182880"/>
          </a:xfrm>
          <a:prstGeom prst="line">
            <a:avLst/>
          </a:prstGeom>
          <a:noFill/>
          <a:ln w="17780">
            <a:solidFill>
              <a:srgbClr val="42474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77240" y="5148072"/>
            <a:ext cx="1371600" cy="658368"/>
          </a:xfrm>
          <a:prstGeom prst="rect">
            <a:avLst/>
          </a:prstGeom>
          <a:solidFill>
            <a:srgbClr val="E7E3D8"/>
          </a:solidFill>
          <a:ln w="12700">
            <a:solidFill>
              <a:srgbClr val="D3CEC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49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40280" y="5148072"/>
            <a:ext cx="91440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D3CE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450592" y="534924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objects, 61 fields, a delivery ledger, and no field for a diagnosis.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sits inside LOGIC and nowhere else. It may choose an action and phrase a reply. It may not invent an accommodation, a cost, or a precedent.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CHANNEL SWIM LANES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contract, whichever door she comes through.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2880360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word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880360" y="1938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resolved in Apex</a:t>
            </a:r>
            <a:endParaRPr lang="en-US" sz="850" dirty="0"/>
          </a:p>
        </p:txBody>
      </p:sp>
      <p:sp>
        <p:nvSpPr>
          <p:cNvPr id="6" name="Text 4"/>
          <p:cNvSpPr txBox="1"/>
          <p:nvPr/>
        </p:nvSpPr>
        <p:spPr>
          <a:xfrm>
            <a:off x="4690872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options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690872" y="1938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28 sourced rows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501384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request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01384" y="1938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her own words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311896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it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311896" y="1938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on a clear yes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0122408" y="1691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or signed video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0122408" y="19385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 human interpreter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77240" y="2331720"/>
            <a:ext cx="10607040" cy="493776"/>
          </a:xfrm>
          <a:prstGeom prst="rect">
            <a:avLst/>
          </a:prstGeom>
          <a:solidFill>
            <a:srgbClr val="F5F3ED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24505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24780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anonymous, no login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429000" y="246888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39512" y="246888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50024" y="246888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860536" y="246888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671048" y="246888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2898648"/>
            <a:ext cx="106070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0175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920240" y="30449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live, no registration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410712" y="3145536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39512" y="3035808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31736" y="3145536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42248" y="3145536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52760" y="3145536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3465576"/>
            <a:ext cx="10607040" cy="493776"/>
          </a:xfrm>
          <a:prstGeom prst="rect">
            <a:avLst/>
          </a:prstGeom>
          <a:solidFill>
            <a:srgbClr val="F5F3ED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4400" y="35844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1920240" y="36118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awaiting carrier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429000" y="3602736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39512" y="3602736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50024" y="3602736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60536" y="3602736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652760" y="3712464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7240" y="4032504"/>
            <a:ext cx="106070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14400" y="415137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1920240" y="41788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answers, never sends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429000" y="4169664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239512" y="4169664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031736" y="4279392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42248" y="4279392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671048" y="4169664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7240" y="4599432"/>
            <a:ext cx="10607040" cy="493776"/>
          </a:xfrm>
          <a:prstGeom prst="rect">
            <a:avLst/>
          </a:prstGeom>
          <a:solidFill>
            <a:srgbClr val="F5F3ED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471830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192024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 only, never sends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429000" y="4736592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239512" y="4736592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031736" y="4846320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842248" y="4846320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652760" y="4846320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7240" y="5166360"/>
            <a:ext cx="1060704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D3CEC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4400" y="52852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250" dirty="0"/>
          </a:p>
        </p:txBody>
      </p:sp>
      <p:sp>
        <p:nvSpPr>
          <p:cNvPr id="56" name="Text 54"/>
          <p:cNvSpPr txBox="1"/>
          <p:nvPr/>
        </p:nvSpPr>
        <p:spPr>
          <a:xfrm>
            <a:off x="1920240" y="53126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 assistants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429000" y="530352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239512" y="530352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050024" y="5303520"/>
            <a:ext cx="219456" cy="219456"/>
          </a:xfrm>
          <a:prstGeom prst="ellipse">
            <a:avLst/>
          </a:prstGeom>
          <a:solidFill>
            <a:srgbClr val="1F5546"/>
          </a:solidFill>
          <a:ln w="12700">
            <a:solidFill>
              <a:srgbClr val="1F554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842248" y="5413248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0652760" y="5413248"/>
            <a:ext cx="256032" cy="0"/>
          </a:xfrm>
          <a:prstGeom prst="line">
            <a:avLst/>
          </a:prstGeom>
          <a:noFill/>
          <a:ln w="25400">
            <a:solidFill>
              <a:srgbClr val="D3CEC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and Slack deliberately will not send. Agreeing in writing days later is not the same as choosing in the moment.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SAID ONCE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Said once, instead of six times a day.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45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4247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"...having to sit down and explain it six times a day to twenty different people."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512064" cy="51206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86584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443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writes it once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38144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own words, never a category from a dropdown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55848" y="2542032"/>
            <a:ext cx="137160" cy="0"/>
          </a:xfrm>
          <a:prstGeom prst="line">
            <a:avLst/>
          </a:prstGeom>
          <a:noFill/>
          <a:ln w="17780">
            <a:solidFill>
              <a:srgbClr val="42474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20440" y="2286000"/>
            <a:ext cx="512064" cy="51206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20440" y="2386584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9443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chooses who sees 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3438144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manager only, or meeting hosts, or her team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99048" y="2542032"/>
            <a:ext cx="137160" cy="0"/>
          </a:xfrm>
          <a:prstGeom prst="line">
            <a:avLst/>
          </a:prstGeom>
          <a:noFill/>
          <a:ln w="17780">
            <a:solidFill>
              <a:srgbClr val="42474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63640" y="2286000"/>
            <a:ext cx="512064" cy="51206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63640" y="2386584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9443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gets six characters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438144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once, because we hold no account for her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42248" y="2542032"/>
            <a:ext cx="137160" cy="0"/>
          </a:xfrm>
          <a:prstGeom prst="line">
            <a:avLst/>
          </a:prstGeom>
          <a:noFill/>
          <a:ln w="17780">
            <a:solidFill>
              <a:srgbClr val="42474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06840" y="2286000"/>
            <a:ext cx="512064" cy="512064"/>
          </a:xfrm>
          <a:prstGeom prst="ellipse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06840" y="2386584"/>
            <a:ext cx="512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29443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can take it back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006840" y="3438144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any channel, immediately, no reason asked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45720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spent code and a wrong code return the same answer, so nobody can use this to test whether a stranger’s disclosure is still live.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alphabet leaves out O 0 I 1 S 5, the characters people confuse on a cracked screen or read aloud. An accessibility decision inside a cryptographic one.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RESPONSIBLE AI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field for a diagnosis.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00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encrypted. Not permission-restricted. Absent.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50292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9050">
            <a:solidFill>
              <a:srgbClr val="1F55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F55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578608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Functional_Description__c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Inbound_Modality__c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Interpreter_Needed__c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417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Anonymous__c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55080" y="2103120"/>
            <a:ext cx="50292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9050">
            <a:solidFill>
              <a:srgbClr val="8A2F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ABSENT, AND ENFORCED ABSENT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578608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strike="sngStrike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Diagnosis__c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strike="sngStrike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Condition__c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strike="sngStrike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Disability_Type__c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strike="sngStrike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Medical_Note__c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strike="sngStrike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Severity__c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strike="sngStrike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Prognosis__c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63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matches across 61 fields in 9 objects. A build fails if anyone adds one.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Encryption defends against outsiders. Absence defends against the organisation holding the data, which is the actual adversary. A manager with legitimate access can still read an encrypted field.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THE REFUSAL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14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9B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manager asks the system what is wrong with her.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544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"No. And not because of a permission setting."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060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8D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field for a diagnosis, condition, disability type, medical note, severity or prognosis anywhere in this system. Nobody holds that, including the person who built it, and the person you are helping was never asked.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062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i="1" dirty="0">
                <a:solidFill>
                  <a:srgbClr val="E8C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manager who asks you gets the same answer, and you can tell them it came from the system rather than from you."</a:t>
            </a:r>
            <a:endParaRPr lang="en-US" sz="18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refusal protects the person answering, too. That clause took longest to get right.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C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546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part</a:t>
            </a:r>
            <a:endParaRPr lang="en-US" sz="41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114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0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shipped wrong, and what still fails.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8A2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we shipped that were wrong.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54864" cy="1051560"/>
          </a:xfrm>
          <a:prstGeom prst="rect">
            <a:avLst/>
          </a:prstGeom>
          <a:solidFill>
            <a:srgbClr val="8A2F24"/>
          </a:solidFill>
          <a:ln w="12700">
            <a:solidFill>
              <a:srgbClr val="8A2F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did nothing.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43400" y="1783080"/>
            <a:ext cx="7040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control words were printed in our own copy and routed nowhere. The word that withdraws a disclosure returned "I do not have good information on that", and the sharing stayed 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" y="3081528"/>
            <a:ext cx="54864" cy="1051560"/>
          </a:xfrm>
          <a:prstGeom prst="rect">
            <a:avLst/>
          </a:prstGeom>
          <a:solidFill>
            <a:srgbClr val="8A2F24"/>
          </a:solidFill>
          <a:ln w="12700">
            <a:solidFill>
              <a:srgbClr val="8A2F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08152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privacy policy was false.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081528"/>
            <a:ext cx="7040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said a volunteered condition "is not written to any record". It was stored word for word. Now stripped before the insert, with the claim rewritten to state its limit.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4379976"/>
            <a:ext cx="54864" cy="1051560"/>
          </a:xfrm>
          <a:prstGeom prst="rect">
            <a:avLst/>
          </a:prstGeom>
          <a:solidFill>
            <a:srgbClr val="8A2F24"/>
          </a:solidFill>
          <a:ln w="12700">
            <a:solidFill>
              <a:srgbClr val="8A2F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43799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2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Silence read as success.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343400" y="4379976"/>
            <a:ext cx="70408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adversarial scorer exited zero with every assertion inconclusive. It printed "silence must never read as success" and then did exactly that.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one now has a check that fails the build if it ever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23. Three runs. Same score every time.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5577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assertion fails on every run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 not reliably say out loud that it discarded a volunteered condition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failure alternates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build, same prompts, different answers, run to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783080"/>
            <a:ext cx="461772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1F554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22592" y="19933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55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is deterministic, it is 100%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022592" y="2487168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7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channels that compose their reply in Apex, web, text, email and Slack, say it every single time. Pinned by a test that exercises all four.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206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"Good" is 23 of 23 with zero variance across five runs. Getting there means moving anything safety critical out of the model’s narration and into code that runs whether or not it remembers.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212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247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124 Apex tests   |   491 structural invariants   |   333 accessibility checks   |   28 contrast   |   16 reading level   |   all passing, every build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65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1323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still wrong.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screen-reader user has tested this.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1783080"/>
            <a:ext cx="6355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accessibility claim is machine or browser verified, which is not the same as a person using it. One session with somebody who uses one daily is worth more than the next five features.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432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agent’s narration is nondeterministic.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743200"/>
            <a:ext cx="6355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rewrites what an action returns rather than relaying it. Three separate fixes did not move it.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03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messaging is not carrier registered.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3703320"/>
            <a:ext cx="6355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A2P 10DLC gates SMS from a ten digit number. Voice on the same number needs none and works today.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6634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7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Slack app has never met a real workspace.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4663440"/>
            <a:ext cx="6355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24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Apex behind it is live and verified. The handshake is not.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742432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66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claims a perfect score against its own adversarial suite is telling you about its suite, not its agent.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02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916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7F5E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still no percent sick number.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6974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DA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does not need to be. Nobody should have to prove anything to get a chair that does not hurt, an hour moved, or captions turned on.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840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E8C8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only have to be able to ask.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846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 anything in this deck: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138928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8D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tests/invariants.py          491 checks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 apex run test -l RunLocalTests     124 tests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8DA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tests/a11y_audit.py          333 checks, against the live pages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0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orgfarm-7a04c62cb9.my.salesforce-sites.com/curbcut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Curb Cut</dc:title>
  <dc:subject>PptxGenJS Presentation</dc:subject>
  <dc:creator>Parth Sevak</dc:creator>
  <cp:lastModifiedBy>Parth Sevak</cp:lastModifiedBy>
  <cp:revision>1</cp:revision>
  <dcterms:created xsi:type="dcterms:W3CDTF">2026-09-04T16:48:53Z</dcterms:created>
  <dcterms:modified xsi:type="dcterms:W3CDTF">2026-09-04T16:48:53Z</dcterms:modified>
</cp:coreProperties>
</file>