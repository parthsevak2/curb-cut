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 not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 not rush it and do not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 not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 is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 not occasional. It is a standing condition of the job, and the price of getting it wrong is not an awkward moment. It is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 is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 not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 not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is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The form, the login, the policy nobody can find,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 not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Four things, in order.</a:t>
            </a:r>
            <a:endParaRPr lang="en-US" sz="3300" dirty="0"/>
          </a:p>
        </p:txBody>
      </p:sp>
      <p:sp>
        <p:nvSpPr>
          <p:cNvPr id="4" name="Text 2"/>
          <p:cNvSpPr txBox="1"/>
          <p:nvPr/>
        </p:nvSpPr>
        <p:spPr>
          <a:xfrm>
            <a:off x="777240" y="1783080"/>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01</a:t>
            </a:r>
            <a:endParaRPr lang="en-US" sz="2100" dirty="0"/>
          </a:p>
        </p:txBody>
      </p:sp>
      <p:sp>
        <p:nvSpPr>
          <p:cNvPr id="5" name="Text 3"/>
          <p:cNvSpPr txBox="1"/>
          <p:nvPr/>
        </p:nvSpPr>
        <p:spPr>
          <a:xfrm>
            <a:off x="1645920" y="1783080"/>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cost of telling</a:t>
            </a:r>
            <a:endParaRPr lang="en-US" sz="1800" dirty="0"/>
          </a:p>
        </p:txBody>
      </p:sp>
      <p:sp>
        <p:nvSpPr>
          <p:cNvPr id="6" name="Text 4"/>
          <p:cNvSpPr txBox="1"/>
          <p:nvPr/>
        </p:nvSpPr>
        <p:spPr>
          <a:xfrm>
            <a:off x="4846320" y="1819656"/>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300" dirty="0"/>
          </a:p>
        </p:txBody>
      </p:sp>
      <p:sp>
        <p:nvSpPr>
          <p:cNvPr id="7" name="Text 5"/>
          <p:cNvSpPr txBox="1"/>
          <p:nvPr/>
        </p:nvSpPr>
        <p:spPr>
          <a:xfrm>
            <a:off x="777240" y="2770632"/>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02</a:t>
            </a:r>
            <a:endParaRPr lang="en-US" sz="2100" dirty="0"/>
          </a:p>
        </p:txBody>
      </p:sp>
      <p:sp>
        <p:nvSpPr>
          <p:cNvPr id="8" name="Text 6"/>
          <p:cNvSpPr txBox="1"/>
          <p:nvPr/>
        </p:nvSpPr>
        <p:spPr>
          <a:xfrm>
            <a:off x="1645920" y="2770632"/>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evidence</a:t>
            </a:r>
            <a:endParaRPr lang="en-US" sz="1800" dirty="0"/>
          </a:p>
        </p:txBody>
      </p:sp>
      <p:sp>
        <p:nvSpPr>
          <p:cNvPr id="9" name="Text 7"/>
          <p:cNvSpPr txBox="1"/>
          <p:nvPr/>
        </p:nvSpPr>
        <p:spPr>
          <a:xfrm>
            <a:off x="4846320" y="2807208"/>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300" dirty="0"/>
          </a:p>
        </p:txBody>
      </p:sp>
      <p:sp>
        <p:nvSpPr>
          <p:cNvPr id="10" name="Text 8"/>
          <p:cNvSpPr txBox="1"/>
          <p:nvPr/>
        </p:nvSpPr>
        <p:spPr>
          <a:xfrm>
            <a:off x="777240" y="3758184"/>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03</a:t>
            </a:r>
            <a:endParaRPr lang="en-US" sz="2100" dirty="0"/>
          </a:p>
        </p:txBody>
      </p:sp>
      <p:sp>
        <p:nvSpPr>
          <p:cNvPr id="11" name="Text 9"/>
          <p:cNvSpPr txBox="1"/>
          <p:nvPr/>
        </p:nvSpPr>
        <p:spPr>
          <a:xfrm>
            <a:off x="1645920" y="3758184"/>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build</a:t>
            </a:r>
            <a:endParaRPr lang="en-US" sz="1800" dirty="0"/>
          </a:p>
        </p:txBody>
      </p:sp>
      <p:sp>
        <p:nvSpPr>
          <p:cNvPr id="12" name="Text 10"/>
          <p:cNvSpPr txBox="1"/>
          <p:nvPr/>
        </p:nvSpPr>
        <p:spPr>
          <a:xfrm>
            <a:off x="4846320" y="3794760"/>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Reference architecture, the channel layer, and the three rules the system will not break</a:t>
            </a:r>
            <a:endParaRPr lang="en-US" sz="1300" dirty="0"/>
          </a:p>
        </p:txBody>
      </p:sp>
      <p:sp>
        <p:nvSpPr>
          <p:cNvPr id="13" name="Text 11"/>
          <p:cNvSpPr txBox="1"/>
          <p:nvPr/>
        </p:nvSpPr>
        <p:spPr>
          <a:xfrm>
            <a:off x="777240" y="4745736"/>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04</a:t>
            </a:r>
            <a:endParaRPr lang="en-US" sz="2100" dirty="0"/>
          </a:p>
        </p:txBody>
      </p:sp>
      <p:sp>
        <p:nvSpPr>
          <p:cNvPr id="14" name="Text 12"/>
          <p:cNvSpPr txBox="1"/>
          <p:nvPr/>
        </p:nvSpPr>
        <p:spPr>
          <a:xfrm>
            <a:off x="1645920" y="4745736"/>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honest part</a:t>
            </a:r>
            <a:endParaRPr lang="en-US" sz="1800" dirty="0"/>
          </a:p>
        </p:txBody>
      </p:sp>
      <p:sp>
        <p:nvSpPr>
          <p:cNvPr id="15" name="Text 13"/>
          <p:cNvSpPr txBox="1"/>
          <p:nvPr/>
        </p:nvSpPr>
        <p:spPr>
          <a:xfrm>
            <a:off x="4846320" y="4782312"/>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What we shipped wrong, what still fails, and what we measured</a:t>
            </a:r>
            <a:endParaRPr lang="en-US" sz="13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 not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 is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 not a spending gap. It is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83080"/>
            <a:ext cx="1371600" cy="658368"/>
          </a:xfrm>
          <a:prstGeom prst="rect">
            <a:avLst/>
          </a:prstGeom>
          <a:solidFill>
            <a:srgbClr val="14171A"/>
          </a:solidFill>
          <a:ln w="12700">
            <a:solidFill>
              <a:srgbClr val="14171A"/>
            </a:solidFill>
            <a:prstDash val="solid"/>
          </a:ln>
        </p:spPr>
      </p:sp>
      <p:sp>
        <p:nvSpPr>
          <p:cNvPr id="5" name="Text 3"/>
          <p:cNvSpPr txBox="1"/>
          <p:nvPr/>
        </p:nvSpPr>
        <p:spPr>
          <a:xfrm>
            <a:off x="777240" y="1984248"/>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83080"/>
            <a:ext cx="9144000" cy="658368"/>
          </a:xfrm>
          <a:prstGeom prst="rect">
            <a:avLst/>
          </a:prstGeom>
          <a:solidFill>
            <a:srgbClr val="FFFFFF"/>
          </a:solidFill>
          <a:ln w="15875">
            <a:solidFill>
              <a:srgbClr val="D3CEC0"/>
            </a:solidFill>
            <a:prstDash val="solid"/>
          </a:ln>
        </p:spPr>
      </p:sp>
      <p:sp>
        <p:nvSpPr>
          <p:cNvPr id="7" name="Text 5"/>
          <p:cNvSpPr txBox="1"/>
          <p:nvPr/>
        </p:nvSpPr>
        <p:spPr>
          <a:xfrm>
            <a:off x="2450592" y="1984248"/>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441448"/>
            <a:ext cx="0" cy="182880"/>
          </a:xfrm>
          <a:prstGeom prst="line">
            <a:avLst/>
          </a:prstGeom>
          <a:noFill/>
          <a:ln w="17780">
            <a:solidFill>
              <a:srgbClr val="42474C"/>
            </a:solidFill>
            <a:prstDash val="solid"/>
            <a:tailEnd type="triangle"/>
          </a:ln>
        </p:spPr>
      </p:sp>
      <p:sp>
        <p:nvSpPr>
          <p:cNvPr id="9" name="Shape 7"/>
          <p:cNvSpPr/>
          <p:nvPr/>
        </p:nvSpPr>
        <p:spPr>
          <a:xfrm>
            <a:off x="777240" y="2624328"/>
            <a:ext cx="1371600" cy="658368"/>
          </a:xfrm>
          <a:prstGeom prst="rect">
            <a:avLst/>
          </a:prstGeom>
          <a:solidFill>
            <a:srgbClr val="14171A"/>
          </a:solidFill>
          <a:ln w="12700">
            <a:solidFill>
              <a:srgbClr val="14171A"/>
            </a:solidFill>
            <a:prstDash val="solid"/>
          </a:ln>
        </p:spPr>
      </p:sp>
      <p:sp>
        <p:nvSpPr>
          <p:cNvPr id="10" name="Text 8"/>
          <p:cNvSpPr txBox="1"/>
          <p:nvPr/>
        </p:nvSpPr>
        <p:spPr>
          <a:xfrm>
            <a:off x="777240" y="2825496"/>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624328"/>
            <a:ext cx="9144000" cy="658368"/>
          </a:xfrm>
          <a:prstGeom prst="rect">
            <a:avLst/>
          </a:prstGeom>
          <a:solidFill>
            <a:srgbClr val="FFFFFF"/>
          </a:solidFill>
          <a:ln w="15875">
            <a:solidFill>
              <a:srgbClr val="D3CEC0"/>
            </a:solidFill>
            <a:prstDash val="solid"/>
          </a:ln>
        </p:spPr>
      </p:sp>
      <p:sp>
        <p:nvSpPr>
          <p:cNvPr id="12" name="Text 10"/>
          <p:cNvSpPr txBox="1"/>
          <p:nvPr/>
        </p:nvSpPr>
        <p:spPr>
          <a:xfrm>
            <a:off x="2450592" y="2825496"/>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282696"/>
            <a:ext cx="0" cy="182880"/>
          </a:xfrm>
          <a:prstGeom prst="line">
            <a:avLst/>
          </a:prstGeom>
          <a:noFill/>
          <a:ln w="17780">
            <a:solidFill>
              <a:srgbClr val="42474C"/>
            </a:solidFill>
            <a:prstDash val="solid"/>
            <a:tailEnd type="triangle"/>
          </a:ln>
        </p:spPr>
      </p:sp>
      <p:sp>
        <p:nvSpPr>
          <p:cNvPr id="14" name="Shape 12"/>
          <p:cNvSpPr/>
          <p:nvPr/>
        </p:nvSpPr>
        <p:spPr>
          <a:xfrm>
            <a:off x="777240" y="3465576"/>
            <a:ext cx="1371600" cy="658368"/>
          </a:xfrm>
          <a:prstGeom prst="rect">
            <a:avLst/>
          </a:prstGeom>
          <a:solidFill>
            <a:srgbClr val="14171A"/>
          </a:solidFill>
          <a:ln w="12700">
            <a:solidFill>
              <a:srgbClr val="14171A"/>
            </a:solidFill>
            <a:prstDash val="solid"/>
          </a:ln>
        </p:spPr>
      </p:sp>
      <p:sp>
        <p:nvSpPr>
          <p:cNvPr id="15" name="Text 13"/>
          <p:cNvSpPr txBox="1"/>
          <p:nvPr/>
        </p:nvSpPr>
        <p:spPr>
          <a:xfrm>
            <a:off x="777240" y="36667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465576"/>
            <a:ext cx="9144000" cy="658368"/>
          </a:xfrm>
          <a:prstGeom prst="rect">
            <a:avLst/>
          </a:prstGeom>
          <a:solidFill>
            <a:srgbClr val="FFFFFF"/>
          </a:solidFill>
          <a:ln w="15875">
            <a:solidFill>
              <a:srgbClr val="D3CEC0"/>
            </a:solidFill>
            <a:prstDash val="solid"/>
          </a:ln>
        </p:spPr>
      </p:sp>
      <p:sp>
        <p:nvSpPr>
          <p:cNvPr id="17" name="Text 15"/>
          <p:cNvSpPr txBox="1"/>
          <p:nvPr/>
        </p:nvSpPr>
        <p:spPr>
          <a:xfrm>
            <a:off x="2450592" y="36667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4123944"/>
            <a:ext cx="0" cy="182880"/>
          </a:xfrm>
          <a:prstGeom prst="line">
            <a:avLst/>
          </a:prstGeom>
          <a:noFill/>
          <a:ln w="17780">
            <a:solidFill>
              <a:srgbClr val="42474C"/>
            </a:solidFill>
            <a:prstDash val="solid"/>
            <a:tailEnd type="triangle"/>
          </a:ln>
        </p:spPr>
      </p:sp>
      <p:sp>
        <p:nvSpPr>
          <p:cNvPr id="19" name="Shape 17"/>
          <p:cNvSpPr/>
          <p:nvPr/>
        </p:nvSpPr>
        <p:spPr>
          <a:xfrm>
            <a:off x="777240" y="4306824"/>
            <a:ext cx="1371600" cy="658368"/>
          </a:xfrm>
          <a:prstGeom prst="rect">
            <a:avLst/>
          </a:prstGeom>
          <a:solidFill>
            <a:srgbClr val="14171A"/>
          </a:solidFill>
          <a:ln w="12700">
            <a:solidFill>
              <a:srgbClr val="14171A"/>
            </a:solidFill>
            <a:prstDash val="solid"/>
          </a:ln>
        </p:spPr>
      </p:sp>
      <p:sp>
        <p:nvSpPr>
          <p:cNvPr id="20" name="Text 18"/>
          <p:cNvSpPr txBox="1"/>
          <p:nvPr/>
        </p:nvSpPr>
        <p:spPr>
          <a:xfrm>
            <a:off x="777240" y="4507992"/>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306824"/>
            <a:ext cx="9144000" cy="658368"/>
          </a:xfrm>
          <a:prstGeom prst="rect">
            <a:avLst/>
          </a:prstGeom>
          <a:solidFill>
            <a:srgbClr val="FFFFFF"/>
          </a:solidFill>
          <a:ln w="15875">
            <a:solidFill>
              <a:srgbClr val="D3CEC0"/>
            </a:solidFill>
            <a:prstDash val="solid"/>
          </a:ln>
        </p:spPr>
      </p:sp>
      <p:sp>
        <p:nvSpPr>
          <p:cNvPr id="22" name="Text 20"/>
          <p:cNvSpPr txBox="1"/>
          <p:nvPr/>
        </p:nvSpPr>
        <p:spPr>
          <a:xfrm>
            <a:off x="2450592" y="4507992"/>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965192"/>
            <a:ext cx="0" cy="182880"/>
          </a:xfrm>
          <a:prstGeom prst="line">
            <a:avLst/>
          </a:prstGeom>
          <a:noFill/>
          <a:ln w="17780">
            <a:solidFill>
              <a:srgbClr val="42474C"/>
            </a:solidFill>
            <a:prstDash val="solid"/>
            <a:tailEnd type="triangle"/>
          </a:ln>
        </p:spPr>
      </p:sp>
      <p:sp>
        <p:nvSpPr>
          <p:cNvPr id="24" name="Shape 22"/>
          <p:cNvSpPr/>
          <p:nvPr/>
        </p:nvSpPr>
        <p:spPr>
          <a:xfrm>
            <a:off x="777240" y="5148072"/>
            <a:ext cx="1371600" cy="658368"/>
          </a:xfrm>
          <a:prstGeom prst="rect">
            <a:avLst/>
          </a:prstGeom>
          <a:solidFill>
            <a:srgbClr val="E7E3D8"/>
          </a:solidFill>
          <a:ln w="12700">
            <a:solidFill>
              <a:srgbClr val="D3CEC0"/>
            </a:solidFill>
            <a:prstDash val="solid"/>
          </a:ln>
        </p:spPr>
      </p:sp>
      <p:sp>
        <p:nvSpPr>
          <p:cNvPr id="25" name="Text 23"/>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5148072"/>
            <a:ext cx="9144000" cy="658368"/>
          </a:xfrm>
          <a:prstGeom prst="rect">
            <a:avLst/>
          </a:prstGeom>
          <a:solidFill>
            <a:srgbClr val="FFFFFF"/>
          </a:solidFill>
          <a:ln w="15875">
            <a:solidFill>
              <a:srgbClr val="D3CEC0"/>
            </a:solidFill>
            <a:prstDash val="solid"/>
          </a:ln>
        </p:spPr>
      </p:sp>
      <p:sp>
        <p:nvSpPr>
          <p:cNvPr id="27" name="Text 25"/>
          <p:cNvSpPr txBox="1"/>
          <p:nvPr/>
        </p:nvSpPr>
        <p:spPr>
          <a:xfrm>
            <a:off x="2450592" y="5349240"/>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awaiting carrier</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will not send. Agreeing in writing days later is not the same as choosing in the moment.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 is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Not encrypted. Not permission-restricted. Absent.</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 is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 not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 not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 not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 is deterministic, it is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124 Apex tests   |   491 structural invariants   |   333 accessibility checks   |   28 contrast   |   16 reading level   |   all passing, every build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 not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 not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messaging is not carrier registered.</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A2P 10DLC gates SMS from a ten digit number. Voice on the same number needs none and works today.</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 not.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491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124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2026-09-04T17:20:16Z</dcterms:created>
  <dcterms:modified xsi:type="dcterms:W3CDTF">2026-09-04T17:20:16Z</dcterms:modified>
</cp:coreProperties>
</file>