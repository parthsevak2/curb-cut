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about one in four adults,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297680"/>
            <a:ext cx="10698480" cy="5486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By 2026, 98% of participating employers report flexible or remote accommodations; the latest self-identification rate, 2025, did not rise.</a:t>
            </a:r>
            <a:endParaRPr lang="en-US" sz="12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Hourly, shift and minimum-wage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nearly twice as likely to be part time; no work email, no desk, no HR office on the floor</a:t>
            </a:r>
            <a:endParaRPr lang="en-US" sz="1200" dirty="0"/>
          </a:p>
        </p:txBody>
      </p:sp>
      <p:sp>
        <p:nvSpPr>
          <p:cNvPr id="8" name="Shape 6"/>
          <p:cNvSpPr/>
          <p:nvPr/>
        </p:nvSpPr>
        <p:spPr>
          <a:xfrm>
            <a:off x="777240" y="292608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83464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10" name="Text 8"/>
          <p:cNvSpPr txBox="1"/>
          <p:nvPr/>
        </p:nvSpPr>
        <p:spPr>
          <a:xfrm>
            <a:off x="5212080" y="286207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11" name="Shape 9"/>
          <p:cNvSpPr/>
          <p:nvPr/>
        </p:nvSpPr>
        <p:spPr>
          <a:xfrm>
            <a:off x="777240" y="336499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27355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3" name="Text 11"/>
          <p:cNvSpPr txBox="1"/>
          <p:nvPr/>
        </p:nvSpPr>
        <p:spPr>
          <a:xfrm>
            <a:off x="5212080" y="330098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4" name="Shape 12"/>
          <p:cNvSpPr/>
          <p:nvPr/>
        </p:nvSpPr>
        <p:spPr>
          <a:xfrm>
            <a:off x="777240" y="380390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71246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6" name="Text 14"/>
          <p:cNvSpPr txBox="1"/>
          <p:nvPr/>
        </p:nvSpPr>
        <p:spPr>
          <a:xfrm>
            <a:off x="5212080" y="373989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7" name="Shape 15"/>
          <p:cNvSpPr/>
          <p:nvPr/>
        </p:nvSpPr>
        <p:spPr>
          <a:xfrm>
            <a:off x="777240" y="4242816"/>
            <a:ext cx="54864" cy="365760"/>
          </a:xfrm>
          <a:prstGeom prst="rect">
            <a:avLst/>
          </a:prstGeom>
          <a:solidFill>
            <a:srgbClr val="C9A227"/>
          </a:solidFill>
          <a:ln w="12700">
            <a:solidFill>
              <a:srgbClr val="C9A227"/>
            </a:solidFill>
            <a:prstDash val="solid"/>
          </a:ln>
        </p:spPr>
      </p:sp>
      <p:sp>
        <p:nvSpPr>
          <p:cNvPr id="18" name="Text 16"/>
          <p:cNvSpPr txBox="1"/>
          <p:nvPr/>
        </p:nvSpPr>
        <p:spPr>
          <a:xfrm>
            <a:off x="1051560" y="4151376"/>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9" name="Text 17"/>
          <p:cNvSpPr txBox="1"/>
          <p:nvPr/>
        </p:nvSpPr>
        <p:spPr>
          <a:xfrm>
            <a:off x="5212080" y="4178808"/>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20" name="Text 18"/>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21" name="Text 19"/>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22" name="Text 20"/>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3" name="Text 21"/>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4" name="Text 22"/>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5" name="Text 23"/>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6" name="Text 24"/>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7" name="Text 25"/>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137 Apex   |   512 invariants   |   331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started from the diagnosis.</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have a field for it, and the newer accommodation platforms hold it on the employee's behalf. Building one with no field at all meant building something new.</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report flexible or remote accommodations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137</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331</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527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2026-09-06T02:06:59Z</dcterms:created>
  <dcterms:modified xsi:type="dcterms:W3CDTF">2026-09-06T02:06:59Z</dcterms:modified>
</cp:coreProperties>
</file>