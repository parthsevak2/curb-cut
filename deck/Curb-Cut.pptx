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second line, then stop. Let the room have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first line, then pause. Let people actually remember. Don't rush to the second line. Nobody needs a citation for this one because everybody has lived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moral argument. Don't rush it and don't soften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the standing preference exists for. Call back to it later. If asked about the date: the gap it describes was measured again by Statistics Canada in 2022 and by the US Bureau of Labor Statistics in 2025, and it hasn't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live: set on the web, queried over SMS, revoked from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seconds of silence here. No music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on "They only have to be able to ask." Then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777240" y="2011680"/>
            <a:ext cx="8229600" cy="1143000"/>
          </a:xfrm>
          <a:prstGeom prst="rect">
            <a:avLst/>
          </a:prstGeom>
          <a:noFill/>
          <a:ln/>
        </p:spPr>
        <p:txBody>
          <a:bodyPr wrap="square" lIns="0" tIns="0" rIns="0" bIns="0" rtlCol="0" anchor="ctr"/>
          <a:lstStyle/>
          <a:p>
            <a:pPr indent="0" marL="0">
              <a:buNone/>
            </a:pPr>
            <a:r>
              <a:rPr lang="en-US" sz="6000" b="1" spc="100" kern="0" dirty="0">
                <a:solidFill>
                  <a:srgbClr val="F7F5EF"/>
                </a:solidFill>
                <a:latin typeface="Cambria" pitchFamily="34" charset="0"/>
                <a:ea typeface="Cambria" pitchFamily="34" charset="-122"/>
                <a:cs typeface="Cambria" pitchFamily="34" charset="-120"/>
              </a:rPr>
              <a:t>CURB CUT</a:t>
            </a:r>
            <a:endParaRPr lang="en-US" sz="6000" dirty="0"/>
          </a:p>
        </p:txBody>
      </p:sp>
      <p:sp>
        <p:nvSpPr>
          <p:cNvPr id="3" name="Text 1"/>
          <p:cNvSpPr txBox="1"/>
          <p:nvPr/>
        </p:nvSpPr>
        <p:spPr>
          <a:xfrm>
            <a:off x="777240" y="3108960"/>
            <a:ext cx="8686800" cy="548640"/>
          </a:xfrm>
          <a:prstGeom prst="rect">
            <a:avLst/>
          </a:prstGeom>
          <a:noFill/>
          <a:ln/>
        </p:spPr>
        <p:txBody>
          <a:bodyPr wrap="square" lIns="0" tIns="0" rIns="0" bIns="0" rtlCol="0" anchor="ctr"/>
          <a:lstStyle/>
          <a:p>
            <a:pPr indent="0" marL="0">
              <a:buNone/>
            </a:pPr>
            <a:r>
              <a:rPr lang="en-US" sz="2100" i="1" dirty="0">
                <a:solidFill>
                  <a:srgbClr val="E8C87A"/>
                </a:solidFill>
                <a:latin typeface="Cambria" pitchFamily="34" charset="0"/>
                <a:ea typeface="Cambria" pitchFamily="34" charset="-122"/>
                <a:cs typeface="Cambria" pitchFamily="34" charset="-120"/>
              </a:rPr>
              <a:t>Accommodation without disclosure.</a:t>
            </a:r>
            <a:endParaRPr lang="en-US" sz="2100" dirty="0"/>
          </a:p>
        </p:txBody>
      </p:sp>
      <p:sp>
        <p:nvSpPr>
          <p:cNvPr id="4" name="Text 2"/>
          <p:cNvSpPr txBox="1"/>
          <p:nvPr/>
        </p:nvSpPr>
        <p:spPr>
          <a:xfrm>
            <a:off x="777240" y="3803904"/>
            <a:ext cx="8778240" cy="457200"/>
          </a:xfrm>
          <a:prstGeom prst="rect">
            <a:avLst/>
          </a:prstGeom>
          <a:noFill/>
          <a:ln/>
        </p:spPr>
        <p:txBody>
          <a:bodyPr wrap="square" lIns="0" tIns="0" rIns="0" bIns="0" rtlCol="0" anchor="ctr"/>
          <a:lstStyle/>
          <a:p>
            <a:pPr indent="0" marL="0">
              <a:buNone/>
            </a:pPr>
            <a:r>
              <a:rPr lang="en-US" sz="1550" dirty="0">
                <a:solidFill>
                  <a:srgbClr val="A9B0B6"/>
                </a:solidFill>
                <a:latin typeface="Calibri" pitchFamily="34" charset="0"/>
                <a:ea typeface="Calibri" pitchFamily="34" charset="-122"/>
                <a:cs typeface="Calibri" pitchFamily="34" charset="-120"/>
              </a:rPr>
              <a:t>The process for asking is itself the barrier.</a:t>
            </a:r>
            <a:endParaRPr lang="en-US" sz="1550" dirty="0"/>
          </a:p>
        </p:txBody>
      </p:sp>
      <p:sp>
        <p:nvSpPr>
          <p:cNvPr id="5" name="Text 3"/>
          <p:cNvSpPr txBox="1"/>
          <p:nvPr/>
        </p:nvSpPr>
        <p:spPr>
          <a:xfrm>
            <a:off x="777240" y="6035040"/>
            <a:ext cx="10058400" cy="320040"/>
          </a:xfrm>
          <a:prstGeom prst="rect">
            <a:avLst/>
          </a:prstGeom>
          <a:noFill/>
          <a:ln/>
        </p:spPr>
        <p:txBody>
          <a:bodyPr wrap="square" lIns="0" tIns="0" rIns="0" bIns="0" rtlCol="0" anchor="ctr"/>
          <a:lstStyle/>
          <a:p>
            <a:pPr indent="0" marL="0">
              <a:buNone/>
            </a:pPr>
            <a:r>
              <a:rPr lang="en-US" sz="1050" spc="120" kern="0" dirty="0">
                <a:solidFill>
                  <a:srgbClr val="A9B0B6"/>
                </a:solidFill>
                <a:latin typeface="Courier New" pitchFamily="34" charset="0"/>
                <a:ea typeface="Courier New" pitchFamily="34" charset="-122"/>
                <a:cs typeface="Courier New" pitchFamily="34" charset="-120"/>
              </a:rPr>
              <a:t>Agentforce for Good   |   Dreamforce 2026   |   Builder Track   |   Abilityforce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777240" y="1371600"/>
            <a:ext cx="10424160" cy="822960"/>
          </a:xfrm>
          <a:prstGeom prst="rect">
            <a:avLst/>
          </a:prstGeom>
          <a:noFill/>
          <a:ln/>
        </p:spPr>
        <p:txBody>
          <a:bodyPr wrap="square" lIns="0" tIns="0" rIns="0" bIns="0" rtlCol="0" anchor="ctr"/>
          <a:lstStyle/>
          <a:p>
            <a:pPr indent="0" marL="0">
              <a:buNone/>
            </a:pPr>
            <a:r>
              <a:rPr lang="en-US" sz="4200" b="1" dirty="0">
                <a:solidFill>
                  <a:srgbClr val="F7F5EF"/>
                </a:solidFill>
                <a:latin typeface="Cambria" pitchFamily="34" charset="0"/>
                <a:ea typeface="Cambria" pitchFamily="34" charset="-122"/>
                <a:cs typeface="Cambria" pitchFamily="34" charset="-120"/>
              </a:rPr>
              <a:t>You have already done this.</a:t>
            </a:r>
            <a:endParaRPr lang="en-US" sz="4200" dirty="0"/>
          </a:p>
        </p:txBody>
      </p:sp>
      <p:sp>
        <p:nvSpPr>
          <p:cNvPr id="3" name="Text 1"/>
          <p:cNvSpPr txBox="1"/>
          <p:nvPr/>
        </p:nvSpPr>
        <p:spPr>
          <a:xfrm>
            <a:off x="777240" y="2514600"/>
            <a:ext cx="9966960" cy="914400"/>
          </a:xfrm>
          <a:prstGeom prst="rect">
            <a:avLst/>
          </a:prstGeom>
          <a:noFill/>
          <a:ln/>
        </p:spPr>
        <p:txBody>
          <a:bodyPr wrap="square" lIns="0" tIns="0" rIns="0" bIns="0" rtlCol="0" anchor="ctr"/>
          <a:lstStyle/>
          <a:p>
            <a:pPr indent="0" marL="0">
              <a:buNone/>
            </a:pPr>
            <a:r>
              <a:rPr lang="en-US" sz="2100" dirty="0">
                <a:solidFill>
                  <a:srgbClr val="D8DAD6"/>
                </a:solidFill>
                <a:latin typeface="Calibri" pitchFamily="34" charset="0"/>
                <a:ea typeface="Calibri" pitchFamily="34" charset="-122"/>
                <a:cs typeface="Calibri" pitchFamily="34" charset="-120"/>
              </a:rPr>
              <a:t>Think of the last time something at work was quietly hard. The chair. The light. A meeting at the wrong hour for your body.</a:t>
            </a:r>
            <a:endParaRPr lang="en-US" sz="2100" dirty="0"/>
          </a:p>
        </p:txBody>
      </p:sp>
      <p:sp>
        <p:nvSpPr>
          <p:cNvPr id="4" name="Text 2"/>
          <p:cNvSpPr txBox="1"/>
          <p:nvPr/>
        </p:nvSpPr>
        <p:spPr>
          <a:xfrm>
            <a:off x="777240" y="3611880"/>
            <a:ext cx="9966960" cy="1005840"/>
          </a:xfrm>
          <a:prstGeom prst="rect">
            <a:avLst/>
          </a:prstGeom>
          <a:noFill/>
          <a:ln/>
        </p:spPr>
        <p:txBody>
          <a:bodyPr wrap="square" lIns="0" tIns="0" rIns="0" bIns="0" rtlCol="0" anchor="ctr"/>
          <a:lstStyle/>
          <a:p>
            <a:pPr indent="0" marL="0">
              <a:buNone/>
            </a:pPr>
            <a:r>
              <a:rPr lang="en-US" sz="2100" dirty="0">
                <a:solidFill>
                  <a:srgbClr val="D8DAD6"/>
                </a:solidFill>
                <a:latin typeface="Calibri" pitchFamily="34" charset="0"/>
                <a:ea typeface="Calibri" pitchFamily="34" charset="-122"/>
                <a:cs typeface="Calibri" pitchFamily="34" charset="-120"/>
              </a:rPr>
              <a:t>You worked out what it would take to ask. Who you would have to tell. How it would sound. And you decided it wasn't worth the conversation.</a:t>
            </a:r>
            <a:endParaRPr lang="en-US" sz="2100" dirty="0"/>
          </a:p>
        </p:txBody>
      </p:sp>
      <p:sp>
        <p:nvSpPr>
          <p:cNvPr id="5" name="Text 3"/>
          <p:cNvSpPr txBox="1"/>
          <p:nvPr/>
        </p:nvSpPr>
        <p:spPr>
          <a:xfrm>
            <a:off x="777240" y="4892040"/>
            <a:ext cx="9966960" cy="731520"/>
          </a:xfrm>
          <a:prstGeom prst="rect">
            <a:avLst/>
          </a:prstGeom>
          <a:noFill/>
          <a:ln/>
        </p:spPr>
        <p:txBody>
          <a:bodyPr wrap="square" lIns="0" tIns="0" rIns="0" bIns="0" rtlCol="0" anchor="ctr"/>
          <a:lstStyle/>
          <a:p>
            <a:pPr indent="0" marL="0">
              <a:buNone/>
            </a:pPr>
            <a:r>
              <a:rPr lang="en-US" sz="2600" i="1" dirty="0">
                <a:solidFill>
                  <a:srgbClr val="E8C87A"/>
                </a:solidFill>
                <a:latin typeface="Cambria" pitchFamily="34" charset="0"/>
                <a:ea typeface="Cambria" pitchFamily="34" charset="-122"/>
                <a:cs typeface="Cambria" pitchFamily="34" charset="-120"/>
              </a:rPr>
              <a:t>Now make it permanent, and make the conversation about your body.</a:t>
            </a:r>
            <a:endParaRPr lang="en-US" sz="2600" dirty="0"/>
          </a:p>
        </p:txBody>
      </p:sp>
      <p:sp>
        <p:nvSpPr>
          <p:cNvPr id="6" name="Text 4"/>
          <p:cNvSpPr txBox="1"/>
          <p:nvPr/>
        </p:nvSpPr>
        <p:spPr>
          <a:xfrm>
            <a:off x="777240" y="5897880"/>
            <a:ext cx="10058400" cy="457200"/>
          </a:xfrm>
          <a:prstGeom prst="rect">
            <a:avLst/>
          </a:prstGeom>
          <a:noFill/>
          <a:ln/>
        </p:spPr>
        <p:txBody>
          <a:bodyPr wrap="square" lIns="0" tIns="0" rIns="0" bIns="0" rtlCol="0" anchor="ctr"/>
          <a:lstStyle/>
          <a:p>
            <a:pPr indent="0" marL="0">
              <a:buNone/>
            </a:pPr>
            <a:r>
              <a:rPr lang="en-US" sz="1250" dirty="0">
                <a:solidFill>
                  <a:srgbClr val="A9B0B6"/>
                </a:solidFill>
                <a:latin typeface="Courier New" pitchFamily="34" charset="0"/>
                <a:ea typeface="Courier New" pitchFamily="34" charset="-122"/>
                <a:cs typeface="Courier New" pitchFamily="34" charset="-120"/>
              </a:rPr>
              <a:t>That's the whole problem. Everyone in this room has felt the small version of it.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WHAT YOU DECIDED NOT TO DO</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Now imagine the form was mandatory.</a:t>
            </a:r>
            <a:endParaRPr lang="en-US" sz="3300" dirty="0"/>
          </a:p>
        </p:txBody>
      </p:sp>
      <p:sp>
        <p:nvSpPr>
          <p:cNvPr id="4" name="Text 2"/>
          <p:cNvSpPr txBox="1"/>
          <p:nvPr/>
        </p:nvSpPr>
        <p:spPr>
          <a:xfrm>
            <a:off x="777240" y="1783080"/>
            <a:ext cx="6309360" cy="2468880"/>
          </a:xfrm>
          <a:prstGeom prst="rect">
            <a:avLst/>
          </a:prstGeom>
          <a:noFill/>
          <a:ln/>
        </p:spPr>
        <p:txBody>
          <a:bodyPr wrap="square" lIns="0" tIns="0" rIns="0" bIns="0" rtlCol="0" anchor="ctr"/>
          <a:lstStyle/>
          <a:p>
            <a:pPr indent="0" marL="0">
              <a:spcAft>
                <a:spcPts val="1200"/>
              </a:spcAft>
              <a:buNone/>
            </a:pPr>
            <a:r>
              <a:rPr lang="en-US" sz="1600" b="1" dirty="0">
                <a:solidFill>
                  <a:srgbClr val="14171A"/>
                </a:solidFill>
                <a:latin typeface="Calibri" pitchFamily="34" charset="0"/>
                <a:ea typeface="Calibri" pitchFamily="34" charset="-122"/>
                <a:cs typeface="Calibri" pitchFamily="34" charset="-120"/>
              </a:rPr>
              <a:t>You did that calculation privately and moved on.</a:t>
            </a:r>
            <a:endParaRPr lang="en-US" sz="1600" dirty="0"/>
          </a:p>
          <a:p>
            <a:pPr indent="0" marL="0">
              <a:spcAft>
                <a:spcPts val="1200"/>
              </a:spcAft>
              <a:buNone/>
            </a:pPr>
            <a:r>
              <a:rPr lang="en-US" sz="1600" dirty="0">
                <a:solidFill>
                  <a:srgbClr val="14171A"/>
                </a:solidFill>
                <a:latin typeface="Calibri" pitchFamily="34" charset="0"/>
                <a:ea typeface="Calibri" pitchFamily="34" charset="-122"/>
                <a:cs typeface="Calibri" pitchFamily="34" charset="-120"/>
              </a:rPr>
              <a:t>For about one in four adults, that calculation isn't occasional. It's a standing condition of the job, and the price of getting it wrong isn't an awkward moment. It's being seen as difficult, or fragile, or not worth staffing.</a:t>
            </a:r>
            <a:endParaRPr lang="en-US" sz="1600" dirty="0"/>
          </a:p>
          <a:p>
            <a:pPr indent="0" marL="0">
              <a:spcAft>
                <a:spcPts val="1200"/>
              </a:spcAft>
              <a:buNone/>
            </a:pPr>
            <a:r>
              <a:rPr lang="en-US" sz="1600" b="1" dirty="0">
                <a:solidFill>
                  <a:srgbClr val="14171A"/>
                </a:solidFill>
                <a:latin typeface="Calibri" pitchFamily="34" charset="0"/>
                <a:ea typeface="Calibri" pitchFamily="34" charset="-122"/>
                <a:cs typeface="Calibri" pitchFamily="34" charset="-120"/>
              </a:rPr>
              <a:t>And the way through is almost never a conversation. It's this.</a:t>
            </a:r>
            <a:endParaRPr lang="en-US" sz="1600" dirty="0"/>
          </a:p>
        </p:txBody>
      </p:sp>
      <p:sp>
        <p:nvSpPr>
          <p:cNvPr id="5" name="Shape 3"/>
          <p:cNvSpPr/>
          <p:nvPr/>
        </p:nvSpPr>
        <p:spPr>
          <a:xfrm>
            <a:off x="7498080" y="1783080"/>
            <a:ext cx="3886200" cy="2240280"/>
          </a:xfrm>
          <a:prstGeom prst="rect">
            <a:avLst/>
          </a:prstGeom>
          <a:solidFill>
            <a:srgbClr val="FFFFFF"/>
          </a:solidFill>
          <a:ln w="25400">
            <a:solidFill>
              <a:srgbClr val="8A2F24"/>
            </a:solidFill>
            <a:prstDash val="solid"/>
          </a:ln>
        </p:spPr>
      </p:sp>
      <p:sp>
        <p:nvSpPr>
          <p:cNvPr id="6" name="Text 4"/>
          <p:cNvSpPr txBox="1"/>
          <p:nvPr/>
        </p:nvSpPr>
        <p:spPr>
          <a:xfrm>
            <a:off x="7772400" y="2057400"/>
            <a:ext cx="3291840" cy="320040"/>
          </a:xfrm>
          <a:prstGeom prst="rect">
            <a:avLst/>
          </a:prstGeom>
          <a:noFill/>
          <a:ln/>
        </p:spPr>
        <p:txBody>
          <a:bodyPr wrap="square" lIns="0" tIns="0" rIns="0" bIns="0" rtlCol="0" anchor="ctr"/>
          <a:lstStyle/>
          <a:p>
            <a:pPr indent="0" marL="0">
              <a:buNone/>
            </a:pPr>
            <a:r>
              <a:rPr lang="en-US" sz="1300" b="1" dirty="0">
                <a:solidFill>
                  <a:srgbClr val="42474C"/>
                </a:solidFill>
                <a:latin typeface="Calibri" pitchFamily="34" charset="0"/>
                <a:ea typeface="Calibri" pitchFamily="34" charset="-122"/>
                <a:cs typeface="Calibri" pitchFamily="34" charset="-120"/>
              </a:rPr>
              <a:t>Nature of disability</a:t>
            </a:r>
            <a:endParaRPr lang="en-US" sz="1300" dirty="0"/>
          </a:p>
        </p:txBody>
      </p:sp>
      <p:sp>
        <p:nvSpPr>
          <p:cNvPr id="7" name="Shape 5"/>
          <p:cNvSpPr/>
          <p:nvPr/>
        </p:nvSpPr>
        <p:spPr>
          <a:xfrm>
            <a:off x="7772400" y="2505456"/>
            <a:ext cx="3291840" cy="475488"/>
          </a:xfrm>
          <a:prstGeom prst="rect">
            <a:avLst/>
          </a:prstGeom>
          <a:solidFill>
            <a:srgbClr val="F5F3ED"/>
          </a:solidFill>
          <a:ln w="12700">
            <a:solidFill>
              <a:srgbClr val="D3CEC0"/>
            </a:solidFill>
            <a:prstDash val="solid"/>
          </a:ln>
        </p:spPr>
      </p:sp>
      <p:sp>
        <p:nvSpPr>
          <p:cNvPr id="8" name="Shape 6"/>
          <p:cNvSpPr/>
          <p:nvPr/>
        </p:nvSpPr>
        <p:spPr>
          <a:xfrm>
            <a:off x="7882128" y="2596896"/>
            <a:ext cx="18288" cy="274320"/>
          </a:xfrm>
          <a:prstGeom prst="rect">
            <a:avLst/>
          </a:prstGeom>
          <a:solidFill>
            <a:srgbClr val="14171A"/>
          </a:solidFill>
          <a:ln w="12700">
            <a:solidFill>
              <a:srgbClr val="14171A"/>
            </a:solidFill>
            <a:prstDash val="solid"/>
          </a:ln>
        </p:spPr>
      </p:sp>
      <p:sp>
        <p:nvSpPr>
          <p:cNvPr id="9" name="Text 7"/>
          <p:cNvSpPr txBox="1"/>
          <p:nvPr/>
        </p:nvSpPr>
        <p:spPr>
          <a:xfrm>
            <a:off x="7772400" y="3090672"/>
            <a:ext cx="3291840" cy="274320"/>
          </a:xfrm>
          <a:prstGeom prst="rect">
            <a:avLst/>
          </a:prstGeom>
          <a:noFill/>
          <a:ln/>
        </p:spPr>
        <p:txBody>
          <a:bodyPr wrap="square" lIns="0" tIns="0" rIns="0" bIns="0" rtlCol="0" anchor="ctr"/>
          <a:lstStyle/>
          <a:p>
            <a:pPr indent="0" marL="0">
              <a:buNone/>
            </a:pPr>
            <a:r>
              <a:rPr lang="en-US" sz="1100" dirty="0">
                <a:solidFill>
                  <a:srgbClr val="8A2F24"/>
                </a:solidFill>
                <a:latin typeface="Calibri" pitchFamily="34" charset="0"/>
                <a:ea typeface="Calibri" pitchFamily="34" charset="-122"/>
                <a:cs typeface="Calibri" pitchFamily="34" charset="-120"/>
              </a:rPr>
              <a:t>Required</a:t>
            </a:r>
            <a:endParaRPr lang="en-US" sz="1100" dirty="0"/>
          </a:p>
        </p:txBody>
      </p:sp>
      <p:sp>
        <p:nvSpPr>
          <p:cNvPr id="10" name="Text 8"/>
          <p:cNvSpPr txBox="1"/>
          <p:nvPr/>
        </p:nvSpPr>
        <p:spPr>
          <a:xfrm>
            <a:off x="7772400" y="3429000"/>
            <a:ext cx="3383280" cy="457200"/>
          </a:xfrm>
          <a:prstGeom prst="rect">
            <a:avLst/>
          </a:prstGeom>
          <a:noFill/>
          <a:ln/>
        </p:spPr>
        <p:txBody>
          <a:bodyPr wrap="square" lIns="0" tIns="0" rIns="0" bIns="0" rtlCol="0" anchor="ctr"/>
          <a:lstStyle/>
          <a:p>
            <a:pPr indent="0" marL="0">
              <a:buNone/>
            </a:pPr>
            <a:r>
              <a:rPr lang="en-US" sz="1150" i="1" dirty="0">
                <a:solidFill>
                  <a:srgbClr val="42474C"/>
                </a:solidFill>
                <a:latin typeface="Cambria" pitchFamily="34" charset="0"/>
                <a:ea typeface="Cambria" pitchFamily="34" charset="-122"/>
                <a:cs typeface="Cambria" pitchFamily="34" charset="-120"/>
              </a:rPr>
              <a:t>Everything after this slide is about that box.</a:t>
            </a:r>
            <a:endParaRPr lang="en-US" sz="1150" dirty="0"/>
          </a:p>
        </p:txBody>
      </p:sp>
      <p:sp>
        <p:nvSpPr>
          <p:cNvPr id="11" name="Text 9"/>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It doesn't want to understand her. It wants a diagnosis, in writing, for somebody who will still be her manager on Monday.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WHY THIS IS NOT A SMALL THING</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One roadblock isn't one bad day.</a:t>
            </a:r>
            <a:endParaRPr lang="en-US" sz="3300" dirty="0"/>
          </a:p>
        </p:txBody>
      </p:sp>
      <p:sp>
        <p:nvSpPr>
          <p:cNvPr id="4" name="Shape 2"/>
          <p:cNvSpPr/>
          <p:nvPr/>
        </p:nvSpPr>
        <p:spPr>
          <a:xfrm>
            <a:off x="777240" y="1783080"/>
            <a:ext cx="5120640" cy="1371600"/>
          </a:xfrm>
          <a:prstGeom prst="roundRect">
            <a:avLst>
              <a:gd name="adj" fmla="val 3333"/>
            </a:avLst>
          </a:prstGeom>
          <a:solidFill>
            <a:srgbClr val="FFFFFF"/>
          </a:solidFill>
          <a:ln w="15875">
            <a:solidFill>
              <a:srgbClr val="D3CEC0"/>
            </a:solidFill>
            <a:prstDash val="solid"/>
          </a:ln>
        </p:spPr>
      </p:sp>
      <p:sp>
        <p:nvSpPr>
          <p:cNvPr id="5" name="Text 3"/>
          <p:cNvSpPr txBox="1"/>
          <p:nvPr/>
        </p:nvSpPr>
        <p:spPr>
          <a:xfrm>
            <a:off x="978408" y="1929384"/>
            <a:ext cx="4754880" cy="32004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It ends careers quietly</a:t>
            </a:r>
            <a:endParaRPr lang="en-US" sz="1500" dirty="0"/>
          </a:p>
        </p:txBody>
      </p:sp>
      <p:sp>
        <p:nvSpPr>
          <p:cNvPr id="6" name="Text 4"/>
          <p:cNvSpPr txBox="1"/>
          <p:nvPr/>
        </p:nvSpPr>
        <p:spPr>
          <a:xfrm>
            <a:off x="978408" y="2313432"/>
            <a:ext cx="4754880" cy="77724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Nobody is fired for needing an hour moved. They just stop being considered, stop being staffed, stop being asked.</a:t>
            </a:r>
            <a:endParaRPr lang="en-US" sz="1200" dirty="0"/>
          </a:p>
        </p:txBody>
      </p:sp>
      <p:sp>
        <p:nvSpPr>
          <p:cNvPr id="7" name="Shape 5"/>
          <p:cNvSpPr/>
          <p:nvPr/>
        </p:nvSpPr>
        <p:spPr>
          <a:xfrm>
            <a:off x="6263640" y="1783080"/>
            <a:ext cx="5120640" cy="1371600"/>
          </a:xfrm>
          <a:prstGeom prst="roundRect">
            <a:avLst>
              <a:gd name="adj" fmla="val 3333"/>
            </a:avLst>
          </a:prstGeom>
          <a:solidFill>
            <a:srgbClr val="FFFFFF"/>
          </a:solidFill>
          <a:ln w="15875">
            <a:solidFill>
              <a:srgbClr val="D3CEC0"/>
            </a:solidFill>
            <a:prstDash val="solid"/>
          </a:ln>
        </p:spPr>
      </p:sp>
      <p:sp>
        <p:nvSpPr>
          <p:cNvPr id="8" name="Text 6"/>
          <p:cNvSpPr txBox="1"/>
          <p:nvPr/>
        </p:nvSpPr>
        <p:spPr>
          <a:xfrm>
            <a:off x="6464808" y="1929384"/>
            <a:ext cx="4754880" cy="32004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It compounds</a:t>
            </a:r>
            <a:endParaRPr lang="en-US" sz="1500" dirty="0"/>
          </a:p>
        </p:txBody>
      </p:sp>
      <p:sp>
        <p:nvSpPr>
          <p:cNvPr id="9" name="Text 7"/>
          <p:cNvSpPr txBox="1"/>
          <p:nvPr/>
        </p:nvSpPr>
        <p:spPr>
          <a:xfrm>
            <a:off x="6464808" y="2313432"/>
            <a:ext cx="4754880" cy="77724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A job lost is a reference lost, a gap on a CV, a mortgage refused. The roadblock is one afternoon. The consequence is a decade.</a:t>
            </a:r>
            <a:endParaRPr lang="en-US" sz="1200" dirty="0"/>
          </a:p>
        </p:txBody>
      </p:sp>
      <p:sp>
        <p:nvSpPr>
          <p:cNvPr id="10" name="Shape 8"/>
          <p:cNvSpPr/>
          <p:nvPr/>
        </p:nvSpPr>
        <p:spPr>
          <a:xfrm>
            <a:off x="777240" y="3383280"/>
            <a:ext cx="5120640" cy="1371600"/>
          </a:xfrm>
          <a:prstGeom prst="roundRect">
            <a:avLst>
              <a:gd name="adj" fmla="val 3333"/>
            </a:avLst>
          </a:prstGeom>
          <a:solidFill>
            <a:srgbClr val="FFFFFF"/>
          </a:solidFill>
          <a:ln w="15875">
            <a:solidFill>
              <a:srgbClr val="D3CEC0"/>
            </a:solidFill>
            <a:prstDash val="solid"/>
          </a:ln>
        </p:spPr>
      </p:sp>
      <p:sp>
        <p:nvSpPr>
          <p:cNvPr id="11" name="Text 9"/>
          <p:cNvSpPr txBox="1"/>
          <p:nvPr/>
        </p:nvSpPr>
        <p:spPr>
          <a:xfrm>
            <a:off x="978408" y="3529584"/>
            <a:ext cx="4754880" cy="32004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It's almost always man-made</a:t>
            </a:r>
            <a:endParaRPr lang="en-US" sz="1500" dirty="0"/>
          </a:p>
        </p:txBody>
      </p:sp>
      <p:sp>
        <p:nvSpPr>
          <p:cNvPr id="12" name="Text 10"/>
          <p:cNvSpPr txBox="1"/>
          <p:nvPr/>
        </p:nvSpPr>
        <p:spPr>
          <a:xfrm>
            <a:off x="978408" y="3913632"/>
            <a:ext cx="4754880" cy="77724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Not the condition itself, but the form, the login, the policy nobody can find, and the manager who needs proof.</a:t>
            </a:r>
            <a:endParaRPr lang="en-US" sz="1200" dirty="0"/>
          </a:p>
        </p:txBody>
      </p:sp>
      <p:sp>
        <p:nvSpPr>
          <p:cNvPr id="13" name="Shape 11"/>
          <p:cNvSpPr/>
          <p:nvPr/>
        </p:nvSpPr>
        <p:spPr>
          <a:xfrm>
            <a:off x="6263640" y="3383280"/>
            <a:ext cx="5120640" cy="1371600"/>
          </a:xfrm>
          <a:prstGeom prst="roundRect">
            <a:avLst>
              <a:gd name="adj" fmla="val 3333"/>
            </a:avLst>
          </a:prstGeom>
          <a:solidFill>
            <a:srgbClr val="FFFFFF"/>
          </a:solidFill>
          <a:ln w="15875">
            <a:solidFill>
              <a:srgbClr val="D3CEC0"/>
            </a:solidFill>
            <a:prstDash val="solid"/>
          </a:ln>
        </p:spPr>
      </p:sp>
      <p:sp>
        <p:nvSpPr>
          <p:cNvPr id="14" name="Text 12"/>
          <p:cNvSpPr txBox="1"/>
          <p:nvPr/>
        </p:nvSpPr>
        <p:spPr>
          <a:xfrm>
            <a:off x="6464808" y="3529584"/>
            <a:ext cx="4754880" cy="32004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It reaches past the person</a:t>
            </a:r>
            <a:endParaRPr lang="en-US" sz="1500" dirty="0"/>
          </a:p>
        </p:txBody>
      </p:sp>
      <p:sp>
        <p:nvSpPr>
          <p:cNvPr id="15" name="Text 13"/>
          <p:cNvSpPr txBox="1"/>
          <p:nvPr/>
        </p:nvSpPr>
        <p:spPr>
          <a:xfrm>
            <a:off x="6464808" y="3913632"/>
            <a:ext cx="4754880" cy="77724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Their family. Their kids. The income that pays for the thing that would have helped.</a:t>
            </a:r>
            <a:endParaRPr lang="en-US" sz="1200" dirty="0"/>
          </a:p>
        </p:txBody>
      </p:sp>
      <p:sp>
        <p:nvSpPr>
          <p:cNvPr id="16" name="Text 14"/>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It shouldn't take a dataset to argue that a person is worth an hour of flexibility. Here is the dataset anyway.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AGENDA</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Five things, and an appendix.</a:t>
            </a:r>
            <a:endParaRPr lang="en-US" sz="3300" dirty="0"/>
          </a:p>
        </p:txBody>
      </p:sp>
      <p:sp>
        <p:nvSpPr>
          <p:cNvPr id="4" name="Text 2"/>
          <p:cNvSpPr txBox="1"/>
          <p:nvPr/>
        </p:nvSpPr>
        <p:spPr>
          <a:xfrm>
            <a:off x="777240" y="1719072"/>
            <a:ext cx="731520" cy="402336"/>
          </a:xfrm>
          <a:prstGeom prst="rect">
            <a:avLst/>
          </a:prstGeom>
          <a:noFill/>
          <a:ln/>
        </p:spPr>
        <p:txBody>
          <a:bodyPr wrap="square" lIns="0" tIns="0" rIns="0" bIns="0" rtlCol="0" anchor="ctr"/>
          <a:lstStyle/>
          <a:p>
            <a:pPr indent="0" marL="0">
              <a:buNone/>
            </a:pPr>
            <a:r>
              <a:rPr lang="en-US" sz="1900" b="1" dirty="0">
                <a:solidFill>
                  <a:srgbClr val="9A6608"/>
                </a:solidFill>
                <a:latin typeface="Courier New" pitchFamily="34" charset="0"/>
                <a:ea typeface="Courier New" pitchFamily="34" charset="-122"/>
                <a:cs typeface="Courier New" pitchFamily="34" charset="-120"/>
              </a:rPr>
              <a:t>01</a:t>
            </a:r>
            <a:endParaRPr lang="en-US" sz="1900" dirty="0"/>
          </a:p>
        </p:txBody>
      </p:sp>
      <p:sp>
        <p:nvSpPr>
          <p:cNvPr id="5" name="Text 3"/>
          <p:cNvSpPr txBox="1"/>
          <p:nvPr/>
        </p:nvSpPr>
        <p:spPr>
          <a:xfrm>
            <a:off x="1645920" y="1719072"/>
            <a:ext cx="3017520" cy="402336"/>
          </a:xfrm>
          <a:prstGeom prst="rect">
            <a:avLst/>
          </a:prstGeom>
          <a:noFill/>
          <a:ln/>
        </p:spPr>
        <p:txBody>
          <a:bodyPr wrap="square" lIns="0" tIns="0" rIns="0" bIns="0" rtlCol="0" anchor="ctr"/>
          <a:lstStyle/>
          <a:p>
            <a:pPr indent="0" marL="0">
              <a:buNone/>
            </a:pPr>
            <a:r>
              <a:rPr lang="en-US" sz="1700" b="1" dirty="0">
                <a:solidFill>
                  <a:srgbClr val="14171A"/>
                </a:solidFill>
                <a:latin typeface="Cambria" pitchFamily="34" charset="0"/>
                <a:ea typeface="Cambria" pitchFamily="34" charset="-122"/>
                <a:cs typeface="Cambria" pitchFamily="34" charset="-120"/>
              </a:rPr>
              <a:t>The cost of telling</a:t>
            </a:r>
            <a:endParaRPr lang="en-US" sz="1700" dirty="0"/>
          </a:p>
        </p:txBody>
      </p:sp>
      <p:sp>
        <p:nvSpPr>
          <p:cNvPr id="6" name="Text 4"/>
          <p:cNvSpPr txBox="1"/>
          <p:nvPr/>
        </p:nvSpPr>
        <p:spPr>
          <a:xfrm>
            <a:off x="4846320" y="1746504"/>
            <a:ext cx="6583680" cy="530352"/>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What disclosure takes out of a person, in their own words</a:t>
            </a:r>
            <a:endParaRPr lang="en-US" sz="1200" dirty="0"/>
          </a:p>
        </p:txBody>
      </p:sp>
      <p:sp>
        <p:nvSpPr>
          <p:cNvPr id="7" name="Text 5"/>
          <p:cNvSpPr txBox="1"/>
          <p:nvPr/>
        </p:nvSpPr>
        <p:spPr>
          <a:xfrm>
            <a:off x="777240" y="2377440"/>
            <a:ext cx="731520" cy="402336"/>
          </a:xfrm>
          <a:prstGeom prst="rect">
            <a:avLst/>
          </a:prstGeom>
          <a:noFill/>
          <a:ln/>
        </p:spPr>
        <p:txBody>
          <a:bodyPr wrap="square" lIns="0" tIns="0" rIns="0" bIns="0" rtlCol="0" anchor="ctr"/>
          <a:lstStyle/>
          <a:p>
            <a:pPr indent="0" marL="0">
              <a:buNone/>
            </a:pPr>
            <a:r>
              <a:rPr lang="en-US" sz="1900" b="1" dirty="0">
                <a:solidFill>
                  <a:srgbClr val="9A6608"/>
                </a:solidFill>
                <a:latin typeface="Courier New" pitchFamily="34" charset="0"/>
                <a:ea typeface="Courier New" pitchFamily="34" charset="-122"/>
                <a:cs typeface="Courier New" pitchFamily="34" charset="-120"/>
              </a:rPr>
              <a:t>02</a:t>
            </a:r>
            <a:endParaRPr lang="en-US" sz="1900" dirty="0"/>
          </a:p>
        </p:txBody>
      </p:sp>
      <p:sp>
        <p:nvSpPr>
          <p:cNvPr id="8" name="Text 6"/>
          <p:cNvSpPr txBox="1"/>
          <p:nvPr/>
        </p:nvSpPr>
        <p:spPr>
          <a:xfrm>
            <a:off x="1645920" y="2377440"/>
            <a:ext cx="3017520" cy="402336"/>
          </a:xfrm>
          <a:prstGeom prst="rect">
            <a:avLst/>
          </a:prstGeom>
          <a:noFill/>
          <a:ln/>
        </p:spPr>
        <p:txBody>
          <a:bodyPr wrap="square" lIns="0" tIns="0" rIns="0" bIns="0" rtlCol="0" anchor="ctr"/>
          <a:lstStyle/>
          <a:p>
            <a:pPr indent="0" marL="0">
              <a:buNone/>
            </a:pPr>
            <a:r>
              <a:rPr lang="en-US" sz="1700" b="1" dirty="0">
                <a:solidFill>
                  <a:srgbClr val="14171A"/>
                </a:solidFill>
                <a:latin typeface="Cambria" pitchFamily="34" charset="0"/>
                <a:ea typeface="Cambria" pitchFamily="34" charset="-122"/>
                <a:cs typeface="Cambria" pitchFamily="34" charset="-120"/>
              </a:rPr>
              <a:t>The evidence</a:t>
            </a:r>
            <a:endParaRPr lang="en-US" sz="1700" dirty="0"/>
          </a:p>
        </p:txBody>
      </p:sp>
      <p:sp>
        <p:nvSpPr>
          <p:cNvPr id="9" name="Text 7"/>
          <p:cNvSpPr txBox="1"/>
          <p:nvPr/>
        </p:nvSpPr>
        <p:spPr>
          <a:xfrm>
            <a:off x="4846320" y="2404872"/>
            <a:ext cx="6583680" cy="530352"/>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WHO, Statistics Canada, US Bureau of Labor Statistics, and the study that measures the gap directly</a:t>
            </a:r>
            <a:endParaRPr lang="en-US" sz="1200" dirty="0"/>
          </a:p>
        </p:txBody>
      </p:sp>
      <p:sp>
        <p:nvSpPr>
          <p:cNvPr id="10" name="Text 8"/>
          <p:cNvSpPr txBox="1"/>
          <p:nvPr/>
        </p:nvSpPr>
        <p:spPr>
          <a:xfrm>
            <a:off x="777240" y="3035808"/>
            <a:ext cx="731520" cy="402336"/>
          </a:xfrm>
          <a:prstGeom prst="rect">
            <a:avLst/>
          </a:prstGeom>
          <a:noFill/>
          <a:ln/>
        </p:spPr>
        <p:txBody>
          <a:bodyPr wrap="square" lIns="0" tIns="0" rIns="0" bIns="0" rtlCol="0" anchor="ctr"/>
          <a:lstStyle/>
          <a:p>
            <a:pPr indent="0" marL="0">
              <a:buNone/>
            </a:pPr>
            <a:r>
              <a:rPr lang="en-US" sz="1900" b="1" dirty="0">
                <a:solidFill>
                  <a:srgbClr val="9A6608"/>
                </a:solidFill>
                <a:latin typeface="Courier New" pitchFamily="34" charset="0"/>
                <a:ea typeface="Courier New" pitchFamily="34" charset="-122"/>
                <a:cs typeface="Courier New" pitchFamily="34" charset="-120"/>
              </a:rPr>
              <a:t>03</a:t>
            </a:r>
            <a:endParaRPr lang="en-US" sz="1900" dirty="0"/>
          </a:p>
        </p:txBody>
      </p:sp>
      <p:sp>
        <p:nvSpPr>
          <p:cNvPr id="11" name="Text 9"/>
          <p:cNvSpPr txBox="1"/>
          <p:nvPr/>
        </p:nvSpPr>
        <p:spPr>
          <a:xfrm>
            <a:off x="1645920" y="3035808"/>
            <a:ext cx="3017520" cy="402336"/>
          </a:xfrm>
          <a:prstGeom prst="rect">
            <a:avLst/>
          </a:prstGeom>
          <a:noFill/>
          <a:ln/>
        </p:spPr>
        <p:txBody>
          <a:bodyPr wrap="square" lIns="0" tIns="0" rIns="0" bIns="0" rtlCol="0" anchor="ctr"/>
          <a:lstStyle/>
          <a:p>
            <a:pPr indent="0" marL="0">
              <a:buNone/>
            </a:pPr>
            <a:r>
              <a:rPr lang="en-US" sz="1700" b="1" dirty="0">
                <a:solidFill>
                  <a:srgbClr val="14171A"/>
                </a:solidFill>
                <a:latin typeface="Cambria" pitchFamily="34" charset="0"/>
                <a:ea typeface="Cambria" pitchFamily="34" charset="-122"/>
                <a:cs typeface="Cambria" pitchFamily="34" charset="-120"/>
              </a:rPr>
              <a:t>The build</a:t>
            </a:r>
            <a:endParaRPr lang="en-US" sz="1700" dirty="0"/>
          </a:p>
        </p:txBody>
      </p:sp>
      <p:sp>
        <p:nvSpPr>
          <p:cNvPr id="12" name="Text 10"/>
          <p:cNvSpPr txBox="1"/>
          <p:nvPr/>
        </p:nvSpPr>
        <p:spPr>
          <a:xfrm>
            <a:off x="4846320" y="3063240"/>
            <a:ext cx="6583680" cy="530352"/>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Reference architecture, the channel layer, the grounding path, and the three rules the system won't break</a:t>
            </a:r>
            <a:endParaRPr lang="en-US" sz="1200" dirty="0"/>
          </a:p>
        </p:txBody>
      </p:sp>
      <p:sp>
        <p:nvSpPr>
          <p:cNvPr id="13" name="Text 11"/>
          <p:cNvSpPr txBox="1"/>
          <p:nvPr/>
        </p:nvSpPr>
        <p:spPr>
          <a:xfrm>
            <a:off x="777240" y="3694176"/>
            <a:ext cx="731520" cy="402336"/>
          </a:xfrm>
          <a:prstGeom prst="rect">
            <a:avLst/>
          </a:prstGeom>
          <a:noFill/>
          <a:ln/>
        </p:spPr>
        <p:txBody>
          <a:bodyPr wrap="square" lIns="0" tIns="0" rIns="0" bIns="0" rtlCol="0" anchor="ctr"/>
          <a:lstStyle/>
          <a:p>
            <a:pPr indent="0" marL="0">
              <a:buNone/>
            </a:pPr>
            <a:r>
              <a:rPr lang="en-US" sz="1900" b="1" dirty="0">
                <a:solidFill>
                  <a:srgbClr val="9A6608"/>
                </a:solidFill>
                <a:latin typeface="Courier New" pitchFamily="34" charset="0"/>
                <a:ea typeface="Courier New" pitchFamily="34" charset="-122"/>
                <a:cs typeface="Courier New" pitchFamily="34" charset="-120"/>
              </a:rPr>
              <a:t>04</a:t>
            </a:r>
            <a:endParaRPr lang="en-US" sz="1900" dirty="0"/>
          </a:p>
        </p:txBody>
      </p:sp>
      <p:sp>
        <p:nvSpPr>
          <p:cNvPr id="14" name="Text 12"/>
          <p:cNvSpPr txBox="1"/>
          <p:nvPr/>
        </p:nvSpPr>
        <p:spPr>
          <a:xfrm>
            <a:off x="1645920" y="3694176"/>
            <a:ext cx="3017520" cy="402336"/>
          </a:xfrm>
          <a:prstGeom prst="rect">
            <a:avLst/>
          </a:prstGeom>
          <a:noFill/>
          <a:ln/>
        </p:spPr>
        <p:txBody>
          <a:bodyPr wrap="square" lIns="0" tIns="0" rIns="0" bIns="0" rtlCol="0" anchor="ctr"/>
          <a:lstStyle/>
          <a:p>
            <a:pPr indent="0" marL="0">
              <a:buNone/>
            </a:pPr>
            <a:r>
              <a:rPr lang="en-US" sz="1700" b="1" dirty="0">
                <a:solidFill>
                  <a:srgbClr val="14171A"/>
                </a:solidFill>
                <a:latin typeface="Cambria" pitchFamily="34" charset="0"/>
                <a:ea typeface="Cambria" pitchFamily="34" charset="-122"/>
                <a:cs typeface="Cambria" pitchFamily="34" charset="-120"/>
              </a:rPr>
              <a:t>The honest part</a:t>
            </a:r>
            <a:endParaRPr lang="en-US" sz="1700" dirty="0"/>
          </a:p>
        </p:txBody>
      </p:sp>
      <p:sp>
        <p:nvSpPr>
          <p:cNvPr id="15" name="Text 13"/>
          <p:cNvSpPr txBox="1"/>
          <p:nvPr/>
        </p:nvSpPr>
        <p:spPr>
          <a:xfrm>
            <a:off x="4846320" y="3721608"/>
            <a:ext cx="6583680" cy="530352"/>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What we shipped wrong, what two audits found, and what still fails</a:t>
            </a:r>
            <a:endParaRPr lang="en-US" sz="1200" dirty="0"/>
          </a:p>
        </p:txBody>
      </p:sp>
      <p:sp>
        <p:nvSpPr>
          <p:cNvPr id="16" name="Text 14"/>
          <p:cNvSpPr txBox="1"/>
          <p:nvPr/>
        </p:nvSpPr>
        <p:spPr>
          <a:xfrm>
            <a:off x="777240" y="4352544"/>
            <a:ext cx="731520" cy="402336"/>
          </a:xfrm>
          <a:prstGeom prst="rect">
            <a:avLst/>
          </a:prstGeom>
          <a:noFill/>
          <a:ln/>
        </p:spPr>
        <p:txBody>
          <a:bodyPr wrap="square" lIns="0" tIns="0" rIns="0" bIns="0" rtlCol="0" anchor="ctr"/>
          <a:lstStyle/>
          <a:p>
            <a:pPr indent="0" marL="0">
              <a:buNone/>
            </a:pPr>
            <a:r>
              <a:rPr lang="en-US" sz="1900" b="1" dirty="0">
                <a:solidFill>
                  <a:srgbClr val="9A6608"/>
                </a:solidFill>
                <a:latin typeface="Courier New" pitchFamily="34" charset="0"/>
                <a:ea typeface="Courier New" pitchFamily="34" charset="-122"/>
                <a:cs typeface="Courier New" pitchFamily="34" charset="-120"/>
              </a:rPr>
              <a:t>05</a:t>
            </a:r>
            <a:endParaRPr lang="en-US" sz="1900" dirty="0"/>
          </a:p>
        </p:txBody>
      </p:sp>
      <p:sp>
        <p:nvSpPr>
          <p:cNvPr id="17" name="Text 15"/>
          <p:cNvSpPr txBox="1"/>
          <p:nvPr/>
        </p:nvSpPr>
        <p:spPr>
          <a:xfrm>
            <a:off x="1645920" y="4352544"/>
            <a:ext cx="3017520" cy="402336"/>
          </a:xfrm>
          <a:prstGeom prst="rect">
            <a:avLst/>
          </a:prstGeom>
          <a:noFill/>
          <a:ln/>
        </p:spPr>
        <p:txBody>
          <a:bodyPr wrap="square" lIns="0" tIns="0" rIns="0" bIns="0" rtlCol="0" anchor="ctr"/>
          <a:lstStyle/>
          <a:p>
            <a:pPr indent="0" marL="0">
              <a:buNone/>
            </a:pPr>
            <a:r>
              <a:rPr lang="en-US" sz="1700" b="1" dirty="0">
                <a:solidFill>
                  <a:srgbClr val="14171A"/>
                </a:solidFill>
                <a:latin typeface="Cambria" pitchFamily="34" charset="0"/>
                <a:ea typeface="Cambria" pitchFamily="34" charset="-122"/>
                <a:cs typeface="Cambria" pitchFamily="34" charset="-120"/>
              </a:rPr>
              <a:t>The offer</a:t>
            </a:r>
            <a:endParaRPr lang="en-US" sz="1700" dirty="0"/>
          </a:p>
        </p:txBody>
      </p:sp>
      <p:sp>
        <p:nvSpPr>
          <p:cNvPr id="18" name="Text 16"/>
          <p:cNvSpPr txBox="1"/>
          <p:nvPr/>
        </p:nvSpPr>
        <p:spPr>
          <a:xfrm>
            <a:off x="4846320" y="4379976"/>
            <a:ext cx="6583680" cy="530352"/>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Why good employers haven't done this, and what it needs from the ones who will</a:t>
            </a:r>
            <a:endParaRPr lang="en-US" sz="1200" dirty="0"/>
          </a:p>
        </p:txBody>
      </p:sp>
      <p:sp>
        <p:nvSpPr>
          <p:cNvPr id="19" name="Text 17"/>
          <p:cNvSpPr txBox="1"/>
          <p:nvPr/>
        </p:nvSpPr>
        <p:spPr>
          <a:xfrm>
            <a:off x="777240" y="5010912"/>
            <a:ext cx="731520" cy="402336"/>
          </a:xfrm>
          <a:prstGeom prst="rect">
            <a:avLst/>
          </a:prstGeom>
          <a:noFill/>
          <a:ln/>
        </p:spPr>
        <p:txBody>
          <a:bodyPr wrap="square" lIns="0" tIns="0" rIns="0" bIns="0" rtlCol="0" anchor="ctr"/>
          <a:lstStyle/>
          <a:p>
            <a:pPr indent="0" marL="0">
              <a:buNone/>
            </a:pPr>
            <a:r>
              <a:rPr lang="en-US" sz="1900" b="1" dirty="0">
                <a:solidFill>
                  <a:srgbClr val="9A6608"/>
                </a:solidFill>
                <a:latin typeface="Courier New" pitchFamily="34" charset="0"/>
                <a:ea typeface="Courier New" pitchFamily="34" charset="-122"/>
                <a:cs typeface="Courier New" pitchFamily="34" charset="-120"/>
              </a:rPr>
              <a:t>A</a:t>
            </a:r>
            <a:endParaRPr lang="en-US" sz="1900" dirty="0"/>
          </a:p>
        </p:txBody>
      </p:sp>
      <p:sp>
        <p:nvSpPr>
          <p:cNvPr id="20" name="Text 18"/>
          <p:cNvSpPr txBox="1"/>
          <p:nvPr/>
        </p:nvSpPr>
        <p:spPr>
          <a:xfrm>
            <a:off x="1645920" y="5010912"/>
            <a:ext cx="3017520" cy="402336"/>
          </a:xfrm>
          <a:prstGeom prst="rect">
            <a:avLst/>
          </a:prstGeom>
          <a:noFill/>
          <a:ln/>
        </p:spPr>
        <p:txBody>
          <a:bodyPr wrap="square" lIns="0" tIns="0" rIns="0" bIns="0" rtlCol="0" anchor="ctr"/>
          <a:lstStyle/>
          <a:p>
            <a:pPr indent="0" marL="0">
              <a:buNone/>
            </a:pPr>
            <a:r>
              <a:rPr lang="en-US" sz="1700" b="1" dirty="0">
                <a:solidFill>
                  <a:srgbClr val="14171A"/>
                </a:solidFill>
                <a:latin typeface="Cambria" pitchFamily="34" charset="0"/>
                <a:ea typeface="Cambria" pitchFamily="34" charset="-122"/>
                <a:cs typeface="Cambria" pitchFamily="34" charset="-120"/>
              </a:rPr>
              <a:t>Appendix</a:t>
            </a:r>
            <a:endParaRPr lang="en-US" sz="1700" dirty="0"/>
          </a:p>
        </p:txBody>
      </p:sp>
      <p:sp>
        <p:nvSpPr>
          <p:cNvPr id="21" name="Text 19"/>
          <p:cNvSpPr txBox="1"/>
          <p:nvPr/>
        </p:nvSpPr>
        <p:spPr>
          <a:xfrm>
            <a:off x="4846320" y="5038344"/>
            <a:ext cx="6583680" cy="530352"/>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Every figure with its source, and the command that proves each one</a:t>
            </a:r>
            <a:endParaRPr lang="en-US" sz="1200" dirty="0"/>
          </a:p>
        </p:txBody>
      </p:sp>
      <p:sp>
        <p:nvSpPr>
          <p:cNvPr id="22" name="Text 20"/>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Every figure is verifiable against a deployed org. The commands are on the last slide.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777240" y="2286000"/>
            <a:ext cx="1828800" cy="914400"/>
          </a:xfrm>
          <a:prstGeom prst="rect">
            <a:avLst/>
          </a:prstGeom>
          <a:noFill/>
          <a:ln/>
        </p:spPr>
        <p:txBody>
          <a:bodyPr wrap="square" lIns="0" tIns="0" rIns="0" bIns="0" rtlCol="0" anchor="ctr"/>
          <a:lstStyle/>
          <a:p>
            <a:pPr indent="0" marL="0">
              <a:buNone/>
            </a:pPr>
            <a:r>
              <a:rPr lang="en-US" sz="4800" b="1" dirty="0">
                <a:solidFill>
                  <a:srgbClr val="E8C87A"/>
                </a:solidFill>
                <a:latin typeface="Courier New" pitchFamily="34" charset="0"/>
                <a:ea typeface="Courier New" pitchFamily="34" charset="-122"/>
                <a:cs typeface="Courier New" pitchFamily="34" charset="-120"/>
              </a:rPr>
              <a:t>01</a:t>
            </a:r>
            <a:endParaRPr lang="en-US" sz="4800" dirty="0"/>
          </a:p>
        </p:txBody>
      </p:sp>
      <p:sp>
        <p:nvSpPr>
          <p:cNvPr id="3" name="Text 1"/>
          <p:cNvSpPr txBox="1"/>
          <p:nvPr/>
        </p:nvSpPr>
        <p:spPr>
          <a:xfrm>
            <a:off x="777240" y="3154680"/>
            <a:ext cx="10058400" cy="822960"/>
          </a:xfrm>
          <a:prstGeom prst="rect">
            <a:avLst/>
          </a:prstGeom>
          <a:noFill/>
          <a:ln/>
        </p:spPr>
        <p:txBody>
          <a:bodyPr wrap="square" lIns="0" tIns="0" rIns="0" bIns="0" rtlCol="0" anchor="ctr"/>
          <a:lstStyle/>
          <a:p>
            <a:pPr indent="0" marL="0">
              <a:buNone/>
            </a:pPr>
            <a:r>
              <a:rPr lang="en-US" sz="4100" b="1" dirty="0">
                <a:solidFill>
                  <a:srgbClr val="F7F5EF"/>
                </a:solidFill>
                <a:latin typeface="Cambria" pitchFamily="34" charset="0"/>
                <a:ea typeface="Cambria" pitchFamily="34" charset="-122"/>
                <a:cs typeface="Cambria" pitchFamily="34" charset="-120"/>
              </a:rPr>
              <a:t>The cost of telling</a:t>
            </a:r>
            <a:endParaRPr lang="en-US" sz="4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612648" y="658368"/>
            <a:ext cx="1371600" cy="1325880"/>
          </a:xfrm>
          <a:prstGeom prst="rect">
            <a:avLst/>
          </a:prstGeom>
          <a:noFill/>
          <a:ln/>
        </p:spPr>
        <p:txBody>
          <a:bodyPr wrap="square" lIns="0" tIns="0" rIns="0" bIns="0" rtlCol="0" anchor="ctr"/>
          <a:lstStyle/>
          <a:p>
            <a:pPr indent="0" marL="0">
              <a:buNone/>
            </a:pPr>
            <a:r>
              <a:rPr lang="en-US" sz="8800" dirty="0">
                <a:solidFill>
                  <a:srgbClr val="E8C87A"/>
                </a:solidFill>
                <a:latin typeface="Cambria" pitchFamily="34" charset="0"/>
                <a:ea typeface="Cambria" pitchFamily="34" charset="-122"/>
                <a:cs typeface="Cambria" pitchFamily="34" charset="-120"/>
              </a:rPr>
              <a:t>“</a:t>
            </a:r>
            <a:endParaRPr lang="en-US" sz="8800" dirty="0"/>
          </a:p>
        </p:txBody>
      </p:sp>
      <p:sp>
        <p:nvSpPr>
          <p:cNvPr id="3" name="Text 1"/>
          <p:cNvSpPr txBox="1"/>
          <p:nvPr/>
        </p:nvSpPr>
        <p:spPr>
          <a:xfrm>
            <a:off x="777240" y="2048256"/>
            <a:ext cx="10424160" cy="2560320"/>
          </a:xfrm>
          <a:prstGeom prst="rect">
            <a:avLst/>
          </a:prstGeom>
          <a:noFill/>
          <a:ln/>
        </p:spPr>
        <p:txBody>
          <a:bodyPr wrap="square" lIns="0" tIns="0" rIns="0" bIns="0" rtlCol="0" anchor="ctr"/>
          <a:lstStyle/>
          <a:p>
            <a:pPr indent="0" marL="0">
              <a:lnSpc>
                <a:spcPct val="120000"/>
              </a:lnSpc>
              <a:buNone/>
            </a:pPr>
            <a:r>
              <a:rPr lang="en-US" sz="3300" i="1" dirty="0">
                <a:solidFill>
                  <a:srgbClr val="F7F5EF"/>
                </a:solidFill>
                <a:latin typeface="Cambria" pitchFamily="34" charset="0"/>
                <a:ea typeface="Cambria" pitchFamily="34" charset="-122"/>
                <a:cs typeface="Cambria" pitchFamily="34" charset="-120"/>
              </a:rPr>
              <a:t>...having to sit down and explain it six times a day to twenty different people adds to that exhaustion.</a:t>
            </a:r>
            <a:endParaRPr lang="en-US" sz="3300" dirty="0"/>
          </a:p>
        </p:txBody>
      </p:sp>
      <p:sp>
        <p:nvSpPr>
          <p:cNvPr id="4" name="Text 2"/>
          <p:cNvSpPr txBox="1"/>
          <p:nvPr/>
        </p:nvSpPr>
        <p:spPr>
          <a:xfrm>
            <a:off x="777240" y="4892040"/>
            <a:ext cx="10424160" cy="640080"/>
          </a:xfrm>
          <a:prstGeom prst="rect">
            <a:avLst/>
          </a:prstGeom>
          <a:noFill/>
          <a:ln/>
        </p:spPr>
        <p:txBody>
          <a:bodyPr wrap="square" lIns="0" tIns="0" rIns="0" bIns="0" rtlCol="0" anchor="ctr"/>
          <a:lstStyle/>
          <a:p>
            <a:pPr indent="0" marL="0">
              <a:buNone/>
            </a:pPr>
            <a:r>
              <a:rPr lang="en-US" sz="1200" dirty="0">
                <a:solidFill>
                  <a:srgbClr val="A9B0B6"/>
                </a:solidFill>
                <a:latin typeface="Courier New" pitchFamily="34" charset="0"/>
                <a:ea typeface="Courier New" pitchFamily="34" charset="-122"/>
                <a:cs typeface="Courier New" pitchFamily="34" charset="-120"/>
              </a:rPr>
              <a:t>Interview participant, workplace disclosure study, Proceedings of the ACM on</a:t>
            </a:r>
            <a:endParaRPr lang="en-US" sz="1200" dirty="0"/>
          </a:p>
          <a:p>
            <a:pPr indent="0" marL="0">
              <a:buNone/>
            </a:pPr>
            <a:r>
              <a:rPr lang="en-US" sz="1200" dirty="0">
                <a:solidFill>
                  <a:srgbClr val="A9B0B6"/>
                </a:solidFill>
                <a:latin typeface="Courier New" pitchFamily="34" charset="0"/>
                <a:ea typeface="Courier New" pitchFamily="34" charset="-122"/>
                <a:cs typeface="Courier New" pitchFamily="34" charset="-120"/>
              </a:rPr>
              <a:t>Human-Computer Interaction. One of eight people with invisible chronic conditions.</a:t>
            </a:r>
            <a:endParaRPr lang="en-US" sz="1200" dirty="0"/>
          </a:p>
        </p:txBody>
      </p:sp>
      <p:sp>
        <p:nvSpPr>
          <p:cNvPr id="5" name="Text 3"/>
          <p:cNvSpPr txBox="1"/>
          <p:nvPr/>
        </p:nvSpPr>
        <p:spPr>
          <a:xfrm>
            <a:off x="777240" y="5623560"/>
            <a:ext cx="10424160" cy="640080"/>
          </a:xfrm>
          <a:prstGeom prst="rect">
            <a:avLst/>
          </a:prstGeom>
          <a:noFill/>
          <a:ln/>
        </p:spPr>
        <p:txBody>
          <a:bodyPr wrap="square" lIns="0" tIns="0" rIns="0" bIns="0" rtlCol="0" anchor="ctr"/>
          <a:lstStyle/>
          <a:p>
            <a:pPr indent="0" marL="0">
              <a:buNone/>
            </a:pPr>
            <a:r>
              <a:rPr lang="en-US" sz="1350" i="1" dirty="0">
                <a:solidFill>
                  <a:srgbClr val="E8C87A"/>
                </a:solidFill>
                <a:latin typeface="Cambria" pitchFamily="34" charset="0"/>
                <a:ea typeface="Cambria" pitchFamily="34" charset="-122"/>
                <a:cs typeface="Cambria" pitchFamily="34" charset="-120"/>
              </a:rPr>
              <a:t>Measured again in 2022 and 2025. It hasn't closed.</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01  THE COST OF TELLING</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Telling is never one conversation.</a:t>
            </a:r>
            <a:endParaRPr lang="en-US" sz="3300" dirty="0"/>
          </a:p>
        </p:txBody>
      </p:sp>
      <p:sp>
        <p:nvSpPr>
          <p:cNvPr id="4" name="Shape 2"/>
          <p:cNvSpPr/>
          <p:nvPr/>
        </p:nvSpPr>
        <p:spPr>
          <a:xfrm>
            <a:off x="777240" y="1892808"/>
            <a:ext cx="54864" cy="384048"/>
          </a:xfrm>
          <a:prstGeom prst="rect">
            <a:avLst/>
          </a:prstGeom>
          <a:solidFill>
            <a:srgbClr val="C9A227"/>
          </a:solidFill>
          <a:ln w="12700">
            <a:solidFill>
              <a:srgbClr val="C9A227"/>
            </a:solidFill>
            <a:prstDash val="solid"/>
          </a:ln>
        </p:spPr>
      </p:sp>
      <p:sp>
        <p:nvSpPr>
          <p:cNvPr id="5" name="Text 3"/>
          <p:cNvSpPr txBox="1"/>
          <p:nvPr/>
        </p:nvSpPr>
        <p:spPr>
          <a:xfrm>
            <a:off x="1051560" y="1783080"/>
            <a:ext cx="3200400" cy="384048"/>
          </a:xfrm>
          <a:prstGeom prst="rect">
            <a:avLst/>
          </a:prstGeom>
          <a:noFill/>
          <a:ln/>
        </p:spPr>
        <p:txBody>
          <a:bodyPr wrap="square" lIns="0" tIns="0" rIns="0" bIns="0" rtlCol="0" anchor="ctr"/>
          <a:lstStyle/>
          <a:p>
            <a:pPr indent="0" marL="0">
              <a:buNone/>
            </a:pPr>
            <a:r>
              <a:rPr lang="en-US" sz="1600" b="1" dirty="0">
                <a:solidFill>
                  <a:srgbClr val="14171A"/>
                </a:solidFill>
                <a:latin typeface="Cambria" pitchFamily="34" charset="0"/>
                <a:ea typeface="Cambria" pitchFamily="34" charset="-122"/>
                <a:cs typeface="Cambria" pitchFamily="34" charset="-120"/>
              </a:rPr>
              <a:t>Every new manager</a:t>
            </a:r>
            <a:endParaRPr lang="en-US" sz="1600" dirty="0"/>
          </a:p>
        </p:txBody>
      </p:sp>
      <p:sp>
        <p:nvSpPr>
          <p:cNvPr id="6" name="Text 4"/>
          <p:cNvSpPr txBox="1"/>
          <p:nvPr/>
        </p:nvSpPr>
        <p:spPr>
          <a:xfrm>
            <a:off x="4480560" y="1810512"/>
            <a:ext cx="6949440" cy="457200"/>
          </a:xfrm>
          <a:prstGeom prst="rect">
            <a:avLst/>
          </a:prstGeom>
          <a:noFill/>
          <a:ln/>
        </p:spPr>
        <p:txBody>
          <a:bodyPr wrap="square" lIns="0" tIns="0" rIns="0" bIns="0" rtlCol="0" anchor="ctr"/>
          <a:lstStyle/>
          <a:p>
            <a:pPr indent="0" marL="0">
              <a:buNone/>
            </a:pPr>
            <a:r>
              <a:rPr lang="en-US" sz="1400" dirty="0">
                <a:solidFill>
                  <a:srgbClr val="42474C"/>
                </a:solidFill>
                <a:latin typeface="Calibri" pitchFamily="34" charset="0"/>
                <a:ea typeface="Calibri" pitchFamily="34" charset="-122"/>
                <a:cs typeface="Calibri" pitchFamily="34" charset="-120"/>
              </a:rPr>
              <a:t>starts the explanation again from nothing</a:t>
            </a:r>
            <a:endParaRPr lang="en-US" sz="1400" dirty="0"/>
          </a:p>
        </p:txBody>
      </p:sp>
      <p:sp>
        <p:nvSpPr>
          <p:cNvPr id="7" name="Shape 5"/>
          <p:cNvSpPr/>
          <p:nvPr/>
        </p:nvSpPr>
        <p:spPr>
          <a:xfrm>
            <a:off x="777240" y="2679192"/>
            <a:ext cx="54864" cy="384048"/>
          </a:xfrm>
          <a:prstGeom prst="rect">
            <a:avLst/>
          </a:prstGeom>
          <a:solidFill>
            <a:srgbClr val="C9A227"/>
          </a:solidFill>
          <a:ln w="12700">
            <a:solidFill>
              <a:srgbClr val="C9A227"/>
            </a:solidFill>
            <a:prstDash val="solid"/>
          </a:ln>
        </p:spPr>
      </p:sp>
      <p:sp>
        <p:nvSpPr>
          <p:cNvPr id="8" name="Text 6"/>
          <p:cNvSpPr txBox="1"/>
          <p:nvPr/>
        </p:nvSpPr>
        <p:spPr>
          <a:xfrm>
            <a:off x="1051560" y="2569464"/>
            <a:ext cx="3200400" cy="384048"/>
          </a:xfrm>
          <a:prstGeom prst="rect">
            <a:avLst/>
          </a:prstGeom>
          <a:noFill/>
          <a:ln/>
        </p:spPr>
        <p:txBody>
          <a:bodyPr wrap="square" lIns="0" tIns="0" rIns="0" bIns="0" rtlCol="0" anchor="ctr"/>
          <a:lstStyle/>
          <a:p>
            <a:pPr indent="0" marL="0">
              <a:buNone/>
            </a:pPr>
            <a:r>
              <a:rPr lang="en-US" sz="1600" b="1" dirty="0">
                <a:solidFill>
                  <a:srgbClr val="14171A"/>
                </a:solidFill>
                <a:latin typeface="Cambria" pitchFamily="34" charset="0"/>
                <a:ea typeface="Cambria" pitchFamily="34" charset="-122"/>
                <a:cs typeface="Cambria" pitchFamily="34" charset="-120"/>
              </a:rPr>
              <a:t>Every new team</a:t>
            </a:r>
            <a:endParaRPr lang="en-US" sz="1600" dirty="0"/>
          </a:p>
        </p:txBody>
      </p:sp>
      <p:sp>
        <p:nvSpPr>
          <p:cNvPr id="9" name="Text 7"/>
          <p:cNvSpPr txBox="1"/>
          <p:nvPr/>
        </p:nvSpPr>
        <p:spPr>
          <a:xfrm>
            <a:off x="4480560" y="2596896"/>
            <a:ext cx="6949440" cy="457200"/>
          </a:xfrm>
          <a:prstGeom prst="rect">
            <a:avLst/>
          </a:prstGeom>
          <a:noFill/>
          <a:ln/>
        </p:spPr>
        <p:txBody>
          <a:bodyPr wrap="square" lIns="0" tIns="0" rIns="0" bIns="0" rtlCol="0" anchor="ctr"/>
          <a:lstStyle/>
          <a:p>
            <a:pPr indent="0" marL="0">
              <a:buNone/>
            </a:pPr>
            <a:r>
              <a:rPr lang="en-US" sz="1400" dirty="0">
                <a:solidFill>
                  <a:srgbClr val="42474C"/>
                </a:solidFill>
                <a:latin typeface="Calibri" pitchFamily="34" charset="0"/>
                <a:ea typeface="Calibri" pitchFamily="34" charset="-122"/>
                <a:cs typeface="Calibri" pitchFamily="34" charset="-120"/>
              </a:rPr>
              <a:t>has to be taught what the condition means</a:t>
            </a:r>
            <a:endParaRPr lang="en-US" sz="1400" dirty="0"/>
          </a:p>
        </p:txBody>
      </p:sp>
      <p:sp>
        <p:nvSpPr>
          <p:cNvPr id="10" name="Shape 8"/>
          <p:cNvSpPr/>
          <p:nvPr/>
        </p:nvSpPr>
        <p:spPr>
          <a:xfrm>
            <a:off x="777240" y="3465576"/>
            <a:ext cx="54864" cy="384048"/>
          </a:xfrm>
          <a:prstGeom prst="rect">
            <a:avLst/>
          </a:prstGeom>
          <a:solidFill>
            <a:srgbClr val="C9A227"/>
          </a:solidFill>
          <a:ln w="12700">
            <a:solidFill>
              <a:srgbClr val="C9A227"/>
            </a:solidFill>
            <a:prstDash val="solid"/>
          </a:ln>
        </p:spPr>
      </p:sp>
      <p:sp>
        <p:nvSpPr>
          <p:cNvPr id="11" name="Text 9"/>
          <p:cNvSpPr txBox="1"/>
          <p:nvPr/>
        </p:nvSpPr>
        <p:spPr>
          <a:xfrm>
            <a:off x="1051560" y="3355848"/>
            <a:ext cx="3200400" cy="384048"/>
          </a:xfrm>
          <a:prstGeom prst="rect">
            <a:avLst/>
          </a:prstGeom>
          <a:noFill/>
          <a:ln/>
        </p:spPr>
        <p:txBody>
          <a:bodyPr wrap="square" lIns="0" tIns="0" rIns="0" bIns="0" rtlCol="0" anchor="ctr"/>
          <a:lstStyle/>
          <a:p>
            <a:pPr indent="0" marL="0">
              <a:buNone/>
            </a:pPr>
            <a:r>
              <a:rPr lang="en-US" sz="1600" b="1" dirty="0">
                <a:solidFill>
                  <a:srgbClr val="14171A"/>
                </a:solidFill>
                <a:latin typeface="Cambria" pitchFamily="34" charset="0"/>
                <a:ea typeface="Cambria" pitchFamily="34" charset="-122"/>
                <a:cs typeface="Cambria" pitchFamily="34" charset="-120"/>
              </a:rPr>
              <a:t>Every meeting host</a:t>
            </a:r>
            <a:endParaRPr lang="en-US" sz="1600" dirty="0"/>
          </a:p>
        </p:txBody>
      </p:sp>
      <p:sp>
        <p:nvSpPr>
          <p:cNvPr id="12" name="Text 10"/>
          <p:cNvSpPr txBox="1"/>
          <p:nvPr/>
        </p:nvSpPr>
        <p:spPr>
          <a:xfrm>
            <a:off x="4480560" y="3383280"/>
            <a:ext cx="6949440" cy="457200"/>
          </a:xfrm>
          <a:prstGeom prst="rect">
            <a:avLst/>
          </a:prstGeom>
          <a:noFill/>
          <a:ln/>
        </p:spPr>
        <p:txBody>
          <a:bodyPr wrap="square" lIns="0" tIns="0" rIns="0" bIns="0" rtlCol="0" anchor="ctr"/>
          <a:lstStyle/>
          <a:p>
            <a:pPr indent="0" marL="0">
              <a:buNone/>
            </a:pPr>
            <a:r>
              <a:rPr lang="en-US" sz="1400" dirty="0">
                <a:solidFill>
                  <a:srgbClr val="42474C"/>
                </a:solidFill>
                <a:latin typeface="Calibri" pitchFamily="34" charset="0"/>
                <a:ea typeface="Calibri" pitchFamily="34" charset="-122"/>
                <a:cs typeface="Calibri" pitchFamily="34" charset="-120"/>
              </a:rPr>
              <a:t>needs the same request, said the same way</a:t>
            </a:r>
            <a:endParaRPr lang="en-US" sz="1400" dirty="0"/>
          </a:p>
        </p:txBody>
      </p:sp>
      <p:sp>
        <p:nvSpPr>
          <p:cNvPr id="13" name="Shape 11"/>
          <p:cNvSpPr/>
          <p:nvPr/>
        </p:nvSpPr>
        <p:spPr>
          <a:xfrm>
            <a:off x="777240" y="4251960"/>
            <a:ext cx="54864" cy="384048"/>
          </a:xfrm>
          <a:prstGeom prst="rect">
            <a:avLst/>
          </a:prstGeom>
          <a:solidFill>
            <a:srgbClr val="C9A227"/>
          </a:solidFill>
          <a:ln w="12700">
            <a:solidFill>
              <a:srgbClr val="C9A227"/>
            </a:solidFill>
            <a:prstDash val="solid"/>
          </a:ln>
        </p:spPr>
      </p:sp>
      <p:sp>
        <p:nvSpPr>
          <p:cNvPr id="14" name="Text 12"/>
          <p:cNvSpPr txBox="1"/>
          <p:nvPr/>
        </p:nvSpPr>
        <p:spPr>
          <a:xfrm>
            <a:off x="1051560" y="4142232"/>
            <a:ext cx="3200400" cy="384048"/>
          </a:xfrm>
          <a:prstGeom prst="rect">
            <a:avLst/>
          </a:prstGeom>
          <a:noFill/>
          <a:ln/>
        </p:spPr>
        <p:txBody>
          <a:bodyPr wrap="square" lIns="0" tIns="0" rIns="0" bIns="0" rtlCol="0" anchor="ctr"/>
          <a:lstStyle/>
          <a:p>
            <a:pPr indent="0" marL="0">
              <a:buNone/>
            </a:pPr>
            <a:r>
              <a:rPr lang="en-US" sz="1600" b="1" dirty="0">
                <a:solidFill>
                  <a:srgbClr val="14171A"/>
                </a:solidFill>
                <a:latin typeface="Cambria" pitchFamily="34" charset="0"/>
                <a:ea typeface="Cambria" pitchFamily="34" charset="-122"/>
                <a:cs typeface="Cambria" pitchFamily="34" charset="-120"/>
              </a:rPr>
              <a:t>Every reorganisation</a:t>
            </a:r>
            <a:endParaRPr lang="en-US" sz="1600" dirty="0"/>
          </a:p>
        </p:txBody>
      </p:sp>
      <p:sp>
        <p:nvSpPr>
          <p:cNvPr id="15" name="Text 13"/>
          <p:cNvSpPr txBox="1"/>
          <p:nvPr/>
        </p:nvSpPr>
        <p:spPr>
          <a:xfrm>
            <a:off x="4480560" y="4169664"/>
            <a:ext cx="6949440" cy="457200"/>
          </a:xfrm>
          <a:prstGeom prst="rect">
            <a:avLst/>
          </a:prstGeom>
          <a:noFill/>
          <a:ln/>
        </p:spPr>
        <p:txBody>
          <a:bodyPr wrap="square" lIns="0" tIns="0" rIns="0" bIns="0" rtlCol="0" anchor="ctr"/>
          <a:lstStyle/>
          <a:p>
            <a:pPr indent="0" marL="0">
              <a:buNone/>
            </a:pPr>
            <a:r>
              <a:rPr lang="en-US" sz="1400" dirty="0">
                <a:solidFill>
                  <a:srgbClr val="42474C"/>
                </a:solidFill>
                <a:latin typeface="Calibri" pitchFamily="34" charset="0"/>
                <a:ea typeface="Calibri" pitchFamily="34" charset="-122"/>
                <a:cs typeface="Calibri" pitchFamily="34" charset="-120"/>
              </a:rPr>
              <a:t>resets it, and there are two a year</a:t>
            </a:r>
            <a:endParaRPr lang="en-US" sz="1400" dirty="0"/>
          </a:p>
        </p:txBody>
      </p:sp>
      <p:sp>
        <p:nvSpPr>
          <p:cNvPr id="16" name="Shape 14"/>
          <p:cNvSpPr/>
          <p:nvPr/>
        </p:nvSpPr>
        <p:spPr>
          <a:xfrm>
            <a:off x="777240" y="5038344"/>
            <a:ext cx="54864" cy="384048"/>
          </a:xfrm>
          <a:prstGeom prst="rect">
            <a:avLst/>
          </a:prstGeom>
          <a:solidFill>
            <a:srgbClr val="C9A227"/>
          </a:solidFill>
          <a:ln w="12700">
            <a:solidFill>
              <a:srgbClr val="C9A227"/>
            </a:solidFill>
            <a:prstDash val="solid"/>
          </a:ln>
        </p:spPr>
      </p:sp>
      <p:sp>
        <p:nvSpPr>
          <p:cNvPr id="17" name="Text 15"/>
          <p:cNvSpPr txBox="1"/>
          <p:nvPr/>
        </p:nvSpPr>
        <p:spPr>
          <a:xfrm>
            <a:off x="1051560" y="4928616"/>
            <a:ext cx="3200400" cy="384048"/>
          </a:xfrm>
          <a:prstGeom prst="rect">
            <a:avLst/>
          </a:prstGeom>
          <a:noFill/>
          <a:ln/>
        </p:spPr>
        <p:txBody>
          <a:bodyPr wrap="square" lIns="0" tIns="0" rIns="0" bIns="0" rtlCol="0" anchor="ctr"/>
          <a:lstStyle/>
          <a:p>
            <a:pPr indent="0" marL="0">
              <a:buNone/>
            </a:pPr>
            <a:r>
              <a:rPr lang="en-US" sz="1600" b="1" dirty="0">
                <a:solidFill>
                  <a:srgbClr val="14171A"/>
                </a:solidFill>
                <a:latin typeface="Cambria" pitchFamily="34" charset="0"/>
                <a:ea typeface="Cambria" pitchFamily="34" charset="-122"/>
                <a:cs typeface="Cambria" pitchFamily="34" charset="-120"/>
              </a:rPr>
              <a:t>Every single time</a:t>
            </a:r>
            <a:endParaRPr lang="en-US" sz="1600" dirty="0"/>
          </a:p>
        </p:txBody>
      </p:sp>
      <p:sp>
        <p:nvSpPr>
          <p:cNvPr id="18" name="Text 16"/>
          <p:cNvSpPr txBox="1"/>
          <p:nvPr/>
        </p:nvSpPr>
        <p:spPr>
          <a:xfrm>
            <a:off x="4480560" y="4956048"/>
            <a:ext cx="6949440" cy="457200"/>
          </a:xfrm>
          <a:prstGeom prst="rect">
            <a:avLst/>
          </a:prstGeom>
          <a:noFill/>
          <a:ln/>
        </p:spPr>
        <p:txBody>
          <a:bodyPr wrap="square" lIns="0" tIns="0" rIns="0" bIns="0" rtlCol="0" anchor="ctr"/>
          <a:lstStyle/>
          <a:p>
            <a:pPr indent="0" marL="0">
              <a:buNone/>
            </a:pPr>
            <a:r>
              <a:rPr lang="en-US" sz="1400" dirty="0">
                <a:solidFill>
                  <a:srgbClr val="42474C"/>
                </a:solidFill>
                <a:latin typeface="Calibri" pitchFamily="34" charset="0"/>
                <a:ea typeface="Calibri" pitchFamily="34" charset="-122"/>
                <a:cs typeface="Calibri" pitchFamily="34" charset="-120"/>
              </a:rPr>
              <a:t>she risks being believed a little less</a:t>
            </a:r>
            <a:endParaRPr lang="en-US" sz="1400" dirty="0"/>
          </a:p>
        </p:txBody>
      </p:sp>
      <p:sp>
        <p:nvSpPr>
          <p:cNvPr id="19" name="Text 17"/>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Researchers call this the educational labour of disclosure. It falls entirely on the person who is already tired.</a:t>
            </a:r>
            <a:endParaRPr lang="en-US" sz="1600" dirty="0"/>
          </a:p>
        </p:txBody>
      </p:sp>
      <p:sp>
        <p:nvSpPr>
          <p:cNvPr id="20" name="Text 18"/>
          <p:cNvSpPr txBox="1"/>
          <p:nvPr/>
        </p:nvSpPr>
        <p:spPr>
          <a:xfrm>
            <a:off x="777240" y="6419088"/>
            <a:ext cx="1069848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Ganesh and Lazar, Proceedings of the ACM on Human-Computer Interaction, 2021. Eight interview participants with invisible chronic conditions.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777240" y="2286000"/>
            <a:ext cx="1828800" cy="914400"/>
          </a:xfrm>
          <a:prstGeom prst="rect">
            <a:avLst/>
          </a:prstGeom>
          <a:noFill/>
          <a:ln/>
        </p:spPr>
        <p:txBody>
          <a:bodyPr wrap="square" lIns="0" tIns="0" rIns="0" bIns="0" rtlCol="0" anchor="ctr"/>
          <a:lstStyle/>
          <a:p>
            <a:pPr indent="0" marL="0">
              <a:buNone/>
            </a:pPr>
            <a:r>
              <a:rPr lang="en-US" sz="4800" b="1" dirty="0">
                <a:solidFill>
                  <a:srgbClr val="E8C87A"/>
                </a:solidFill>
                <a:latin typeface="Courier New" pitchFamily="34" charset="0"/>
                <a:ea typeface="Courier New" pitchFamily="34" charset="-122"/>
                <a:cs typeface="Courier New" pitchFamily="34" charset="-120"/>
              </a:rPr>
              <a:t>02</a:t>
            </a:r>
            <a:endParaRPr lang="en-US" sz="4800" dirty="0"/>
          </a:p>
        </p:txBody>
      </p:sp>
      <p:sp>
        <p:nvSpPr>
          <p:cNvPr id="3" name="Text 1"/>
          <p:cNvSpPr txBox="1"/>
          <p:nvPr/>
        </p:nvSpPr>
        <p:spPr>
          <a:xfrm>
            <a:off x="777240" y="3154680"/>
            <a:ext cx="10058400" cy="822960"/>
          </a:xfrm>
          <a:prstGeom prst="rect">
            <a:avLst/>
          </a:prstGeom>
          <a:noFill/>
          <a:ln/>
        </p:spPr>
        <p:txBody>
          <a:bodyPr wrap="square" lIns="0" tIns="0" rIns="0" bIns="0" rtlCol="0" anchor="ctr"/>
          <a:lstStyle/>
          <a:p>
            <a:pPr indent="0" marL="0">
              <a:buNone/>
            </a:pPr>
            <a:r>
              <a:rPr lang="en-US" sz="4100" b="1" dirty="0">
                <a:solidFill>
                  <a:srgbClr val="F7F5EF"/>
                </a:solidFill>
                <a:latin typeface="Cambria" pitchFamily="34" charset="0"/>
                <a:ea typeface="Cambria" pitchFamily="34" charset="-122"/>
                <a:cs typeface="Cambria" pitchFamily="34" charset="-120"/>
              </a:rPr>
              <a:t>The evidence</a:t>
            </a:r>
            <a:endParaRPr lang="en-US" sz="4100" dirty="0"/>
          </a:p>
        </p:txBody>
      </p:sp>
      <p:sp>
        <p:nvSpPr>
          <p:cNvPr id="4" name="Text 2"/>
          <p:cNvSpPr txBox="1"/>
          <p:nvPr/>
        </p:nvSpPr>
        <p:spPr>
          <a:xfrm>
            <a:off x="777240" y="4114800"/>
            <a:ext cx="9144000" cy="457200"/>
          </a:xfrm>
          <a:prstGeom prst="rect">
            <a:avLst/>
          </a:prstGeom>
          <a:noFill/>
          <a:ln/>
        </p:spPr>
        <p:txBody>
          <a:bodyPr wrap="square" lIns="0" tIns="0" rIns="0" bIns="0" rtlCol="0" anchor="ctr"/>
          <a:lstStyle/>
          <a:p>
            <a:pPr indent="0" marL="0">
              <a:buNone/>
            </a:pPr>
            <a:r>
              <a:rPr lang="en-US" sz="1600" dirty="0">
                <a:solidFill>
                  <a:srgbClr val="A9B0B6"/>
                </a:solidFill>
                <a:latin typeface="Calibri" pitchFamily="34" charset="0"/>
                <a:ea typeface="Calibri" pitchFamily="34" charset="-122"/>
                <a:cs typeface="Calibri" pitchFamily="34" charset="-120"/>
              </a:rPr>
              <a:t>Four sources. They narrow rather than contradict.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02  THE EVIDENCE</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How many people, and by whose count.</a:t>
            </a:r>
            <a:endParaRPr lang="en-US" sz="3300" dirty="0"/>
          </a:p>
        </p:txBody>
      </p:sp>
      <p:sp>
        <p:nvSpPr>
          <p:cNvPr id="4" name="Shape 2"/>
          <p:cNvSpPr/>
          <p:nvPr/>
        </p:nvSpPr>
        <p:spPr>
          <a:xfrm>
            <a:off x="777240" y="1783080"/>
            <a:ext cx="2514600" cy="2377440"/>
          </a:xfrm>
          <a:prstGeom prst="roundRect">
            <a:avLst>
              <a:gd name="adj" fmla="val 1923"/>
            </a:avLst>
          </a:prstGeom>
          <a:solidFill>
            <a:srgbClr val="FFFFFF"/>
          </a:solidFill>
          <a:ln w="15875">
            <a:solidFill>
              <a:srgbClr val="D3CEC0"/>
            </a:solidFill>
            <a:prstDash val="solid"/>
          </a:ln>
        </p:spPr>
      </p:sp>
      <p:sp>
        <p:nvSpPr>
          <p:cNvPr id="5" name="Text 3"/>
          <p:cNvSpPr txBox="1"/>
          <p:nvPr/>
        </p:nvSpPr>
        <p:spPr>
          <a:xfrm>
            <a:off x="960120" y="1938528"/>
            <a:ext cx="2194560" cy="640080"/>
          </a:xfrm>
          <a:prstGeom prst="rect">
            <a:avLst/>
          </a:prstGeom>
          <a:noFill/>
          <a:ln/>
        </p:spPr>
        <p:txBody>
          <a:bodyPr wrap="square" lIns="0" tIns="0" rIns="0" bIns="0" rtlCol="0" anchor="ctr"/>
          <a:lstStyle/>
          <a:p>
            <a:pPr indent="0" marL="0">
              <a:buNone/>
            </a:pPr>
            <a:r>
              <a:rPr lang="en-US" sz="3000" b="1" dirty="0">
                <a:solidFill>
                  <a:srgbClr val="9A6608"/>
                </a:solidFill>
                <a:latin typeface="Cambria" pitchFamily="34" charset="0"/>
                <a:ea typeface="Cambria" pitchFamily="34" charset="-122"/>
                <a:cs typeface="Cambria" pitchFamily="34" charset="-120"/>
              </a:rPr>
              <a:t>1 in 4</a:t>
            </a:r>
            <a:endParaRPr lang="en-US" sz="3000" dirty="0"/>
          </a:p>
        </p:txBody>
      </p:sp>
      <p:sp>
        <p:nvSpPr>
          <p:cNvPr id="6" name="Text 4"/>
          <p:cNvSpPr txBox="1"/>
          <p:nvPr/>
        </p:nvSpPr>
        <p:spPr>
          <a:xfrm>
            <a:off x="960120" y="2615184"/>
            <a:ext cx="2194560" cy="41148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US adults</a:t>
            </a:r>
            <a:endParaRPr lang="en-US" sz="1250" dirty="0"/>
          </a:p>
        </p:txBody>
      </p:sp>
      <p:sp>
        <p:nvSpPr>
          <p:cNvPr id="7" name="Text 5"/>
          <p:cNvSpPr txBox="1"/>
          <p:nvPr/>
        </p:nvSpPr>
        <p:spPr>
          <a:xfrm>
            <a:off x="960120" y="3017520"/>
            <a:ext cx="2194560" cy="548640"/>
          </a:xfrm>
          <a:prstGeom prst="rect">
            <a:avLst/>
          </a:prstGeom>
          <a:noFill/>
          <a:ln/>
        </p:spPr>
        <p:txBody>
          <a:bodyPr wrap="square" lIns="0" tIns="0" rIns="0" bIns="0" rtlCol="0" anchor="ctr"/>
          <a:lstStyle/>
          <a:p>
            <a:pPr indent="0" marL="0">
              <a:buNone/>
            </a:pPr>
            <a:r>
              <a:rPr lang="en-US" sz="1100" dirty="0">
                <a:solidFill>
                  <a:srgbClr val="42474C"/>
                </a:solidFill>
                <a:latin typeface="Calibri" pitchFamily="34" charset="0"/>
                <a:ea typeface="Calibri" pitchFamily="34" charset="-122"/>
                <a:cs typeface="Calibri" pitchFamily="34" charset="-120"/>
              </a:rPr>
              <a:t>CDC definition</a:t>
            </a:r>
            <a:endParaRPr lang="en-US" sz="1100" dirty="0"/>
          </a:p>
        </p:txBody>
      </p:sp>
      <p:sp>
        <p:nvSpPr>
          <p:cNvPr id="8" name="Text 6"/>
          <p:cNvSpPr txBox="1"/>
          <p:nvPr/>
        </p:nvSpPr>
        <p:spPr>
          <a:xfrm>
            <a:off x="960120" y="3657600"/>
            <a:ext cx="2194560" cy="320040"/>
          </a:xfrm>
          <a:prstGeom prst="rect">
            <a:avLst/>
          </a:prstGeom>
          <a:noFill/>
          <a:ln/>
        </p:spPr>
        <p:txBody>
          <a:bodyPr wrap="square" lIns="0" tIns="0" rIns="0" bIns="0" rtlCol="0" anchor="ctr"/>
          <a:lstStyle/>
          <a:p>
            <a:pPr indent="0" marL="0">
              <a:buNone/>
            </a:pPr>
            <a:r>
              <a:rPr lang="en-US" sz="950" dirty="0">
                <a:solidFill>
                  <a:srgbClr val="656B71"/>
                </a:solidFill>
                <a:latin typeface="Courier New" pitchFamily="34" charset="0"/>
                <a:ea typeface="Courier New" pitchFamily="34" charset="-122"/>
                <a:cs typeface="Courier New" pitchFamily="34" charset="-120"/>
              </a:rPr>
              <a:t>CDC; Statistics Canada 27%, 2022</a:t>
            </a:r>
            <a:endParaRPr lang="en-US" sz="950" dirty="0"/>
          </a:p>
        </p:txBody>
      </p:sp>
      <p:sp>
        <p:nvSpPr>
          <p:cNvPr id="9" name="Shape 7"/>
          <p:cNvSpPr/>
          <p:nvPr/>
        </p:nvSpPr>
        <p:spPr>
          <a:xfrm>
            <a:off x="3520440" y="1783080"/>
            <a:ext cx="2514600" cy="2377440"/>
          </a:xfrm>
          <a:prstGeom prst="roundRect">
            <a:avLst>
              <a:gd name="adj" fmla="val 1923"/>
            </a:avLst>
          </a:prstGeom>
          <a:solidFill>
            <a:srgbClr val="FFFFFF"/>
          </a:solidFill>
          <a:ln w="15875">
            <a:solidFill>
              <a:srgbClr val="D3CEC0"/>
            </a:solidFill>
            <a:prstDash val="solid"/>
          </a:ln>
        </p:spPr>
      </p:sp>
      <p:sp>
        <p:nvSpPr>
          <p:cNvPr id="10" name="Text 8"/>
          <p:cNvSpPr txBox="1"/>
          <p:nvPr/>
        </p:nvSpPr>
        <p:spPr>
          <a:xfrm>
            <a:off x="3703320" y="1938528"/>
            <a:ext cx="2194560" cy="640080"/>
          </a:xfrm>
          <a:prstGeom prst="rect">
            <a:avLst/>
          </a:prstGeom>
          <a:noFill/>
          <a:ln/>
        </p:spPr>
        <p:txBody>
          <a:bodyPr wrap="square" lIns="0" tIns="0" rIns="0" bIns="0" rtlCol="0" anchor="ctr"/>
          <a:lstStyle/>
          <a:p>
            <a:pPr indent="0" marL="0">
              <a:buNone/>
            </a:pPr>
            <a:r>
              <a:rPr lang="en-US" sz="3000" b="1" dirty="0">
                <a:solidFill>
                  <a:srgbClr val="9A6608"/>
                </a:solidFill>
                <a:latin typeface="Cambria" pitchFamily="34" charset="0"/>
                <a:ea typeface="Cambria" pitchFamily="34" charset="-122"/>
                <a:cs typeface="Cambria" pitchFamily="34" charset="-120"/>
              </a:rPr>
              <a:t>22.8%</a:t>
            </a:r>
            <a:endParaRPr lang="en-US" sz="3000" dirty="0"/>
          </a:p>
        </p:txBody>
      </p:sp>
      <p:sp>
        <p:nvSpPr>
          <p:cNvPr id="11" name="Text 9"/>
          <p:cNvSpPr txBox="1"/>
          <p:nvPr/>
        </p:nvSpPr>
        <p:spPr>
          <a:xfrm>
            <a:off x="3703320" y="2615184"/>
            <a:ext cx="2194560" cy="41148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employed, against 65.2%</a:t>
            </a:r>
            <a:endParaRPr lang="en-US" sz="1250" dirty="0"/>
          </a:p>
        </p:txBody>
      </p:sp>
      <p:sp>
        <p:nvSpPr>
          <p:cNvPr id="12" name="Text 10"/>
          <p:cNvSpPr txBox="1"/>
          <p:nvPr/>
        </p:nvSpPr>
        <p:spPr>
          <a:xfrm>
            <a:off x="3703320" y="3017520"/>
            <a:ext cx="2194560" cy="548640"/>
          </a:xfrm>
          <a:prstGeom prst="rect">
            <a:avLst/>
          </a:prstGeom>
          <a:noFill/>
          <a:ln/>
        </p:spPr>
        <p:txBody>
          <a:bodyPr wrap="square" lIns="0" tIns="0" rIns="0" bIns="0" rtlCol="0" anchor="ctr"/>
          <a:lstStyle/>
          <a:p>
            <a:pPr indent="0" marL="0">
              <a:buNone/>
            </a:pPr>
            <a:r>
              <a:rPr lang="en-US" sz="1100" dirty="0">
                <a:solidFill>
                  <a:srgbClr val="42474C"/>
                </a:solidFill>
                <a:latin typeface="Calibri" pitchFamily="34" charset="0"/>
                <a:ea typeface="Calibri" pitchFamily="34" charset="-122"/>
                <a:cs typeface="Calibri" pitchFamily="34" charset="-120"/>
              </a:rPr>
              <a:t>all people with a disability, 2025</a:t>
            </a:r>
            <a:endParaRPr lang="en-US" sz="1100" dirty="0"/>
          </a:p>
        </p:txBody>
      </p:sp>
      <p:sp>
        <p:nvSpPr>
          <p:cNvPr id="13" name="Text 11"/>
          <p:cNvSpPr txBox="1"/>
          <p:nvPr/>
        </p:nvSpPr>
        <p:spPr>
          <a:xfrm>
            <a:off x="3703320" y="3657600"/>
            <a:ext cx="2194560" cy="320040"/>
          </a:xfrm>
          <a:prstGeom prst="rect">
            <a:avLst/>
          </a:prstGeom>
          <a:noFill/>
          <a:ln/>
        </p:spPr>
        <p:txBody>
          <a:bodyPr wrap="square" lIns="0" tIns="0" rIns="0" bIns="0" rtlCol="0" anchor="ctr"/>
          <a:lstStyle/>
          <a:p>
            <a:pPr indent="0" marL="0">
              <a:buNone/>
            </a:pPr>
            <a:r>
              <a:rPr lang="en-US" sz="950" dirty="0">
                <a:solidFill>
                  <a:srgbClr val="656B71"/>
                </a:solidFill>
                <a:latin typeface="Courier New" pitchFamily="34" charset="0"/>
                <a:ea typeface="Courier New" pitchFamily="34" charset="-122"/>
                <a:cs typeface="Courier New" pitchFamily="34" charset="-120"/>
              </a:rPr>
              <a:t>US BLS, released March 2026</a:t>
            </a:r>
            <a:endParaRPr lang="en-US" sz="950" dirty="0"/>
          </a:p>
        </p:txBody>
      </p:sp>
      <p:sp>
        <p:nvSpPr>
          <p:cNvPr id="14" name="Shape 12"/>
          <p:cNvSpPr/>
          <p:nvPr/>
        </p:nvSpPr>
        <p:spPr>
          <a:xfrm>
            <a:off x="6263640" y="1783080"/>
            <a:ext cx="2514600" cy="2377440"/>
          </a:xfrm>
          <a:prstGeom prst="roundRect">
            <a:avLst>
              <a:gd name="adj" fmla="val 1923"/>
            </a:avLst>
          </a:prstGeom>
          <a:solidFill>
            <a:srgbClr val="FFFFFF"/>
          </a:solidFill>
          <a:ln w="15875">
            <a:solidFill>
              <a:srgbClr val="D3CEC0"/>
            </a:solidFill>
            <a:prstDash val="solid"/>
          </a:ln>
        </p:spPr>
      </p:sp>
      <p:sp>
        <p:nvSpPr>
          <p:cNvPr id="15" name="Text 13"/>
          <p:cNvSpPr txBox="1"/>
          <p:nvPr/>
        </p:nvSpPr>
        <p:spPr>
          <a:xfrm>
            <a:off x="6446520" y="1938528"/>
            <a:ext cx="2194560" cy="640080"/>
          </a:xfrm>
          <a:prstGeom prst="rect">
            <a:avLst/>
          </a:prstGeom>
          <a:noFill/>
          <a:ln/>
        </p:spPr>
        <p:txBody>
          <a:bodyPr wrap="square" lIns="0" tIns="0" rIns="0" bIns="0" rtlCol="0" anchor="ctr"/>
          <a:lstStyle/>
          <a:p>
            <a:pPr indent="0" marL="0">
              <a:buNone/>
            </a:pPr>
            <a:r>
              <a:rPr lang="en-US" sz="3000" b="1" dirty="0">
                <a:solidFill>
                  <a:srgbClr val="9A6608"/>
                </a:solidFill>
                <a:latin typeface="Cambria" pitchFamily="34" charset="0"/>
                <a:ea typeface="Cambria" pitchFamily="34" charset="-122"/>
                <a:cs typeface="Cambria" pitchFamily="34" charset="-120"/>
              </a:rPr>
              <a:t>30%</a:t>
            </a:r>
            <a:endParaRPr lang="en-US" sz="3000" dirty="0"/>
          </a:p>
        </p:txBody>
      </p:sp>
      <p:sp>
        <p:nvSpPr>
          <p:cNvPr id="16" name="Text 14"/>
          <p:cNvSpPr txBox="1"/>
          <p:nvPr/>
        </p:nvSpPr>
        <p:spPr>
          <a:xfrm>
            <a:off x="6446520" y="2615184"/>
            <a:ext cx="2194560" cy="41148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usually work part time, against 17%</a:t>
            </a:r>
            <a:endParaRPr lang="en-US" sz="1250" dirty="0"/>
          </a:p>
        </p:txBody>
      </p:sp>
      <p:sp>
        <p:nvSpPr>
          <p:cNvPr id="17" name="Text 15"/>
          <p:cNvSpPr txBox="1"/>
          <p:nvPr/>
        </p:nvSpPr>
        <p:spPr>
          <a:xfrm>
            <a:off x="6446520" y="3017520"/>
            <a:ext cx="2194560" cy="548640"/>
          </a:xfrm>
          <a:prstGeom prst="rect">
            <a:avLst/>
          </a:prstGeom>
          <a:noFill/>
          <a:ln/>
        </p:spPr>
        <p:txBody>
          <a:bodyPr wrap="square" lIns="0" tIns="0" rIns="0" bIns="0" rtlCol="0" anchor="ctr"/>
          <a:lstStyle/>
          <a:p>
            <a:pPr indent="0" marL="0">
              <a:buNone/>
            </a:pPr>
            <a:r>
              <a:rPr lang="en-US" sz="1100" dirty="0">
                <a:solidFill>
                  <a:srgbClr val="42474C"/>
                </a:solidFill>
                <a:latin typeface="Calibri" pitchFamily="34" charset="0"/>
                <a:ea typeface="Calibri" pitchFamily="34" charset="-122"/>
                <a:cs typeface="Calibri" pitchFamily="34" charset="-120"/>
              </a:rPr>
              <a:t>employed people with a disability, 2025</a:t>
            </a:r>
            <a:endParaRPr lang="en-US" sz="1100" dirty="0"/>
          </a:p>
        </p:txBody>
      </p:sp>
      <p:sp>
        <p:nvSpPr>
          <p:cNvPr id="18" name="Text 16"/>
          <p:cNvSpPr txBox="1"/>
          <p:nvPr/>
        </p:nvSpPr>
        <p:spPr>
          <a:xfrm>
            <a:off x="6446520" y="3657600"/>
            <a:ext cx="2194560" cy="320040"/>
          </a:xfrm>
          <a:prstGeom prst="rect">
            <a:avLst/>
          </a:prstGeom>
          <a:noFill/>
          <a:ln/>
        </p:spPr>
        <p:txBody>
          <a:bodyPr wrap="square" lIns="0" tIns="0" rIns="0" bIns="0" rtlCol="0" anchor="ctr"/>
          <a:lstStyle/>
          <a:p>
            <a:pPr indent="0" marL="0">
              <a:buNone/>
            </a:pPr>
            <a:r>
              <a:rPr lang="en-US" sz="950" dirty="0">
                <a:solidFill>
                  <a:srgbClr val="656B71"/>
                </a:solidFill>
                <a:latin typeface="Courier New" pitchFamily="34" charset="0"/>
                <a:ea typeface="Courier New" pitchFamily="34" charset="-122"/>
                <a:cs typeface="Courier New" pitchFamily="34" charset="-120"/>
              </a:rPr>
              <a:t>US BLS, released March 2026</a:t>
            </a:r>
            <a:endParaRPr lang="en-US" sz="950" dirty="0"/>
          </a:p>
        </p:txBody>
      </p:sp>
      <p:sp>
        <p:nvSpPr>
          <p:cNvPr id="19" name="Shape 17"/>
          <p:cNvSpPr/>
          <p:nvPr/>
        </p:nvSpPr>
        <p:spPr>
          <a:xfrm>
            <a:off x="9006840" y="1783080"/>
            <a:ext cx="2514600" cy="2377440"/>
          </a:xfrm>
          <a:prstGeom prst="roundRect">
            <a:avLst>
              <a:gd name="adj" fmla="val 1923"/>
            </a:avLst>
          </a:prstGeom>
          <a:solidFill>
            <a:srgbClr val="FFFFFF"/>
          </a:solidFill>
          <a:ln w="15875">
            <a:solidFill>
              <a:srgbClr val="D3CEC0"/>
            </a:solidFill>
            <a:prstDash val="solid"/>
          </a:ln>
        </p:spPr>
      </p:sp>
      <p:sp>
        <p:nvSpPr>
          <p:cNvPr id="20" name="Text 18"/>
          <p:cNvSpPr txBox="1"/>
          <p:nvPr/>
        </p:nvSpPr>
        <p:spPr>
          <a:xfrm>
            <a:off x="9189720" y="1938528"/>
            <a:ext cx="2194560" cy="640080"/>
          </a:xfrm>
          <a:prstGeom prst="rect">
            <a:avLst/>
          </a:prstGeom>
          <a:noFill/>
          <a:ln/>
        </p:spPr>
        <p:txBody>
          <a:bodyPr wrap="square" lIns="0" tIns="0" rIns="0" bIns="0" rtlCol="0" anchor="ctr"/>
          <a:lstStyle/>
          <a:p>
            <a:pPr indent="0" marL="0">
              <a:buNone/>
            </a:pPr>
            <a:r>
              <a:rPr lang="en-US" sz="3000" b="1" dirty="0">
                <a:solidFill>
                  <a:srgbClr val="9A6608"/>
                </a:solidFill>
                <a:latin typeface="Cambria" pitchFamily="34" charset="0"/>
                <a:ea typeface="Cambria" pitchFamily="34" charset="-122"/>
                <a:cs typeface="Cambria" pitchFamily="34" charset="-120"/>
              </a:rPr>
              <a:t>3.5%</a:t>
            </a:r>
            <a:endParaRPr lang="en-US" sz="3000" dirty="0"/>
          </a:p>
        </p:txBody>
      </p:sp>
      <p:sp>
        <p:nvSpPr>
          <p:cNvPr id="21" name="Text 19"/>
          <p:cNvSpPr txBox="1"/>
          <p:nvPr/>
        </p:nvSpPr>
        <p:spPr>
          <a:xfrm>
            <a:off x="9189720" y="2615184"/>
            <a:ext cx="2194560" cy="41148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told their employer</a:t>
            </a:r>
            <a:endParaRPr lang="en-US" sz="1250" dirty="0"/>
          </a:p>
        </p:txBody>
      </p:sp>
      <p:sp>
        <p:nvSpPr>
          <p:cNvPr id="22" name="Text 20"/>
          <p:cNvSpPr txBox="1"/>
          <p:nvPr/>
        </p:nvSpPr>
        <p:spPr>
          <a:xfrm>
            <a:off x="9189720" y="3017520"/>
            <a:ext cx="2194560" cy="548640"/>
          </a:xfrm>
          <a:prstGeom prst="rect">
            <a:avLst/>
          </a:prstGeom>
          <a:noFill/>
          <a:ln/>
        </p:spPr>
        <p:txBody>
          <a:bodyPr wrap="square" lIns="0" tIns="0" rIns="0" bIns="0" rtlCol="0" anchor="ctr"/>
          <a:lstStyle/>
          <a:p>
            <a:pPr indent="0" marL="0">
              <a:buNone/>
            </a:pPr>
            <a:r>
              <a:rPr lang="en-US" sz="1100" dirty="0">
                <a:solidFill>
                  <a:srgbClr val="42474C"/>
                </a:solidFill>
                <a:latin typeface="Calibri" pitchFamily="34" charset="0"/>
                <a:ea typeface="Calibri" pitchFamily="34" charset="-122"/>
                <a:cs typeface="Calibri" pitchFamily="34" charset="-120"/>
              </a:rPr>
              <a:t>median across 655 large employers, 2025</a:t>
            </a:r>
            <a:endParaRPr lang="en-US" sz="1100" dirty="0"/>
          </a:p>
        </p:txBody>
      </p:sp>
      <p:sp>
        <p:nvSpPr>
          <p:cNvPr id="23" name="Text 21"/>
          <p:cNvSpPr txBox="1"/>
          <p:nvPr/>
        </p:nvSpPr>
        <p:spPr>
          <a:xfrm>
            <a:off x="9189720" y="3657600"/>
            <a:ext cx="2194560" cy="320040"/>
          </a:xfrm>
          <a:prstGeom prst="rect">
            <a:avLst/>
          </a:prstGeom>
          <a:noFill/>
          <a:ln/>
        </p:spPr>
        <p:txBody>
          <a:bodyPr wrap="square" lIns="0" tIns="0" rIns="0" bIns="0" rtlCol="0" anchor="ctr"/>
          <a:lstStyle/>
          <a:p>
            <a:pPr indent="0" marL="0">
              <a:buNone/>
            </a:pPr>
            <a:r>
              <a:rPr lang="en-US" sz="950" dirty="0">
                <a:solidFill>
                  <a:srgbClr val="656B71"/>
                </a:solidFill>
                <a:latin typeface="Courier New" pitchFamily="34" charset="0"/>
                <a:ea typeface="Courier New" pitchFamily="34" charset="-122"/>
                <a:cs typeface="Courier New" pitchFamily="34" charset="-120"/>
              </a:rPr>
              <a:t>Disability:IN 2025 index</a:t>
            </a:r>
            <a:endParaRPr lang="en-US" sz="950" dirty="0"/>
          </a:p>
        </p:txBody>
      </p:sp>
      <p:sp>
        <p:nvSpPr>
          <p:cNvPr id="24" name="Text 22"/>
          <p:cNvSpPr txBox="1"/>
          <p:nvPr/>
        </p:nvSpPr>
        <p:spPr>
          <a:xfrm>
            <a:off x="777240" y="4297680"/>
            <a:ext cx="10698480" cy="548640"/>
          </a:xfrm>
          <a:prstGeom prst="rect">
            <a:avLst/>
          </a:prstGeom>
          <a:noFill/>
          <a:ln/>
        </p:spPr>
        <p:txBody>
          <a:bodyPr wrap="square" lIns="0" tIns="0" rIns="0" bIns="0" rtlCol="0" anchor="ctr"/>
          <a:lstStyle/>
          <a:p>
            <a:pPr indent="0" marL="0">
              <a:buNone/>
            </a:pPr>
            <a:r>
              <a:rPr lang="en-US" sz="1250" dirty="0">
                <a:solidFill>
                  <a:srgbClr val="14171A"/>
                </a:solidFill>
                <a:latin typeface="Calibri" pitchFamily="34" charset="0"/>
                <a:ea typeface="Calibri" pitchFamily="34" charset="-122"/>
                <a:cs typeface="Calibri" pitchFamily="34" charset="-120"/>
              </a:rPr>
              <a:t>The people this affects are more likely to be paid by the hour, to work part time, and to be in service, production and transport jobs. By 2026, 98% of participating employers report flexible or remote accommodations; the latest self-identification rate, 2025, did not rise.</a:t>
            </a:r>
            <a:endParaRPr lang="en-US" sz="1250" dirty="0"/>
          </a:p>
        </p:txBody>
      </p:sp>
      <p:sp>
        <p:nvSpPr>
          <p:cNvPr id="25" name="Text 23"/>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That gap is the argument, not a flaw in it. The wider the definition, the more people find they are counted, and the more of them have never told anyone at work.</a:t>
            </a:r>
            <a:endParaRPr lang="en-US" sz="1600" dirty="0"/>
          </a:p>
        </p:txBody>
      </p:sp>
      <p:sp>
        <p:nvSpPr>
          <p:cNvPr id="26" name="Text 24"/>
          <p:cNvSpPr txBox="1"/>
          <p:nvPr/>
        </p:nvSpPr>
        <p:spPr>
          <a:xfrm>
            <a:off x="777240" y="6419088"/>
            <a:ext cx="1069848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cdc.gov  |  bls.gov People with a Disability 2025, released 3 March 2026  |  disabilityin.org 2025 and 2026 Disability Index  |  statcan.gc.ca  |  coqual.org</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02  THE EVIDENCE</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The most common unmet need costs nothing.</a:t>
            </a:r>
            <a:endParaRPr lang="en-US" sz="3300" dirty="0"/>
          </a:p>
        </p:txBody>
      </p:sp>
      <p:sp>
        <p:nvSpPr>
          <p:cNvPr id="4" name="Text 2"/>
          <p:cNvSpPr txBox="1"/>
          <p:nvPr/>
        </p:nvSpPr>
        <p:spPr>
          <a:xfrm>
            <a:off x="777240" y="1645920"/>
            <a:ext cx="10698480" cy="365760"/>
          </a:xfrm>
          <a:prstGeom prst="rect">
            <a:avLst/>
          </a:prstGeom>
          <a:noFill/>
          <a:ln/>
        </p:spPr>
        <p:txBody>
          <a:bodyPr wrap="square" lIns="0" tIns="0" rIns="0" bIns="0" rtlCol="0" anchor="ctr"/>
          <a:lstStyle/>
          <a:p>
            <a:pPr indent="0" marL="0">
              <a:buNone/>
            </a:pPr>
            <a:r>
              <a:rPr lang="en-US" sz="1400" dirty="0">
                <a:solidFill>
                  <a:srgbClr val="14171A"/>
                </a:solidFill>
                <a:latin typeface="Calibri" pitchFamily="34" charset="0"/>
                <a:ea typeface="Calibri" pitchFamily="34" charset="-122"/>
                <a:cs typeface="Calibri" pitchFamily="34" charset="-120"/>
              </a:rPr>
              <a:t>Statistics Canada asked employed Canadians with disabilities what accommodation they needed, and whether they got it.</a:t>
            </a:r>
            <a:endParaRPr lang="en-US" sz="1400" dirty="0"/>
          </a:p>
        </p:txBody>
      </p:sp>
      <p:sp>
        <p:nvSpPr>
          <p:cNvPr id="5" name="Shape 3"/>
          <p:cNvSpPr/>
          <p:nvPr/>
        </p:nvSpPr>
        <p:spPr>
          <a:xfrm>
            <a:off x="777240" y="2148840"/>
            <a:ext cx="5067605" cy="365760"/>
          </a:xfrm>
          <a:prstGeom prst="rect">
            <a:avLst/>
          </a:prstGeom>
          <a:solidFill>
            <a:srgbClr val="C9A227"/>
          </a:solidFill>
          <a:ln w="9525">
            <a:solidFill>
              <a:srgbClr val="C9A227"/>
            </a:solidFill>
            <a:prstDash val="solid"/>
          </a:ln>
        </p:spPr>
      </p:sp>
      <p:sp>
        <p:nvSpPr>
          <p:cNvPr id="6" name="Text 4"/>
          <p:cNvSpPr txBox="1"/>
          <p:nvPr/>
        </p:nvSpPr>
        <p:spPr>
          <a:xfrm>
            <a:off x="886968" y="2185416"/>
            <a:ext cx="914400" cy="292608"/>
          </a:xfrm>
          <a:prstGeom prst="rect">
            <a:avLst/>
          </a:prstGeom>
          <a:noFill/>
          <a:ln/>
        </p:spPr>
        <p:txBody>
          <a:bodyPr wrap="square" lIns="0" tIns="0" rIns="0" bIns="0" rtlCol="0" anchor="ctr"/>
          <a:lstStyle/>
          <a:p>
            <a:pPr indent="0" marL="0">
              <a:buNone/>
            </a:pPr>
            <a:r>
              <a:rPr lang="en-US" sz="1250" b="1" dirty="0">
                <a:solidFill>
                  <a:srgbClr val="14171A"/>
                </a:solidFill>
                <a:latin typeface="Courier New" pitchFamily="34" charset="0"/>
                <a:ea typeface="Courier New" pitchFamily="34" charset="-122"/>
                <a:cs typeface="Courier New" pitchFamily="34" charset="-120"/>
              </a:rPr>
              <a:t>16.3%</a:t>
            </a:r>
            <a:endParaRPr lang="en-US" sz="1250" dirty="0"/>
          </a:p>
        </p:txBody>
      </p:sp>
      <p:sp>
        <p:nvSpPr>
          <p:cNvPr id="7" name="Text 5"/>
          <p:cNvSpPr txBox="1"/>
          <p:nvPr/>
        </p:nvSpPr>
        <p:spPr>
          <a:xfrm>
            <a:off x="5943600" y="2176272"/>
            <a:ext cx="3657600" cy="320040"/>
          </a:xfrm>
          <a:prstGeom prst="rect">
            <a:avLst/>
          </a:prstGeom>
          <a:noFill/>
          <a:ln/>
        </p:spPr>
        <p:txBody>
          <a:bodyPr wrap="square" lIns="0" tIns="0" rIns="0" bIns="0" rtlCol="0" anchor="ctr"/>
          <a:lstStyle/>
          <a:p>
            <a:pPr indent="0" marL="0">
              <a:buNone/>
            </a:pPr>
            <a:r>
              <a:rPr lang="en-US" sz="1350" dirty="0">
                <a:solidFill>
                  <a:srgbClr val="14171A"/>
                </a:solidFill>
                <a:latin typeface="Calibri" pitchFamily="34" charset="0"/>
                <a:ea typeface="Calibri" pitchFamily="34" charset="-122"/>
                <a:cs typeface="Calibri" pitchFamily="34" charset="-120"/>
              </a:rPr>
              <a:t>Modified work hours</a:t>
            </a:r>
            <a:endParaRPr lang="en-US" sz="1350" dirty="0"/>
          </a:p>
        </p:txBody>
      </p:sp>
      <p:sp>
        <p:nvSpPr>
          <p:cNvPr id="8" name="Text 6"/>
          <p:cNvSpPr txBox="1"/>
          <p:nvPr/>
        </p:nvSpPr>
        <p:spPr>
          <a:xfrm>
            <a:off x="9692640" y="2194560"/>
            <a:ext cx="1737360" cy="274320"/>
          </a:xfrm>
          <a:prstGeom prst="rect">
            <a:avLst/>
          </a:prstGeom>
          <a:noFill/>
          <a:ln/>
        </p:spPr>
        <p:txBody>
          <a:bodyPr wrap="square" lIns="0" tIns="0" rIns="0" bIns="0" rtlCol="0" anchor="ctr"/>
          <a:lstStyle/>
          <a:p>
            <a:pPr indent="0" marL="0">
              <a:buNone/>
            </a:pPr>
            <a:r>
              <a:rPr lang="en-US" sz="1050" dirty="0">
                <a:solidFill>
                  <a:srgbClr val="1F5546"/>
                </a:solidFill>
                <a:latin typeface="Courier New" pitchFamily="34" charset="0"/>
                <a:ea typeface="Courier New" pitchFamily="34" charset="-122"/>
                <a:cs typeface="Courier New" pitchFamily="34" charset="-120"/>
              </a:rPr>
              <a:t>costs nothing</a:t>
            </a:r>
            <a:endParaRPr lang="en-US" sz="1050" dirty="0"/>
          </a:p>
        </p:txBody>
      </p:sp>
      <p:sp>
        <p:nvSpPr>
          <p:cNvPr id="9" name="Shape 7"/>
          <p:cNvSpPr/>
          <p:nvPr/>
        </p:nvSpPr>
        <p:spPr>
          <a:xfrm>
            <a:off x="777240" y="2715768"/>
            <a:ext cx="3606394" cy="365760"/>
          </a:xfrm>
          <a:prstGeom prst="rect">
            <a:avLst/>
          </a:prstGeom>
          <a:solidFill>
            <a:srgbClr val="C9A227"/>
          </a:solidFill>
          <a:ln w="9525">
            <a:solidFill>
              <a:srgbClr val="C9A227"/>
            </a:solidFill>
            <a:prstDash val="solid"/>
          </a:ln>
        </p:spPr>
      </p:sp>
      <p:sp>
        <p:nvSpPr>
          <p:cNvPr id="10" name="Text 8"/>
          <p:cNvSpPr txBox="1"/>
          <p:nvPr/>
        </p:nvSpPr>
        <p:spPr>
          <a:xfrm>
            <a:off x="886968" y="2752344"/>
            <a:ext cx="914400" cy="292608"/>
          </a:xfrm>
          <a:prstGeom prst="rect">
            <a:avLst/>
          </a:prstGeom>
          <a:noFill/>
          <a:ln/>
        </p:spPr>
        <p:txBody>
          <a:bodyPr wrap="square" lIns="0" tIns="0" rIns="0" bIns="0" rtlCol="0" anchor="ctr"/>
          <a:lstStyle/>
          <a:p>
            <a:pPr indent="0" marL="0">
              <a:buNone/>
            </a:pPr>
            <a:r>
              <a:rPr lang="en-US" sz="1250" b="1" dirty="0">
                <a:solidFill>
                  <a:srgbClr val="14171A"/>
                </a:solidFill>
                <a:latin typeface="Courier New" pitchFamily="34" charset="0"/>
                <a:ea typeface="Courier New" pitchFamily="34" charset="-122"/>
                <a:cs typeface="Courier New" pitchFamily="34" charset="-120"/>
              </a:rPr>
              <a:t>11.6%</a:t>
            </a:r>
            <a:endParaRPr lang="en-US" sz="1250" dirty="0"/>
          </a:p>
        </p:txBody>
      </p:sp>
      <p:sp>
        <p:nvSpPr>
          <p:cNvPr id="11" name="Text 9"/>
          <p:cNvSpPr txBox="1"/>
          <p:nvPr/>
        </p:nvSpPr>
        <p:spPr>
          <a:xfrm>
            <a:off x="5943600" y="2743200"/>
            <a:ext cx="3657600" cy="320040"/>
          </a:xfrm>
          <a:prstGeom prst="rect">
            <a:avLst/>
          </a:prstGeom>
          <a:noFill/>
          <a:ln/>
        </p:spPr>
        <p:txBody>
          <a:bodyPr wrap="square" lIns="0" tIns="0" rIns="0" bIns="0" rtlCol="0" anchor="ctr"/>
          <a:lstStyle/>
          <a:p>
            <a:pPr indent="0" marL="0">
              <a:buNone/>
            </a:pPr>
            <a:r>
              <a:rPr lang="en-US" sz="1350" dirty="0">
                <a:solidFill>
                  <a:srgbClr val="14171A"/>
                </a:solidFill>
                <a:latin typeface="Calibri" pitchFamily="34" charset="0"/>
                <a:ea typeface="Calibri" pitchFamily="34" charset="-122"/>
                <a:cs typeface="Calibri" pitchFamily="34" charset="-120"/>
              </a:rPr>
              <a:t>Modified or different duties</a:t>
            </a:r>
            <a:endParaRPr lang="en-US" sz="1350" dirty="0"/>
          </a:p>
        </p:txBody>
      </p:sp>
      <p:sp>
        <p:nvSpPr>
          <p:cNvPr id="12" name="Text 10"/>
          <p:cNvSpPr txBox="1"/>
          <p:nvPr/>
        </p:nvSpPr>
        <p:spPr>
          <a:xfrm>
            <a:off x="9692640" y="2761488"/>
            <a:ext cx="1737360" cy="274320"/>
          </a:xfrm>
          <a:prstGeom prst="rect">
            <a:avLst/>
          </a:prstGeom>
          <a:noFill/>
          <a:ln/>
        </p:spPr>
        <p:txBody>
          <a:bodyPr wrap="square" lIns="0" tIns="0" rIns="0" bIns="0" rtlCol="0" anchor="ctr"/>
          <a:lstStyle/>
          <a:p>
            <a:pPr indent="0" marL="0">
              <a:buNone/>
            </a:pPr>
            <a:r>
              <a:rPr lang="en-US" sz="1050" dirty="0">
                <a:solidFill>
                  <a:srgbClr val="1F5546"/>
                </a:solidFill>
                <a:latin typeface="Courier New" pitchFamily="34" charset="0"/>
                <a:ea typeface="Courier New" pitchFamily="34" charset="-122"/>
                <a:cs typeface="Courier New" pitchFamily="34" charset="-120"/>
              </a:rPr>
              <a:t>costs nothing</a:t>
            </a:r>
            <a:endParaRPr lang="en-US" sz="1050" dirty="0"/>
          </a:p>
        </p:txBody>
      </p:sp>
      <p:sp>
        <p:nvSpPr>
          <p:cNvPr id="13" name="Shape 11"/>
          <p:cNvSpPr/>
          <p:nvPr/>
        </p:nvSpPr>
        <p:spPr>
          <a:xfrm>
            <a:off x="777240" y="3282696"/>
            <a:ext cx="3388766" cy="365760"/>
          </a:xfrm>
          <a:prstGeom prst="rect">
            <a:avLst/>
          </a:prstGeom>
          <a:solidFill>
            <a:srgbClr val="C9A227"/>
          </a:solidFill>
          <a:ln w="9525">
            <a:solidFill>
              <a:srgbClr val="C9A227"/>
            </a:solidFill>
            <a:prstDash val="solid"/>
          </a:ln>
        </p:spPr>
      </p:sp>
      <p:sp>
        <p:nvSpPr>
          <p:cNvPr id="14" name="Text 12"/>
          <p:cNvSpPr txBox="1"/>
          <p:nvPr/>
        </p:nvSpPr>
        <p:spPr>
          <a:xfrm>
            <a:off x="886968" y="3319272"/>
            <a:ext cx="914400" cy="292608"/>
          </a:xfrm>
          <a:prstGeom prst="rect">
            <a:avLst/>
          </a:prstGeom>
          <a:noFill/>
          <a:ln/>
        </p:spPr>
        <p:txBody>
          <a:bodyPr wrap="square" lIns="0" tIns="0" rIns="0" bIns="0" rtlCol="0" anchor="ctr"/>
          <a:lstStyle/>
          <a:p>
            <a:pPr indent="0" marL="0">
              <a:buNone/>
            </a:pPr>
            <a:r>
              <a:rPr lang="en-US" sz="1250" b="1" dirty="0">
                <a:solidFill>
                  <a:srgbClr val="14171A"/>
                </a:solidFill>
                <a:latin typeface="Courier New" pitchFamily="34" charset="0"/>
                <a:ea typeface="Courier New" pitchFamily="34" charset="-122"/>
                <a:cs typeface="Courier New" pitchFamily="34" charset="-120"/>
              </a:rPr>
              <a:t>10.9%</a:t>
            </a:r>
            <a:endParaRPr lang="en-US" sz="1250" dirty="0"/>
          </a:p>
        </p:txBody>
      </p:sp>
      <p:sp>
        <p:nvSpPr>
          <p:cNvPr id="15" name="Text 13"/>
          <p:cNvSpPr txBox="1"/>
          <p:nvPr/>
        </p:nvSpPr>
        <p:spPr>
          <a:xfrm>
            <a:off x="5943600" y="3310128"/>
            <a:ext cx="3657600" cy="320040"/>
          </a:xfrm>
          <a:prstGeom prst="rect">
            <a:avLst/>
          </a:prstGeom>
          <a:noFill/>
          <a:ln/>
        </p:spPr>
        <p:txBody>
          <a:bodyPr wrap="square" lIns="0" tIns="0" rIns="0" bIns="0" rtlCol="0" anchor="ctr"/>
          <a:lstStyle/>
          <a:p>
            <a:pPr indent="0" marL="0">
              <a:buNone/>
            </a:pPr>
            <a:r>
              <a:rPr lang="en-US" sz="1350" dirty="0">
                <a:solidFill>
                  <a:srgbClr val="14171A"/>
                </a:solidFill>
                <a:latin typeface="Calibri" pitchFamily="34" charset="0"/>
                <a:ea typeface="Calibri" pitchFamily="34" charset="-122"/>
                <a:cs typeface="Calibri" pitchFamily="34" charset="-120"/>
              </a:rPr>
              <a:t>Working from home</a:t>
            </a:r>
            <a:endParaRPr lang="en-US" sz="1350" dirty="0"/>
          </a:p>
        </p:txBody>
      </p:sp>
      <p:sp>
        <p:nvSpPr>
          <p:cNvPr id="16" name="Text 14"/>
          <p:cNvSpPr txBox="1"/>
          <p:nvPr/>
        </p:nvSpPr>
        <p:spPr>
          <a:xfrm>
            <a:off x="9692640" y="3328416"/>
            <a:ext cx="1737360" cy="274320"/>
          </a:xfrm>
          <a:prstGeom prst="rect">
            <a:avLst/>
          </a:prstGeom>
          <a:noFill/>
          <a:ln/>
        </p:spPr>
        <p:txBody>
          <a:bodyPr wrap="square" lIns="0" tIns="0" rIns="0" bIns="0" rtlCol="0" anchor="ctr"/>
          <a:lstStyle/>
          <a:p>
            <a:pPr indent="0" marL="0">
              <a:buNone/>
            </a:pPr>
            <a:r>
              <a:rPr lang="en-US" sz="1050" dirty="0">
                <a:solidFill>
                  <a:srgbClr val="1F5546"/>
                </a:solidFill>
                <a:latin typeface="Courier New" pitchFamily="34" charset="0"/>
                <a:ea typeface="Courier New" pitchFamily="34" charset="-122"/>
                <a:cs typeface="Courier New" pitchFamily="34" charset="-120"/>
              </a:rPr>
              <a:t>costs nothing</a:t>
            </a:r>
            <a:endParaRPr lang="en-US" sz="1050" dirty="0"/>
          </a:p>
        </p:txBody>
      </p:sp>
      <p:sp>
        <p:nvSpPr>
          <p:cNvPr id="17" name="Shape 15"/>
          <p:cNvSpPr/>
          <p:nvPr/>
        </p:nvSpPr>
        <p:spPr>
          <a:xfrm>
            <a:off x="777240" y="3849624"/>
            <a:ext cx="3326587" cy="365760"/>
          </a:xfrm>
          <a:prstGeom prst="rect">
            <a:avLst/>
          </a:prstGeom>
          <a:solidFill>
            <a:srgbClr val="E7E3D8"/>
          </a:solidFill>
          <a:ln w="9525">
            <a:solidFill>
              <a:srgbClr val="D3CEC0"/>
            </a:solidFill>
            <a:prstDash val="solid"/>
          </a:ln>
        </p:spPr>
      </p:sp>
      <p:sp>
        <p:nvSpPr>
          <p:cNvPr id="18" name="Text 16"/>
          <p:cNvSpPr txBox="1"/>
          <p:nvPr/>
        </p:nvSpPr>
        <p:spPr>
          <a:xfrm>
            <a:off x="886968" y="3886200"/>
            <a:ext cx="914400" cy="292608"/>
          </a:xfrm>
          <a:prstGeom prst="rect">
            <a:avLst/>
          </a:prstGeom>
          <a:noFill/>
          <a:ln/>
        </p:spPr>
        <p:txBody>
          <a:bodyPr wrap="square" lIns="0" tIns="0" rIns="0" bIns="0" rtlCol="0" anchor="ctr"/>
          <a:lstStyle/>
          <a:p>
            <a:pPr indent="0" marL="0">
              <a:buNone/>
            </a:pPr>
            <a:r>
              <a:rPr lang="en-US" sz="1250" b="1" dirty="0">
                <a:solidFill>
                  <a:srgbClr val="14171A"/>
                </a:solidFill>
                <a:latin typeface="Courier New" pitchFamily="34" charset="0"/>
                <a:ea typeface="Courier New" pitchFamily="34" charset="-122"/>
                <a:cs typeface="Courier New" pitchFamily="34" charset="-120"/>
              </a:rPr>
              <a:t>10.7%</a:t>
            </a:r>
            <a:endParaRPr lang="en-US" sz="1250" dirty="0"/>
          </a:p>
        </p:txBody>
      </p:sp>
      <p:sp>
        <p:nvSpPr>
          <p:cNvPr id="19" name="Text 17"/>
          <p:cNvSpPr txBox="1"/>
          <p:nvPr/>
        </p:nvSpPr>
        <p:spPr>
          <a:xfrm>
            <a:off x="5943600" y="3877056"/>
            <a:ext cx="3657600" cy="320040"/>
          </a:xfrm>
          <a:prstGeom prst="rect">
            <a:avLst/>
          </a:prstGeom>
          <a:noFill/>
          <a:ln/>
        </p:spPr>
        <p:txBody>
          <a:bodyPr wrap="square" lIns="0" tIns="0" rIns="0" bIns="0" rtlCol="0" anchor="ctr"/>
          <a:lstStyle/>
          <a:p>
            <a:pPr indent="0" marL="0">
              <a:buNone/>
            </a:pPr>
            <a:r>
              <a:rPr lang="en-US" sz="1350" dirty="0">
                <a:solidFill>
                  <a:srgbClr val="14171A"/>
                </a:solidFill>
                <a:latin typeface="Calibri" pitchFamily="34" charset="0"/>
                <a:ea typeface="Calibri" pitchFamily="34" charset="-122"/>
                <a:cs typeface="Calibri" pitchFamily="34" charset="-120"/>
              </a:rPr>
              <a:t>Modified or ergonomic workstation</a:t>
            </a:r>
            <a:endParaRPr lang="en-US" sz="1350" dirty="0"/>
          </a:p>
        </p:txBody>
      </p:sp>
      <p:sp>
        <p:nvSpPr>
          <p:cNvPr id="20" name="Text 18"/>
          <p:cNvSpPr txBox="1"/>
          <p:nvPr/>
        </p:nvSpPr>
        <p:spPr>
          <a:xfrm>
            <a:off x="9692640" y="3895344"/>
            <a:ext cx="1737360" cy="274320"/>
          </a:xfrm>
          <a:prstGeom prst="rect">
            <a:avLst/>
          </a:prstGeom>
          <a:noFill/>
          <a:ln/>
        </p:spPr>
        <p:txBody>
          <a:bodyPr wrap="square" lIns="0" tIns="0" rIns="0" bIns="0" rtlCol="0" anchor="ctr"/>
          <a:lstStyle/>
          <a:p>
            <a:pPr indent="0" marL="0">
              <a:buNone/>
            </a:pPr>
            <a:r>
              <a:rPr lang="en-US" sz="1050" dirty="0">
                <a:solidFill>
                  <a:srgbClr val="656B71"/>
                </a:solidFill>
                <a:latin typeface="Courier New" pitchFamily="34" charset="0"/>
                <a:ea typeface="Courier New" pitchFamily="34" charset="-122"/>
                <a:cs typeface="Courier New" pitchFamily="34" charset="-120"/>
              </a:rPr>
              <a:t>one-time cost</a:t>
            </a:r>
            <a:endParaRPr lang="en-US" sz="1050" dirty="0"/>
          </a:p>
        </p:txBody>
      </p:sp>
      <p:sp>
        <p:nvSpPr>
          <p:cNvPr id="21" name="Shape 19"/>
          <p:cNvSpPr/>
          <p:nvPr/>
        </p:nvSpPr>
        <p:spPr>
          <a:xfrm>
            <a:off x="777240" y="4416552"/>
            <a:ext cx="3202229" cy="365760"/>
          </a:xfrm>
          <a:prstGeom prst="rect">
            <a:avLst/>
          </a:prstGeom>
          <a:solidFill>
            <a:srgbClr val="E7E3D8"/>
          </a:solidFill>
          <a:ln w="9525">
            <a:solidFill>
              <a:srgbClr val="D3CEC0"/>
            </a:solidFill>
            <a:prstDash val="solid"/>
          </a:ln>
        </p:spPr>
      </p:sp>
      <p:sp>
        <p:nvSpPr>
          <p:cNvPr id="22" name="Text 20"/>
          <p:cNvSpPr txBox="1"/>
          <p:nvPr/>
        </p:nvSpPr>
        <p:spPr>
          <a:xfrm>
            <a:off x="886968" y="4453128"/>
            <a:ext cx="914400" cy="292608"/>
          </a:xfrm>
          <a:prstGeom prst="rect">
            <a:avLst/>
          </a:prstGeom>
          <a:noFill/>
          <a:ln/>
        </p:spPr>
        <p:txBody>
          <a:bodyPr wrap="square" lIns="0" tIns="0" rIns="0" bIns="0" rtlCol="0" anchor="ctr"/>
          <a:lstStyle/>
          <a:p>
            <a:pPr indent="0" marL="0">
              <a:buNone/>
            </a:pPr>
            <a:r>
              <a:rPr lang="en-US" sz="1250" b="1" dirty="0">
                <a:solidFill>
                  <a:srgbClr val="14171A"/>
                </a:solidFill>
                <a:latin typeface="Courier New" pitchFamily="34" charset="0"/>
                <a:ea typeface="Courier New" pitchFamily="34" charset="-122"/>
                <a:cs typeface="Courier New" pitchFamily="34" charset="-120"/>
              </a:rPr>
              <a:t>10.3%</a:t>
            </a:r>
            <a:endParaRPr lang="en-US" sz="1250" dirty="0"/>
          </a:p>
        </p:txBody>
      </p:sp>
      <p:sp>
        <p:nvSpPr>
          <p:cNvPr id="23" name="Text 21"/>
          <p:cNvSpPr txBox="1"/>
          <p:nvPr/>
        </p:nvSpPr>
        <p:spPr>
          <a:xfrm>
            <a:off x="5943600" y="4443984"/>
            <a:ext cx="3657600" cy="320040"/>
          </a:xfrm>
          <a:prstGeom prst="rect">
            <a:avLst/>
          </a:prstGeom>
          <a:noFill/>
          <a:ln/>
        </p:spPr>
        <p:txBody>
          <a:bodyPr wrap="square" lIns="0" tIns="0" rIns="0" bIns="0" rtlCol="0" anchor="ctr"/>
          <a:lstStyle/>
          <a:p>
            <a:pPr indent="0" marL="0">
              <a:buNone/>
            </a:pPr>
            <a:r>
              <a:rPr lang="en-US" sz="1350" dirty="0">
                <a:solidFill>
                  <a:srgbClr val="14171A"/>
                </a:solidFill>
                <a:latin typeface="Calibri" pitchFamily="34" charset="0"/>
                <a:ea typeface="Calibri" pitchFamily="34" charset="-122"/>
                <a:cs typeface="Calibri" pitchFamily="34" charset="-120"/>
              </a:rPr>
              <a:t>Special chair or back support</a:t>
            </a:r>
            <a:endParaRPr lang="en-US" sz="1350" dirty="0"/>
          </a:p>
        </p:txBody>
      </p:sp>
      <p:sp>
        <p:nvSpPr>
          <p:cNvPr id="24" name="Text 22"/>
          <p:cNvSpPr txBox="1"/>
          <p:nvPr/>
        </p:nvSpPr>
        <p:spPr>
          <a:xfrm>
            <a:off x="9692640" y="4462272"/>
            <a:ext cx="1737360" cy="274320"/>
          </a:xfrm>
          <a:prstGeom prst="rect">
            <a:avLst/>
          </a:prstGeom>
          <a:noFill/>
          <a:ln/>
        </p:spPr>
        <p:txBody>
          <a:bodyPr wrap="square" lIns="0" tIns="0" rIns="0" bIns="0" rtlCol="0" anchor="ctr"/>
          <a:lstStyle/>
          <a:p>
            <a:pPr indent="0" marL="0">
              <a:buNone/>
            </a:pPr>
            <a:r>
              <a:rPr lang="en-US" sz="1050" dirty="0">
                <a:solidFill>
                  <a:srgbClr val="656B71"/>
                </a:solidFill>
                <a:latin typeface="Courier New" pitchFamily="34" charset="0"/>
                <a:ea typeface="Courier New" pitchFamily="34" charset="-122"/>
                <a:cs typeface="Courier New" pitchFamily="34" charset="-120"/>
              </a:rPr>
              <a:t>one-time cost</a:t>
            </a:r>
            <a:endParaRPr lang="en-US" sz="1050" dirty="0"/>
          </a:p>
        </p:txBody>
      </p:sp>
      <p:sp>
        <p:nvSpPr>
          <p:cNvPr id="25" name="Text 23"/>
          <p:cNvSpPr txBox="1"/>
          <p:nvPr/>
        </p:nvSpPr>
        <p:spPr>
          <a:xfrm>
            <a:off x="777240" y="5120640"/>
            <a:ext cx="10698480" cy="411480"/>
          </a:xfrm>
          <a:prstGeom prst="rect">
            <a:avLst/>
          </a:prstGeom>
          <a:noFill/>
          <a:ln/>
        </p:spPr>
        <p:txBody>
          <a:bodyPr wrap="square" lIns="0" tIns="0" rIns="0" bIns="0" rtlCol="0" anchor="ctr"/>
          <a:lstStyle/>
          <a:p>
            <a:pPr indent="0" marL="0">
              <a:buNone/>
            </a:pPr>
            <a:r>
              <a:rPr lang="en-US" sz="1700" b="1" dirty="0">
                <a:solidFill>
                  <a:srgbClr val="14171A"/>
                </a:solidFill>
                <a:latin typeface="Cambria" pitchFamily="34" charset="0"/>
                <a:ea typeface="Cambria" pitchFamily="34" charset="-122"/>
                <a:cs typeface="Cambria" pitchFamily="34" charset="-120"/>
              </a:rPr>
              <a:t>35.4% of employed Canadians with disabilities have an UNMET accommodation need.</a:t>
            </a:r>
            <a:endParaRPr lang="en-US" sz="1700" dirty="0"/>
          </a:p>
        </p:txBody>
      </p:sp>
      <p:sp>
        <p:nvSpPr>
          <p:cNvPr id="26" name="Text 24"/>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All five are in our library. The top three need somebody to say yes, and nothing else.</a:t>
            </a:r>
            <a:endParaRPr lang="en-US" sz="1600" dirty="0"/>
          </a:p>
        </p:txBody>
      </p:sp>
      <p:sp>
        <p:nvSpPr>
          <p:cNvPr id="27" name="Text 25"/>
          <p:cNvSpPr txBox="1"/>
          <p:nvPr/>
        </p:nvSpPr>
        <p:spPr>
          <a:xfrm>
            <a:off x="777240" y="6419088"/>
            <a:ext cx="1069848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Statistics Canada, Canadian Survey on Disability 2022. Job Accommodation Network: 61% of accommodations priced cost the employer nothing, n=1,425 of 5,406 respondents. 12% were reported ineffective, and we publish that too.</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02  THE EVIDENCE  |  WHO THIS IS FOR</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The person asking pays nothing. The employer or a deployer group runs it.</a:t>
            </a:r>
            <a:endParaRPr lang="en-US" sz="3300" dirty="0"/>
          </a:p>
        </p:txBody>
      </p:sp>
      <p:sp>
        <p:nvSpPr>
          <p:cNvPr id="4" name="Text 2"/>
          <p:cNvSpPr txBox="1"/>
          <p:nvPr/>
        </p:nvSpPr>
        <p:spPr>
          <a:xfrm>
            <a:off x="777240" y="1645920"/>
            <a:ext cx="10698480" cy="685800"/>
          </a:xfrm>
          <a:prstGeom prst="rect">
            <a:avLst/>
          </a:prstGeom>
          <a:noFill/>
          <a:ln/>
        </p:spPr>
        <p:txBody>
          <a:bodyPr wrap="square" lIns="0" tIns="0" rIns="0" bIns="0" rtlCol="0" anchor="ctr"/>
          <a:lstStyle/>
          <a:p>
            <a:pPr indent="0" marL="0">
              <a:buNone/>
            </a:pPr>
            <a:r>
              <a:rPr lang="en-US" sz="1400" dirty="0">
                <a:solidFill>
                  <a:srgbClr val="14171A"/>
                </a:solidFill>
                <a:latin typeface="Calibri" pitchFamily="34" charset="0"/>
                <a:ea typeface="Calibri" pitchFamily="34" charset="-122"/>
                <a:cs typeface="Calibri" pitchFamily="34" charset="-120"/>
              </a:rPr>
              <a:t>The moment somebody has to be inside a licence to get help, the people who need it most are the ones excluded. So the primary user needs no account, no employer relationship with us, and nobody to have bought anything.</a:t>
            </a:r>
            <a:endParaRPr lang="en-US" sz="1400" dirty="0"/>
          </a:p>
        </p:txBody>
      </p:sp>
      <p:sp>
        <p:nvSpPr>
          <p:cNvPr id="5" name="Shape 3"/>
          <p:cNvSpPr/>
          <p:nvPr/>
        </p:nvSpPr>
        <p:spPr>
          <a:xfrm>
            <a:off x="777240" y="2487168"/>
            <a:ext cx="54864" cy="365760"/>
          </a:xfrm>
          <a:prstGeom prst="rect">
            <a:avLst/>
          </a:prstGeom>
          <a:solidFill>
            <a:srgbClr val="C9A227"/>
          </a:solidFill>
          <a:ln w="12700">
            <a:solidFill>
              <a:srgbClr val="C9A227"/>
            </a:solidFill>
            <a:prstDash val="solid"/>
          </a:ln>
        </p:spPr>
      </p:sp>
      <p:sp>
        <p:nvSpPr>
          <p:cNvPr id="6" name="Text 4"/>
          <p:cNvSpPr txBox="1"/>
          <p:nvPr/>
        </p:nvSpPr>
        <p:spPr>
          <a:xfrm>
            <a:off x="1051560" y="2395728"/>
            <a:ext cx="3931920" cy="365760"/>
          </a:xfrm>
          <a:prstGeom prst="rect">
            <a:avLst/>
          </a:prstGeom>
          <a:noFill/>
          <a:ln/>
        </p:spPr>
        <p:txBody>
          <a:bodyPr wrap="square" lIns="0" tIns="0" rIns="0" bIns="0" rtlCol="0" anchor="ctr"/>
          <a:lstStyle/>
          <a:p>
            <a:pPr indent="0" marL="0">
              <a:buNone/>
            </a:pPr>
            <a:r>
              <a:rPr lang="en-US" sz="1350" b="1" dirty="0">
                <a:solidFill>
                  <a:srgbClr val="14171A"/>
                </a:solidFill>
                <a:latin typeface="Calibri" pitchFamily="34" charset="0"/>
                <a:ea typeface="Calibri" pitchFamily="34" charset="-122"/>
                <a:cs typeface="Calibri" pitchFamily="34" charset="-120"/>
              </a:rPr>
              <a:t>Hourly, shift and minimum-wage workers</a:t>
            </a:r>
            <a:endParaRPr lang="en-US" sz="1350" dirty="0"/>
          </a:p>
        </p:txBody>
      </p:sp>
      <p:sp>
        <p:nvSpPr>
          <p:cNvPr id="7" name="Text 5"/>
          <p:cNvSpPr txBox="1"/>
          <p:nvPr/>
        </p:nvSpPr>
        <p:spPr>
          <a:xfrm>
            <a:off x="5212080" y="2423160"/>
            <a:ext cx="6217920" cy="36576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nearly twice as likely to be part time; no work email, no desk, no HR office on the floor</a:t>
            </a:r>
            <a:endParaRPr lang="en-US" sz="1200" dirty="0"/>
          </a:p>
        </p:txBody>
      </p:sp>
      <p:sp>
        <p:nvSpPr>
          <p:cNvPr id="8" name="Shape 6"/>
          <p:cNvSpPr/>
          <p:nvPr/>
        </p:nvSpPr>
        <p:spPr>
          <a:xfrm>
            <a:off x="777240" y="2926080"/>
            <a:ext cx="54864" cy="365760"/>
          </a:xfrm>
          <a:prstGeom prst="rect">
            <a:avLst/>
          </a:prstGeom>
          <a:solidFill>
            <a:srgbClr val="C9A227"/>
          </a:solidFill>
          <a:ln w="12700">
            <a:solidFill>
              <a:srgbClr val="C9A227"/>
            </a:solidFill>
            <a:prstDash val="solid"/>
          </a:ln>
        </p:spPr>
      </p:sp>
      <p:sp>
        <p:nvSpPr>
          <p:cNvPr id="9" name="Text 7"/>
          <p:cNvSpPr txBox="1"/>
          <p:nvPr/>
        </p:nvSpPr>
        <p:spPr>
          <a:xfrm>
            <a:off x="1051560" y="2834640"/>
            <a:ext cx="3931920" cy="365760"/>
          </a:xfrm>
          <a:prstGeom prst="rect">
            <a:avLst/>
          </a:prstGeom>
          <a:noFill/>
          <a:ln/>
        </p:spPr>
        <p:txBody>
          <a:bodyPr wrap="square" lIns="0" tIns="0" rIns="0" bIns="0" rtlCol="0" anchor="ctr"/>
          <a:lstStyle/>
          <a:p>
            <a:pPr indent="0" marL="0">
              <a:buNone/>
            </a:pPr>
            <a:r>
              <a:rPr lang="en-US" sz="1350" b="1" dirty="0">
                <a:solidFill>
                  <a:srgbClr val="14171A"/>
                </a:solidFill>
                <a:latin typeface="Calibri" pitchFamily="34" charset="0"/>
                <a:ea typeface="Calibri" pitchFamily="34" charset="-122"/>
                <a:cs typeface="Calibri" pitchFamily="34" charset="-120"/>
              </a:rPr>
              <a:t>Contractors, temps, gig workers</a:t>
            </a:r>
            <a:endParaRPr lang="en-US" sz="1350" dirty="0"/>
          </a:p>
        </p:txBody>
      </p:sp>
      <p:sp>
        <p:nvSpPr>
          <p:cNvPr id="10" name="Text 8"/>
          <p:cNvSpPr txBox="1"/>
          <p:nvPr/>
        </p:nvSpPr>
        <p:spPr>
          <a:xfrm>
            <a:off x="5212080" y="2862072"/>
            <a:ext cx="6217920" cy="36576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no work login, no HR relationship, still expected to disclose</a:t>
            </a:r>
            <a:endParaRPr lang="en-US" sz="1200" dirty="0"/>
          </a:p>
        </p:txBody>
      </p:sp>
      <p:sp>
        <p:nvSpPr>
          <p:cNvPr id="11" name="Shape 9"/>
          <p:cNvSpPr/>
          <p:nvPr/>
        </p:nvSpPr>
        <p:spPr>
          <a:xfrm>
            <a:off x="777240" y="3364992"/>
            <a:ext cx="54864" cy="365760"/>
          </a:xfrm>
          <a:prstGeom prst="rect">
            <a:avLst/>
          </a:prstGeom>
          <a:solidFill>
            <a:srgbClr val="C9A227"/>
          </a:solidFill>
          <a:ln w="12700">
            <a:solidFill>
              <a:srgbClr val="C9A227"/>
            </a:solidFill>
            <a:prstDash val="solid"/>
          </a:ln>
        </p:spPr>
      </p:sp>
      <p:sp>
        <p:nvSpPr>
          <p:cNvPr id="12" name="Text 10"/>
          <p:cNvSpPr txBox="1"/>
          <p:nvPr/>
        </p:nvSpPr>
        <p:spPr>
          <a:xfrm>
            <a:off x="1051560" y="3273552"/>
            <a:ext cx="3931920" cy="365760"/>
          </a:xfrm>
          <a:prstGeom prst="rect">
            <a:avLst/>
          </a:prstGeom>
          <a:noFill/>
          <a:ln/>
        </p:spPr>
        <p:txBody>
          <a:bodyPr wrap="square" lIns="0" tIns="0" rIns="0" bIns="0" rtlCol="0" anchor="ctr"/>
          <a:lstStyle/>
          <a:p>
            <a:pPr indent="0" marL="0">
              <a:buNone/>
            </a:pPr>
            <a:r>
              <a:rPr lang="en-US" sz="1350" b="1" dirty="0">
                <a:solidFill>
                  <a:srgbClr val="14171A"/>
                </a:solidFill>
                <a:latin typeface="Calibri" pitchFamily="34" charset="0"/>
                <a:ea typeface="Calibri" pitchFamily="34" charset="-122"/>
                <a:cs typeface="Calibri" pitchFamily="34" charset="-120"/>
              </a:rPr>
              <a:t>People with invisible conditions</a:t>
            </a:r>
            <a:endParaRPr lang="en-US" sz="1350" dirty="0"/>
          </a:p>
        </p:txBody>
      </p:sp>
      <p:sp>
        <p:nvSpPr>
          <p:cNvPr id="13" name="Text 11"/>
          <p:cNvSpPr txBox="1"/>
          <p:nvPr/>
        </p:nvSpPr>
        <p:spPr>
          <a:xfrm>
            <a:off x="5212080" y="3300984"/>
            <a:ext cx="6217920" cy="36576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62% of disabled employees. Believed less, asked to prove more</a:t>
            </a:r>
            <a:endParaRPr lang="en-US" sz="1200" dirty="0"/>
          </a:p>
        </p:txBody>
      </p:sp>
      <p:sp>
        <p:nvSpPr>
          <p:cNvPr id="14" name="Shape 12"/>
          <p:cNvSpPr/>
          <p:nvPr/>
        </p:nvSpPr>
        <p:spPr>
          <a:xfrm>
            <a:off x="777240" y="3803904"/>
            <a:ext cx="54864" cy="365760"/>
          </a:xfrm>
          <a:prstGeom prst="rect">
            <a:avLst/>
          </a:prstGeom>
          <a:solidFill>
            <a:srgbClr val="C9A227"/>
          </a:solidFill>
          <a:ln w="12700">
            <a:solidFill>
              <a:srgbClr val="C9A227"/>
            </a:solidFill>
            <a:prstDash val="solid"/>
          </a:ln>
        </p:spPr>
      </p:sp>
      <p:sp>
        <p:nvSpPr>
          <p:cNvPr id="15" name="Text 13"/>
          <p:cNvSpPr txBox="1"/>
          <p:nvPr/>
        </p:nvSpPr>
        <p:spPr>
          <a:xfrm>
            <a:off x="1051560" y="3712464"/>
            <a:ext cx="3931920" cy="365760"/>
          </a:xfrm>
          <a:prstGeom prst="rect">
            <a:avLst/>
          </a:prstGeom>
          <a:noFill/>
          <a:ln/>
        </p:spPr>
        <p:txBody>
          <a:bodyPr wrap="square" lIns="0" tIns="0" rIns="0" bIns="0" rtlCol="0" anchor="ctr"/>
          <a:lstStyle/>
          <a:p>
            <a:pPr indent="0" marL="0">
              <a:buNone/>
            </a:pPr>
            <a:r>
              <a:rPr lang="en-US" sz="1350" b="1" dirty="0">
                <a:solidFill>
                  <a:srgbClr val="14171A"/>
                </a:solidFill>
                <a:latin typeface="Calibri" pitchFamily="34" charset="0"/>
                <a:ea typeface="Calibri" pitchFamily="34" charset="-122"/>
                <a:cs typeface="Calibri" pitchFamily="34" charset="-120"/>
              </a:rPr>
              <a:t>Deaf and hard-of-hearing workers</a:t>
            </a:r>
            <a:endParaRPr lang="en-US" sz="1350" dirty="0"/>
          </a:p>
        </p:txBody>
      </p:sp>
      <p:sp>
        <p:nvSpPr>
          <p:cNvPr id="16" name="Text 14"/>
          <p:cNvSpPr txBox="1"/>
          <p:nvPr/>
        </p:nvSpPr>
        <p:spPr>
          <a:xfrm>
            <a:off x="5212080" y="3739896"/>
            <a:ext cx="6217920" cy="36576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almost every escalation path ends at "give us a call"</a:t>
            </a:r>
            <a:endParaRPr lang="en-US" sz="1200" dirty="0"/>
          </a:p>
        </p:txBody>
      </p:sp>
      <p:sp>
        <p:nvSpPr>
          <p:cNvPr id="17" name="Shape 15"/>
          <p:cNvSpPr/>
          <p:nvPr/>
        </p:nvSpPr>
        <p:spPr>
          <a:xfrm>
            <a:off x="777240" y="4242816"/>
            <a:ext cx="54864" cy="365760"/>
          </a:xfrm>
          <a:prstGeom prst="rect">
            <a:avLst/>
          </a:prstGeom>
          <a:solidFill>
            <a:srgbClr val="C9A227"/>
          </a:solidFill>
          <a:ln w="12700">
            <a:solidFill>
              <a:srgbClr val="C9A227"/>
            </a:solidFill>
            <a:prstDash val="solid"/>
          </a:ln>
        </p:spPr>
      </p:sp>
      <p:sp>
        <p:nvSpPr>
          <p:cNvPr id="18" name="Text 16"/>
          <p:cNvSpPr txBox="1"/>
          <p:nvPr/>
        </p:nvSpPr>
        <p:spPr>
          <a:xfrm>
            <a:off x="1051560" y="4151376"/>
            <a:ext cx="3931920" cy="365760"/>
          </a:xfrm>
          <a:prstGeom prst="rect">
            <a:avLst/>
          </a:prstGeom>
          <a:noFill/>
          <a:ln/>
        </p:spPr>
        <p:txBody>
          <a:bodyPr wrap="square" lIns="0" tIns="0" rIns="0" bIns="0" rtlCol="0" anchor="ctr"/>
          <a:lstStyle/>
          <a:p>
            <a:pPr indent="0" marL="0">
              <a:buNone/>
            </a:pPr>
            <a:r>
              <a:rPr lang="en-US" sz="1350" b="1" dirty="0">
                <a:solidFill>
                  <a:srgbClr val="14171A"/>
                </a:solidFill>
                <a:latin typeface="Calibri" pitchFamily="34" charset="0"/>
                <a:ea typeface="Calibri" pitchFamily="34" charset="-122"/>
                <a:cs typeface="Calibri" pitchFamily="34" charset="-120"/>
              </a:rPr>
              <a:t>Anyone in their first weeks</a:t>
            </a:r>
            <a:endParaRPr lang="en-US" sz="1350" dirty="0"/>
          </a:p>
        </p:txBody>
      </p:sp>
      <p:sp>
        <p:nvSpPr>
          <p:cNvPr id="19" name="Text 17"/>
          <p:cNvSpPr txBox="1"/>
          <p:nvPr/>
        </p:nvSpPr>
        <p:spPr>
          <a:xfrm>
            <a:off x="5212080" y="4178808"/>
            <a:ext cx="6217920" cy="36576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least social capital, highest perceived cost of asking</a:t>
            </a:r>
            <a:endParaRPr lang="en-US" sz="1200" dirty="0"/>
          </a:p>
        </p:txBody>
      </p:sp>
      <p:sp>
        <p:nvSpPr>
          <p:cNvPr id="20" name="Text 18"/>
          <p:cNvSpPr txBox="1"/>
          <p:nvPr/>
        </p:nvSpPr>
        <p:spPr>
          <a:xfrm>
            <a:off x="777240" y="4617720"/>
            <a:ext cx="4572000" cy="274320"/>
          </a:xfrm>
          <a:prstGeom prst="rect">
            <a:avLst/>
          </a:prstGeom>
          <a:noFill/>
          <a:ln/>
        </p:spPr>
        <p:txBody>
          <a:bodyPr wrap="square" lIns="0" tIns="0" rIns="0" bIns="0" rtlCol="0" anchor="ctr"/>
          <a:lstStyle/>
          <a:p>
            <a:pPr indent="0" marL="0">
              <a:buNone/>
            </a:pPr>
            <a:r>
              <a:rPr lang="en-US" sz="1000" b="1" spc="150" kern="0" dirty="0">
                <a:solidFill>
                  <a:srgbClr val="656B71"/>
                </a:solidFill>
                <a:latin typeface="Courier New" pitchFamily="34" charset="0"/>
                <a:ea typeface="Courier New" pitchFamily="34" charset="-122"/>
                <a:cs typeface="Courier New" pitchFamily="34" charset="-120"/>
              </a:rPr>
              <a:t>WHO WOULD DEPLOY IT</a:t>
            </a:r>
            <a:endParaRPr lang="en-US" sz="1000" dirty="0"/>
          </a:p>
        </p:txBody>
      </p:sp>
      <p:sp>
        <p:nvSpPr>
          <p:cNvPr id="21" name="Text 19"/>
          <p:cNvSpPr txBox="1"/>
          <p:nvPr/>
        </p:nvSpPr>
        <p:spPr>
          <a:xfrm>
            <a:off x="777240" y="4919472"/>
            <a:ext cx="3383280" cy="292608"/>
          </a:xfrm>
          <a:prstGeom prst="rect">
            <a:avLst/>
          </a:prstGeom>
          <a:noFill/>
          <a:ln/>
        </p:spPr>
        <p:txBody>
          <a:bodyPr wrap="square" lIns="0" tIns="0" rIns="0" bIns="0" rtlCol="0" anchor="ctr"/>
          <a:lstStyle/>
          <a:p>
            <a:pPr indent="0" marL="0">
              <a:buNone/>
            </a:pPr>
            <a:r>
              <a:rPr lang="en-US" sz="1250" b="1" dirty="0">
                <a:solidFill>
                  <a:srgbClr val="14171A"/>
                </a:solidFill>
                <a:latin typeface="Cambria" pitchFamily="34" charset="0"/>
                <a:ea typeface="Cambria" pitchFamily="34" charset="-122"/>
                <a:cs typeface="Cambria" pitchFamily="34" charset="-120"/>
              </a:rPr>
              <a:t>Employers with a programme</a:t>
            </a:r>
            <a:endParaRPr lang="en-US" sz="1250" dirty="0"/>
          </a:p>
        </p:txBody>
      </p:sp>
      <p:sp>
        <p:nvSpPr>
          <p:cNvPr id="22" name="Text 20"/>
          <p:cNvSpPr txBox="1"/>
          <p:nvPr/>
        </p:nvSpPr>
        <p:spPr>
          <a:xfrm>
            <a:off x="777240" y="5230368"/>
            <a:ext cx="3383280" cy="457200"/>
          </a:xfrm>
          <a:prstGeom prst="rect">
            <a:avLst/>
          </a:prstGeom>
          <a:noFill/>
          <a:ln/>
        </p:spPr>
        <p:txBody>
          <a:bodyPr wrap="square" lIns="0" tIns="0" rIns="0" bIns="0" rtlCol="0" anchor="ctr"/>
          <a:lstStyle/>
          <a:p>
            <a:pPr indent="0" marL="0">
              <a:buNone/>
            </a:pPr>
            <a:r>
              <a:rPr lang="en-US" sz="1050" dirty="0">
                <a:solidFill>
                  <a:srgbClr val="42474C"/>
                </a:solidFill>
                <a:latin typeface="Calibri" pitchFamily="34" charset="0"/>
                <a:ea typeface="Calibri" pitchFamily="34" charset="-122"/>
                <a:cs typeface="Calibri" pitchFamily="34" charset="-120"/>
              </a:rPr>
              <a:t>Disability:IN alone: 400+ corporations, 25 state affiliates</a:t>
            </a:r>
            <a:endParaRPr lang="en-US" sz="1050" dirty="0"/>
          </a:p>
        </p:txBody>
      </p:sp>
      <p:sp>
        <p:nvSpPr>
          <p:cNvPr id="23" name="Text 21"/>
          <p:cNvSpPr txBox="1"/>
          <p:nvPr/>
        </p:nvSpPr>
        <p:spPr>
          <a:xfrm>
            <a:off x="4343400" y="4919472"/>
            <a:ext cx="3383280" cy="292608"/>
          </a:xfrm>
          <a:prstGeom prst="rect">
            <a:avLst/>
          </a:prstGeom>
          <a:noFill/>
          <a:ln/>
        </p:spPr>
        <p:txBody>
          <a:bodyPr wrap="square" lIns="0" tIns="0" rIns="0" bIns="0" rtlCol="0" anchor="ctr"/>
          <a:lstStyle/>
          <a:p>
            <a:pPr indent="0" marL="0">
              <a:buNone/>
            </a:pPr>
            <a:r>
              <a:rPr lang="en-US" sz="1250" b="1" dirty="0">
                <a:solidFill>
                  <a:srgbClr val="14171A"/>
                </a:solidFill>
                <a:latin typeface="Cambria" pitchFamily="34" charset="0"/>
                <a:ea typeface="Cambria" pitchFamily="34" charset="-122"/>
                <a:cs typeface="Cambria" pitchFamily="34" charset="-120"/>
              </a:rPr>
              <a:t>Disability employment services</a:t>
            </a:r>
            <a:endParaRPr lang="en-US" sz="1250" dirty="0"/>
          </a:p>
        </p:txBody>
      </p:sp>
      <p:sp>
        <p:nvSpPr>
          <p:cNvPr id="24" name="Text 22"/>
          <p:cNvSpPr txBox="1"/>
          <p:nvPr/>
        </p:nvSpPr>
        <p:spPr>
          <a:xfrm>
            <a:off x="4343400" y="5230368"/>
            <a:ext cx="3383280" cy="457200"/>
          </a:xfrm>
          <a:prstGeom prst="rect">
            <a:avLst/>
          </a:prstGeom>
          <a:noFill/>
          <a:ln/>
        </p:spPr>
        <p:txBody>
          <a:bodyPr wrap="square" lIns="0" tIns="0" rIns="0" bIns="0" rtlCol="0" anchor="ctr"/>
          <a:lstStyle/>
          <a:p>
            <a:pPr indent="0" marL="0">
              <a:buNone/>
            </a:pPr>
            <a:r>
              <a:rPr lang="en-US" sz="1050" dirty="0">
                <a:solidFill>
                  <a:srgbClr val="42474C"/>
                </a:solidFill>
                <a:latin typeface="Calibri" pitchFamily="34" charset="0"/>
                <a:ea typeface="Calibri" pitchFamily="34" charset="-122"/>
                <a:cs typeface="Calibri" pitchFamily="34" charset="-120"/>
              </a:rPr>
              <a:t>AbilityOne network: 36,000+ people placed in FY2024</a:t>
            </a:r>
            <a:endParaRPr lang="en-US" sz="1050" dirty="0"/>
          </a:p>
        </p:txBody>
      </p:sp>
      <p:sp>
        <p:nvSpPr>
          <p:cNvPr id="25" name="Text 23"/>
          <p:cNvSpPr txBox="1"/>
          <p:nvPr/>
        </p:nvSpPr>
        <p:spPr>
          <a:xfrm>
            <a:off x="7909560" y="4919472"/>
            <a:ext cx="3383280" cy="292608"/>
          </a:xfrm>
          <a:prstGeom prst="rect">
            <a:avLst/>
          </a:prstGeom>
          <a:noFill/>
          <a:ln/>
        </p:spPr>
        <p:txBody>
          <a:bodyPr wrap="square" lIns="0" tIns="0" rIns="0" bIns="0" rtlCol="0" anchor="ctr"/>
          <a:lstStyle/>
          <a:p>
            <a:pPr indent="0" marL="0">
              <a:buNone/>
            </a:pPr>
            <a:r>
              <a:rPr lang="en-US" sz="1250" b="1" dirty="0">
                <a:solidFill>
                  <a:srgbClr val="14171A"/>
                </a:solidFill>
                <a:latin typeface="Cambria" pitchFamily="34" charset="0"/>
                <a:ea typeface="Cambria" pitchFamily="34" charset="-122"/>
                <a:cs typeface="Cambria" pitchFamily="34" charset="-120"/>
              </a:rPr>
              <a:t>Independent living centres</a:t>
            </a:r>
            <a:endParaRPr lang="en-US" sz="1250" dirty="0"/>
          </a:p>
        </p:txBody>
      </p:sp>
      <p:sp>
        <p:nvSpPr>
          <p:cNvPr id="26" name="Text 24"/>
          <p:cNvSpPr txBox="1"/>
          <p:nvPr/>
        </p:nvSpPr>
        <p:spPr>
          <a:xfrm>
            <a:off x="7909560" y="5230368"/>
            <a:ext cx="3383280" cy="457200"/>
          </a:xfrm>
          <a:prstGeom prst="rect">
            <a:avLst/>
          </a:prstGeom>
          <a:noFill/>
          <a:ln/>
        </p:spPr>
        <p:txBody>
          <a:bodyPr wrap="square" lIns="0" tIns="0" rIns="0" bIns="0" rtlCol="0" anchor="ctr"/>
          <a:lstStyle/>
          <a:p>
            <a:pPr indent="0" marL="0">
              <a:buNone/>
            </a:pPr>
            <a:r>
              <a:rPr lang="en-US" sz="1050" dirty="0">
                <a:solidFill>
                  <a:srgbClr val="42474C"/>
                </a:solidFill>
                <a:latin typeface="Calibri" pitchFamily="34" charset="0"/>
                <a:ea typeface="Calibri" pitchFamily="34" charset="-122"/>
                <a:cs typeface="Calibri" pitchFamily="34" charset="-120"/>
              </a:rPr>
              <a:t>no Salesforce budget, so MCP and the shared API exist for them</a:t>
            </a:r>
            <a:endParaRPr lang="en-US" sz="1050" dirty="0"/>
          </a:p>
        </p:txBody>
      </p:sp>
      <p:sp>
        <p:nvSpPr>
          <p:cNvPr id="27" name="Text 25"/>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Employers aren't short of money for this. They're short of a process, and no budget line says "the asking was too hard".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777240" y="2286000"/>
            <a:ext cx="1828800" cy="914400"/>
          </a:xfrm>
          <a:prstGeom prst="rect">
            <a:avLst/>
          </a:prstGeom>
          <a:noFill/>
          <a:ln/>
        </p:spPr>
        <p:txBody>
          <a:bodyPr wrap="square" lIns="0" tIns="0" rIns="0" bIns="0" rtlCol="0" anchor="ctr"/>
          <a:lstStyle/>
          <a:p>
            <a:pPr indent="0" marL="0">
              <a:buNone/>
            </a:pPr>
            <a:r>
              <a:rPr lang="en-US" sz="4800" b="1" dirty="0">
                <a:solidFill>
                  <a:srgbClr val="E8C87A"/>
                </a:solidFill>
                <a:latin typeface="Courier New" pitchFamily="34" charset="0"/>
                <a:ea typeface="Courier New" pitchFamily="34" charset="-122"/>
                <a:cs typeface="Courier New" pitchFamily="34" charset="-120"/>
              </a:rPr>
              <a:t>03</a:t>
            </a:r>
            <a:endParaRPr lang="en-US" sz="4800" dirty="0"/>
          </a:p>
        </p:txBody>
      </p:sp>
      <p:sp>
        <p:nvSpPr>
          <p:cNvPr id="3" name="Text 1"/>
          <p:cNvSpPr txBox="1"/>
          <p:nvPr/>
        </p:nvSpPr>
        <p:spPr>
          <a:xfrm>
            <a:off x="777240" y="3154680"/>
            <a:ext cx="10058400" cy="822960"/>
          </a:xfrm>
          <a:prstGeom prst="rect">
            <a:avLst/>
          </a:prstGeom>
          <a:noFill/>
          <a:ln/>
        </p:spPr>
        <p:txBody>
          <a:bodyPr wrap="square" lIns="0" tIns="0" rIns="0" bIns="0" rtlCol="0" anchor="ctr"/>
          <a:lstStyle/>
          <a:p>
            <a:pPr indent="0" marL="0">
              <a:buNone/>
            </a:pPr>
            <a:r>
              <a:rPr lang="en-US" sz="4100" b="1" dirty="0">
                <a:solidFill>
                  <a:srgbClr val="F7F5EF"/>
                </a:solidFill>
                <a:latin typeface="Cambria" pitchFamily="34" charset="0"/>
                <a:ea typeface="Cambria" pitchFamily="34" charset="-122"/>
                <a:cs typeface="Cambria" pitchFamily="34" charset="-120"/>
              </a:rPr>
              <a:t>The build</a:t>
            </a:r>
            <a:endParaRPr lang="en-US" sz="4100" dirty="0"/>
          </a:p>
        </p:txBody>
      </p:sp>
      <p:sp>
        <p:nvSpPr>
          <p:cNvPr id="4" name="Text 2"/>
          <p:cNvSpPr txBox="1"/>
          <p:nvPr/>
        </p:nvSpPr>
        <p:spPr>
          <a:xfrm>
            <a:off x="777240" y="4114800"/>
            <a:ext cx="9144000" cy="457200"/>
          </a:xfrm>
          <a:prstGeom prst="rect">
            <a:avLst/>
          </a:prstGeom>
          <a:noFill/>
          <a:ln/>
        </p:spPr>
        <p:txBody>
          <a:bodyPr wrap="square" lIns="0" tIns="0" rIns="0" bIns="0" rtlCol="0" anchor="ctr"/>
          <a:lstStyle/>
          <a:p>
            <a:pPr indent="0" marL="0">
              <a:buNone/>
            </a:pPr>
            <a:r>
              <a:rPr lang="en-US" sz="1600" dirty="0">
                <a:solidFill>
                  <a:srgbClr val="A9B0B6"/>
                </a:solidFill>
                <a:latin typeface="Calibri" pitchFamily="34" charset="0"/>
                <a:ea typeface="Calibri" pitchFamily="34" charset="-122"/>
                <a:cs typeface="Calibri" pitchFamily="34" charset="-120"/>
              </a:rPr>
              <a:t>An agent whose principal is the worker, not the employer.</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03  THE BUILD  |  REFERENCE ARCHITECTURE</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Five layers. The data layer has no diagnosis field.</a:t>
            </a:r>
            <a:endParaRPr lang="en-US" sz="3300" dirty="0"/>
          </a:p>
        </p:txBody>
      </p:sp>
      <p:sp>
        <p:nvSpPr>
          <p:cNvPr id="4" name="Shape 2"/>
          <p:cNvSpPr/>
          <p:nvPr/>
        </p:nvSpPr>
        <p:spPr>
          <a:xfrm>
            <a:off x="777240" y="1773936"/>
            <a:ext cx="1371600" cy="621792"/>
          </a:xfrm>
          <a:prstGeom prst="rect">
            <a:avLst/>
          </a:prstGeom>
          <a:solidFill>
            <a:srgbClr val="14171A"/>
          </a:solidFill>
          <a:ln w="12700">
            <a:solidFill>
              <a:srgbClr val="14171A"/>
            </a:solidFill>
            <a:prstDash val="solid"/>
          </a:ln>
        </p:spPr>
      </p:sp>
      <p:sp>
        <p:nvSpPr>
          <p:cNvPr id="5" name="Text 3"/>
          <p:cNvSpPr txBox="1"/>
          <p:nvPr/>
        </p:nvSpPr>
        <p:spPr>
          <a:xfrm>
            <a:off x="777240" y="1975104"/>
            <a:ext cx="1371600" cy="274320"/>
          </a:xfrm>
          <a:prstGeom prst="rect">
            <a:avLst/>
          </a:prstGeom>
          <a:noFill/>
          <a:ln/>
        </p:spPr>
        <p:txBody>
          <a:bodyPr wrap="square" lIns="0" tIns="0" rIns="0" bIns="0" rtlCol="0" anchor="ctr"/>
          <a:lstStyle/>
          <a:p>
            <a:pPr algn="ctr" indent="0" marL="0">
              <a:buNone/>
            </a:pPr>
            <a:r>
              <a:rPr lang="en-US" sz="1000" b="1" spc="120" kern="0" dirty="0">
                <a:solidFill>
                  <a:srgbClr val="F7F5EF"/>
                </a:solidFill>
                <a:latin typeface="Courier New" pitchFamily="34" charset="0"/>
                <a:ea typeface="Courier New" pitchFamily="34" charset="-122"/>
                <a:cs typeface="Courier New" pitchFamily="34" charset="-120"/>
              </a:rPr>
              <a:t>PEOPLE</a:t>
            </a:r>
            <a:endParaRPr lang="en-US" sz="1000" dirty="0"/>
          </a:p>
        </p:txBody>
      </p:sp>
      <p:sp>
        <p:nvSpPr>
          <p:cNvPr id="6" name="Shape 4"/>
          <p:cNvSpPr/>
          <p:nvPr/>
        </p:nvSpPr>
        <p:spPr>
          <a:xfrm>
            <a:off x="2240280" y="1773936"/>
            <a:ext cx="9144000" cy="621792"/>
          </a:xfrm>
          <a:prstGeom prst="rect">
            <a:avLst/>
          </a:prstGeom>
          <a:solidFill>
            <a:srgbClr val="FFFFFF"/>
          </a:solidFill>
          <a:ln w="15875">
            <a:solidFill>
              <a:srgbClr val="D3CEC0"/>
            </a:solidFill>
            <a:prstDash val="solid"/>
          </a:ln>
        </p:spPr>
      </p:sp>
      <p:sp>
        <p:nvSpPr>
          <p:cNvPr id="7" name="Text 5"/>
          <p:cNvSpPr txBox="1"/>
          <p:nvPr/>
        </p:nvSpPr>
        <p:spPr>
          <a:xfrm>
            <a:off x="2450592" y="1975104"/>
            <a:ext cx="8778240" cy="320040"/>
          </a:xfrm>
          <a:prstGeom prst="rect">
            <a:avLst/>
          </a:prstGeom>
          <a:noFill/>
          <a:ln/>
        </p:spPr>
        <p:txBody>
          <a:bodyPr wrap="square" lIns="0" tIns="0" rIns="0" bIns="0" rtlCol="0" anchor="ctr"/>
          <a:lstStyle/>
          <a:p>
            <a:pPr indent="0" marL="0">
              <a:buNone/>
            </a:pPr>
            <a:r>
              <a:rPr lang="en-US" sz="1250" dirty="0">
                <a:solidFill>
                  <a:srgbClr val="14171A"/>
                </a:solidFill>
                <a:latin typeface="Calibri" pitchFamily="34" charset="0"/>
                <a:ea typeface="Calibri" pitchFamily="34" charset="-122"/>
                <a:cs typeface="Calibri" pitchFamily="34" charset="-120"/>
              </a:rPr>
              <a:t>Anonymous web  ·  Voice  ·  Text  ·  Email  ·  Slack DM  ·  Any MCP assistant</a:t>
            </a:r>
            <a:endParaRPr lang="en-US" sz="1250" dirty="0"/>
          </a:p>
        </p:txBody>
      </p:sp>
      <p:sp>
        <p:nvSpPr>
          <p:cNvPr id="8" name="Shape 6"/>
          <p:cNvSpPr/>
          <p:nvPr/>
        </p:nvSpPr>
        <p:spPr>
          <a:xfrm>
            <a:off x="3108960" y="2395728"/>
            <a:ext cx="0" cy="155448"/>
          </a:xfrm>
          <a:prstGeom prst="line">
            <a:avLst/>
          </a:prstGeom>
          <a:noFill/>
          <a:ln w="17780">
            <a:solidFill>
              <a:srgbClr val="42474C"/>
            </a:solidFill>
            <a:prstDash val="solid"/>
            <a:tailEnd type="triangle"/>
          </a:ln>
        </p:spPr>
      </p:sp>
      <p:sp>
        <p:nvSpPr>
          <p:cNvPr id="9" name="Shape 7"/>
          <p:cNvSpPr/>
          <p:nvPr/>
        </p:nvSpPr>
        <p:spPr>
          <a:xfrm>
            <a:off x="777240" y="2551176"/>
            <a:ext cx="1371600" cy="621792"/>
          </a:xfrm>
          <a:prstGeom prst="rect">
            <a:avLst/>
          </a:prstGeom>
          <a:solidFill>
            <a:srgbClr val="14171A"/>
          </a:solidFill>
          <a:ln w="12700">
            <a:solidFill>
              <a:srgbClr val="14171A"/>
            </a:solidFill>
            <a:prstDash val="solid"/>
          </a:ln>
        </p:spPr>
      </p:sp>
      <p:sp>
        <p:nvSpPr>
          <p:cNvPr id="10" name="Text 8"/>
          <p:cNvSpPr txBox="1"/>
          <p:nvPr/>
        </p:nvSpPr>
        <p:spPr>
          <a:xfrm>
            <a:off x="777240" y="2752344"/>
            <a:ext cx="1371600" cy="274320"/>
          </a:xfrm>
          <a:prstGeom prst="rect">
            <a:avLst/>
          </a:prstGeom>
          <a:noFill/>
          <a:ln/>
        </p:spPr>
        <p:txBody>
          <a:bodyPr wrap="square" lIns="0" tIns="0" rIns="0" bIns="0" rtlCol="0" anchor="ctr"/>
          <a:lstStyle/>
          <a:p>
            <a:pPr algn="ctr" indent="0" marL="0">
              <a:buNone/>
            </a:pPr>
            <a:r>
              <a:rPr lang="en-US" sz="1000" b="1" spc="120" kern="0" dirty="0">
                <a:solidFill>
                  <a:srgbClr val="F7F5EF"/>
                </a:solidFill>
                <a:latin typeface="Courier New" pitchFamily="34" charset="0"/>
                <a:ea typeface="Courier New" pitchFamily="34" charset="-122"/>
                <a:cs typeface="Courier New" pitchFamily="34" charset="-120"/>
              </a:rPr>
              <a:t>CONTROL</a:t>
            </a:r>
            <a:endParaRPr lang="en-US" sz="1000" dirty="0"/>
          </a:p>
        </p:txBody>
      </p:sp>
      <p:sp>
        <p:nvSpPr>
          <p:cNvPr id="11" name="Shape 9"/>
          <p:cNvSpPr/>
          <p:nvPr/>
        </p:nvSpPr>
        <p:spPr>
          <a:xfrm>
            <a:off x="2240280" y="2551176"/>
            <a:ext cx="9144000" cy="621792"/>
          </a:xfrm>
          <a:prstGeom prst="rect">
            <a:avLst/>
          </a:prstGeom>
          <a:solidFill>
            <a:srgbClr val="FFFFFF"/>
          </a:solidFill>
          <a:ln w="15875">
            <a:solidFill>
              <a:srgbClr val="D3CEC0"/>
            </a:solidFill>
            <a:prstDash val="solid"/>
          </a:ln>
        </p:spPr>
      </p:sp>
      <p:sp>
        <p:nvSpPr>
          <p:cNvPr id="12" name="Text 10"/>
          <p:cNvSpPr txBox="1"/>
          <p:nvPr/>
        </p:nvSpPr>
        <p:spPr>
          <a:xfrm>
            <a:off x="2450592" y="2752344"/>
            <a:ext cx="8778240" cy="320040"/>
          </a:xfrm>
          <a:prstGeom prst="rect">
            <a:avLst/>
          </a:prstGeom>
          <a:noFill/>
          <a:ln/>
        </p:spPr>
        <p:txBody>
          <a:bodyPr wrap="square" lIns="0" tIns="0" rIns="0" bIns="0" rtlCol="0" anchor="ctr"/>
          <a:lstStyle/>
          <a:p>
            <a:pPr indent="0" marL="0">
              <a:buNone/>
            </a:pPr>
            <a:r>
              <a:rPr lang="en-US" sz="1250" dirty="0">
                <a:solidFill>
                  <a:srgbClr val="14171A"/>
                </a:solidFill>
                <a:latin typeface="Calibri" pitchFamily="34" charset="0"/>
                <a:ea typeface="Calibri" pitchFamily="34" charset="-122"/>
                <a:cs typeface="Calibri" pitchFamily="34" charset="-120"/>
              </a:rPr>
              <a:t>CurbCutKeyword. About 70 phrases resolved before any inference happens.</a:t>
            </a:r>
            <a:endParaRPr lang="en-US" sz="1250" dirty="0"/>
          </a:p>
        </p:txBody>
      </p:sp>
      <p:sp>
        <p:nvSpPr>
          <p:cNvPr id="13" name="Shape 11"/>
          <p:cNvSpPr/>
          <p:nvPr/>
        </p:nvSpPr>
        <p:spPr>
          <a:xfrm>
            <a:off x="3108960" y="3172968"/>
            <a:ext cx="0" cy="155448"/>
          </a:xfrm>
          <a:prstGeom prst="line">
            <a:avLst/>
          </a:prstGeom>
          <a:noFill/>
          <a:ln w="17780">
            <a:solidFill>
              <a:srgbClr val="42474C"/>
            </a:solidFill>
            <a:prstDash val="solid"/>
            <a:tailEnd type="triangle"/>
          </a:ln>
        </p:spPr>
      </p:sp>
      <p:sp>
        <p:nvSpPr>
          <p:cNvPr id="14" name="Shape 12"/>
          <p:cNvSpPr/>
          <p:nvPr/>
        </p:nvSpPr>
        <p:spPr>
          <a:xfrm>
            <a:off x="777240" y="3328416"/>
            <a:ext cx="1371600" cy="621792"/>
          </a:xfrm>
          <a:prstGeom prst="rect">
            <a:avLst/>
          </a:prstGeom>
          <a:solidFill>
            <a:srgbClr val="14171A"/>
          </a:solidFill>
          <a:ln w="12700">
            <a:solidFill>
              <a:srgbClr val="14171A"/>
            </a:solidFill>
            <a:prstDash val="solid"/>
          </a:ln>
        </p:spPr>
      </p:sp>
      <p:sp>
        <p:nvSpPr>
          <p:cNvPr id="15" name="Text 13"/>
          <p:cNvSpPr txBox="1"/>
          <p:nvPr/>
        </p:nvSpPr>
        <p:spPr>
          <a:xfrm>
            <a:off x="777240" y="3529584"/>
            <a:ext cx="1371600" cy="274320"/>
          </a:xfrm>
          <a:prstGeom prst="rect">
            <a:avLst/>
          </a:prstGeom>
          <a:noFill/>
          <a:ln/>
        </p:spPr>
        <p:txBody>
          <a:bodyPr wrap="square" lIns="0" tIns="0" rIns="0" bIns="0" rtlCol="0" anchor="ctr"/>
          <a:lstStyle/>
          <a:p>
            <a:pPr algn="ctr" indent="0" marL="0">
              <a:buNone/>
            </a:pPr>
            <a:r>
              <a:rPr lang="en-US" sz="1000" b="1" spc="120" kern="0" dirty="0">
                <a:solidFill>
                  <a:srgbClr val="F7F5EF"/>
                </a:solidFill>
                <a:latin typeface="Courier New" pitchFamily="34" charset="0"/>
                <a:ea typeface="Courier New" pitchFamily="34" charset="-122"/>
                <a:cs typeface="Courier New" pitchFamily="34" charset="-120"/>
              </a:rPr>
              <a:t>DOOR</a:t>
            </a:r>
            <a:endParaRPr lang="en-US" sz="1000" dirty="0"/>
          </a:p>
        </p:txBody>
      </p:sp>
      <p:sp>
        <p:nvSpPr>
          <p:cNvPr id="16" name="Shape 14"/>
          <p:cNvSpPr/>
          <p:nvPr/>
        </p:nvSpPr>
        <p:spPr>
          <a:xfrm>
            <a:off x="2240280" y="3328416"/>
            <a:ext cx="9144000" cy="621792"/>
          </a:xfrm>
          <a:prstGeom prst="rect">
            <a:avLst/>
          </a:prstGeom>
          <a:solidFill>
            <a:srgbClr val="FFFFFF"/>
          </a:solidFill>
          <a:ln w="15875">
            <a:solidFill>
              <a:srgbClr val="D3CEC0"/>
            </a:solidFill>
            <a:prstDash val="solid"/>
          </a:ln>
        </p:spPr>
      </p:sp>
      <p:sp>
        <p:nvSpPr>
          <p:cNvPr id="17" name="Text 15"/>
          <p:cNvSpPr txBox="1"/>
          <p:nvPr/>
        </p:nvSpPr>
        <p:spPr>
          <a:xfrm>
            <a:off x="2450592" y="3529584"/>
            <a:ext cx="8778240" cy="320040"/>
          </a:xfrm>
          <a:prstGeom prst="rect">
            <a:avLst/>
          </a:prstGeom>
          <a:noFill/>
          <a:ln/>
        </p:spPr>
        <p:txBody>
          <a:bodyPr wrap="square" lIns="0" tIns="0" rIns="0" bIns="0" rtlCol="0" anchor="ctr"/>
          <a:lstStyle/>
          <a:p>
            <a:pPr indent="0" marL="0">
              <a:buNone/>
            </a:pPr>
            <a:r>
              <a:rPr lang="en-US" sz="1250" dirty="0">
                <a:solidFill>
                  <a:srgbClr val="14171A"/>
                </a:solidFill>
                <a:latin typeface="Calibri" pitchFamily="34" charset="0"/>
                <a:ea typeface="Calibri" pitchFamily="34" charset="-122"/>
                <a:cs typeface="Calibri" pitchFamily="34" charset="-120"/>
              </a:rPr>
              <a:t>CurbCutChannelApi. One authenticated Apex REST endpoint every channel shares.</a:t>
            </a:r>
            <a:endParaRPr lang="en-US" sz="1250" dirty="0"/>
          </a:p>
        </p:txBody>
      </p:sp>
      <p:sp>
        <p:nvSpPr>
          <p:cNvPr id="18" name="Shape 16"/>
          <p:cNvSpPr/>
          <p:nvPr/>
        </p:nvSpPr>
        <p:spPr>
          <a:xfrm>
            <a:off x="3108960" y="3950208"/>
            <a:ext cx="0" cy="155448"/>
          </a:xfrm>
          <a:prstGeom prst="line">
            <a:avLst/>
          </a:prstGeom>
          <a:noFill/>
          <a:ln w="17780">
            <a:solidFill>
              <a:srgbClr val="42474C"/>
            </a:solidFill>
            <a:prstDash val="solid"/>
            <a:tailEnd type="triangle"/>
          </a:ln>
        </p:spPr>
      </p:sp>
      <p:sp>
        <p:nvSpPr>
          <p:cNvPr id="19" name="Shape 17"/>
          <p:cNvSpPr/>
          <p:nvPr/>
        </p:nvSpPr>
        <p:spPr>
          <a:xfrm>
            <a:off x="777240" y="4105656"/>
            <a:ext cx="1371600" cy="621792"/>
          </a:xfrm>
          <a:prstGeom prst="rect">
            <a:avLst/>
          </a:prstGeom>
          <a:solidFill>
            <a:srgbClr val="14171A"/>
          </a:solidFill>
          <a:ln w="12700">
            <a:solidFill>
              <a:srgbClr val="14171A"/>
            </a:solidFill>
            <a:prstDash val="solid"/>
          </a:ln>
        </p:spPr>
      </p:sp>
      <p:sp>
        <p:nvSpPr>
          <p:cNvPr id="20" name="Text 18"/>
          <p:cNvSpPr txBox="1"/>
          <p:nvPr/>
        </p:nvSpPr>
        <p:spPr>
          <a:xfrm>
            <a:off x="777240" y="4306824"/>
            <a:ext cx="1371600" cy="274320"/>
          </a:xfrm>
          <a:prstGeom prst="rect">
            <a:avLst/>
          </a:prstGeom>
          <a:noFill/>
          <a:ln/>
        </p:spPr>
        <p:txBody>
          <a:bodyPr wrap="square" lIns="0" tIns="0" rIns="0" bIns="0" rtlCol="0" anchor="ctr"/>
          <a:lstStyle/>
          <a:p>
            <a:pPr algn="ctr" indent="0" marL="0">
              <a:buNone/>
            </a:pPr>
            <a:r>
              <a:rPr lang="en-US" sz="1000" b="1" spc="120" kern="0" dirty="0">
                <a:solidFill>
                  <a:srgbClr val="F7F5EF"/>
                </a:solidFill>
                <a:latin typeface="Courier New" pitchFamily="34" charset="0"/>
                <a:ea typeface="Courier New" pitchFamily="34" charset="-122"/>
                <a:cs typeface="Courier New" pitchFamily="34" charset="-120"/>
              </a:rPr>
              <a:t>LOGIC</a:t>
            </a:r>
            <a:endParaRPr lang="en-US" sz="1000" dirty="0"/>
          </a:p>
        </p:txBody>
      </p:sp>
      <p:sp>
        <p:nvSpPr>
          <p:cNvPr id="21" name="Shape 19"/>
          <p:cNvSpPr/>
          <p:nvPr/>
        </p:nvSpPr>
        <p:spPr>
          <a:xfrm>
            <a:off x="2240280" y="4105656"/>
            <a:ext cx="9144000" cy="621792"/>
          </a:xfrm>
          <a:prstGeom prst="rect">
            <a:avLst/>
          </a:prstGeom>
          <a:solidFill>
            <a:srgbClr val="FFFFFF"/>
          </a:solidFill>
          <a:ln w="15875">
            <a:solidFill>
              <a:srgbClr val="D3CEC0"/>
            </a:solidFill>
            <a:prstDash val="solid"/>
          </a:ln>
        </p:spPr>
      </p:sp>
      <p:sp>
        <p:nvSpPr>
          <p:cNvPr id="22" name="Text 20"/>
          <p:cNvSpPr txBox="1"/>
          <p:nvPr/>
        </p:nvSpPr>
        <p:spPr>
          <a:xfrm>
            <a:off x="2450592" y="4306824"/>
            <a:ext cx="8778240" cy="320040"/>
          </a:xfrm>
          <a:prstGeom prst="rect">
            <a:avLst/>
          </a:prstGeom>
          <a:noFill/>
          <a:ln/>
        </p:spPr>
        <p:txBody>
          <a:bodyPr wrap="square" lIns="0" tIns="0" rIns="0" bIns="0" rtlCol="0" anchor="ctr"/>
          <a:lstStyle/>
          <a:p>
            <a:pPr indent="0" marL="0">
              <a:buNone/>
            </a:pPr>
            <a:r>
              <a:rPr lang="en-US" sz="1250" dirty="0">
                <a:solidFill>
                  <a:srgbClr val="14171A"/>
                </a:solidFill>
                <a:latin typeface="Calibri" pitchFamily="34" charset="0"/>
                <a:ea typeface="Calibri" pitchFamily="34" charset="-122"/>
                <a:cs typeface="Calibri" pitchFamily="34" charset="-120"/>
              </a:rPr>
              <a:t>Options ranker  ·  Redaction  ·  Consent gate  ·  Handoff  ·  Standing preference</a:t>
            </a:r>
            <a:endParaRPr lang="en-US" sz="1250" dirty="0"/>
          </a:p>
        </p:txBody>
      </p:sp>
      <p:sp>
        <p:nvSpPr>
          <p:cNvPr id="23" name="Shape 21"/>
          <p:cNvSpPr/>
          <p:nvPr/>
        </p:nvSpPr>
        <p:spPr>
          <a:xfrm>
            <a:off x="3108960" y="4727448"/>
            <a:ext cx="0" cy="155448"/>
          </a:xfrm>
          <a:prstGeom prst="line">
            <a:avLst/>
          </a:prstGeom>
          <a:noFill/>
          <a:ln w="17780">
            <a:solidFill>
              <a:srgbClr val="42474C"/>
            </a:solidFill>
            <a:prstDash val="solid"/>
            <a:tailEnd type="triangle"/>
          </a:ln>
        </p:spPr>
      </p:sp>
      <p:sp>
        <p:nvSpPr>
          <p:cNvPr id="24" name="Shape 22"/>
          <p:cNvSpPr/>
          <p:nvPr/>
        </p:nvSpPr>
        <p:spPr>
          <a:xfrm>
            <a:off x="777240" y="4882896"/>
            <a:ext cx="1371600" cy="621792"/>
          </a:xfrm>
          <a:prstGeom prst="rect">
            <a:avLst/>
          </a:prstGeom>
          <a:solidFill>
            <a:srgbClr val="E7E3D8"/>
          </a:solidFill>
          <a:ln w="12700">
            <a:solidFill>
              <a:srgbClr val="D3CEC0"/>
            </a:solidFill>
            <a:prstDash val="solid"/>
          </a:ln>
        </p:spPr>
      </p:sp>
      <p:sp>
        <p:nvSpPr>
          <p:cNvPr id="25" name="Text 23"/>
          <p:cNvSpPr txBox="1"/>
          <p:nvPr/>
        </p:nvSpPr>
        <p:spPr>
          <a:xfrm>
            <a:off x="777240" y="5084064"/>
            <a:ext cx="1371600" cy="274320"/>
          </a:xfrm>
          <a:prstGeom prst="rect">
            <a:avLst/>
          </a:prstGeom>
          <a:noFill/>
          <a:ln/>
        </p:spPr>
        <p:txBody>
          <a:bodyPr wrap="square" lIns="0" tIns="0" rIns="0" bIns="0" rtlCol="0" anchor="ctr"/>
          <a:lstStyle/>
          <a:p>
            <a:pPr algn="ctr" indent="0" marL="0">
              <a:buNone/>
            </a:pPr>
            <a:r>
              <a:rPr lang="en-US" sz="1000" b="1" spc="120" kern="0" dirty="0">
                <a:solidFill>
                  <a:srgbClr val="14171A"/>
                </a:solidFill>
                <a:latin typeface="Courier New" pitchFamily="34" charset="0"/>
                <a:ea typeface="Courier New" pitchFamily="34" charset="-122"/>
                <a:cs typeface="Courier New" pitchFamily="34" charset="-120"/>
              </a:rPr>
              <a:t>RECORD</a:t>
            </a:r>
            <a:endParaRPr lang="en-US" sz="1000" dirty="0"/>
          </a:p>
        </p:txBody>
      </p:sp>
      <p:sp>
        <p:nvSpPr>
          <p:cNvPr id="26" name="Shape 24"/>
          <p:cNvSpPr/>
          <p:nvPr/>
        </p:nvSpPr>
        <p:spPr>
          <a:xfrm>
            <a:off x="2240280" y="4882896"/>
            <a:ext cx="9144000" cy="621792"/>
          </a:xfrm>
          <a:prstGeom prst="rect">
            <a:avLst/>
          </a:prstGeom>
          <a:solidFill>
            <a:srgbClr val="FFFFFF"/>
          </a:solidFill>
          <a:ln w="15875">
            <a:solidFill>
              <a:srgbClr val="D3CEC0"/>
            </a:solidFill>
            <a:prstDash val="solid"/>
          </a:ln>
        </p:spPr>
      </p:sp>
      <p:sp>
        <p:nvSpPr>
          <p:cNvPr id="27" name="Text 25"/>
          <p:cNvSpPr txBox="1"/>
          <p:nvPr/>
        </p:nvSpPr>
        <p:spPr>
          <a:xfrm>
            <a:off x="2450592" y="5084064"/>
            <a:ext cx="8778240" cy="320040"/>
          </a:xfrm>
          <a:prstGeom prst="rect">
            <a:avLst/>
          </a:prstGeom>
          <a:noFill/>
          <a:ln/>
        </p:spPr>
        <p:txBody>
          <a:bodyPr wrap="square" lIns="0" tIns="0" rIns="0" bIns="0" rtlCol="0" anchor="ctr"/>
          <a:lstStyle/>
          <a:p>
            <a:pPr indent="0" marL="0">
              <a:buNone/>
            </a:pPr>
            <a:r>
              <a:rPr lang="en-US" sz="1250" dirty="0">
                <a:solidFill>
                  <a:srgbClr val="14171A"/>
                </a:solidFill>
                <a:latin typeface="Calibri" pitchFamily="34" charset="0"/>
                <a:ea typeface="Calibri" pitchFamily="34" charset="-122"/>
                <a:cs typeface="Calibri" pitchFamily="34" charset="-120"/>
              </a:rPr>
              <a:t>9 objects, 61 fields, a delivery ledger, and no field for a diagnosis.</a:t>
            </a:r>
            <a:endParaRPr lang="en-US" sz="1250" dirty="0"/>
          </a:p>
        </p:txBody>
      </p:sp>
      <p:sp>
        <p:nvSpPr>
          <p:cNvPr id="28" name="Text 26"/>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The model sits inside LOGIC and nowhere else. It may choose an action and phrase a reply. It may not invent an accommodation, a cost, or a precedent.</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03  THE BUILD  |  TELEMETRY</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It can say it's failing somebody, without ever knowing what they said.</a:t>
            </a:r>
            <a:endParaRPr lang="en-US" sz="3300" dirty="0"/>
          </a:p>
        </p:txBody>
      </p:sp>
      <p:sp>
        <p:nvSpPr>
          <p:cNvPr id="4" name="Shape 2"/>
          <p:cNvSpPr/>
          <p:nvPr/>
        </p:nvSpPr>
        <p:spPr>
          <a:xfrm>
            <a:off x="777240" y="1810512"/>
            <a:ext cx="5166360" cy="2651760"/>
          </a:xfrm>
          <a:prstGeom prst="roundRect">
            <a:avLst>
              <a:gd name="adj" fmla="val 1724"/>
            </a:avLst>
          </a:prstGeom>
          <a:solidFill>
            <a:srgbClr val="FFFFFF"/>
          </a:solidFill>
          <a:ln w="19050">
            <a:solidFill>
              <a:srgbClr val="1F5546"/>
            </a:solidFill>
            <a:prstDash val="solid"/>
          </a:ln>
        </p:spPr>
      </p:sp>
      <p:sp>
        <p:nvSpPr>
          <p:cNvPr id="5" name="Text 3"/>
          <p:cNvSpPr txBox="1"/>
          <p:nvPr/>
        </p:nvSpPr>
        <p:spPr>
          <a:xfrm>
            <a:off x="1024128" y="1975104"/>
            <a:ext cx="4663440" cy="310896"/>
          </a:xfrm>
          <a:prstGeom prst="rect">
            <a:avLst/>
          </a:prstGeom>
          <a:noFill/>
          <a:ln/>
        </p:spPr>
        <p:txBody>
          <a:bodyPr wrap="square" lIns="0" tIns="0" rIns="0" bIns="0" rtlCol="0" anchor="ctr"/>
          <a:lstStyle/>
          <a:p>
            <a:pPr indent="0" marL="0">
              <a:buNone/>
            </a:pPr>
            <a:r>
              <a:rPr lang="en-US" sz="1100" b="1" spc="120" kern="0" dirty="0">
                <a:solidFill>
                  <a:srgbClr val="1F5546"/>
                </a:solidFill>
                <a:latin typeface="Courier New" pitchFamily="34" charset="0"/>
                <a:ea typeface="Courier New" pitchFamily="34" charset="-122"/>
                <a:cs typeface="Courier New" pitchFamily="34" charset="-120"/>
              </a:rPr>
              <a:t>WHAT THE LEDGER HOLDS</a:t>
            </a:r>
            <a:endParaRPr lang="en-US" sz="1100" dirty="0"/>
          </a:p>
        </p:txBody>
      </p:sp>
      <p:sp>
        <p:nvSpPr>
          <p:cNvPr id="6" name="Text 4"/>
          <p:cNvSpPr txBox="1"/>
          <p:nvPr/>
        </p:nvSpPr>
        <p:spPr>
          <a:xfrm>
            <a:off x="1024128" y="2377440"/>
            <a:ext cx="4663440" cy="201168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14171A"/>
                </a:solidFill>
                <a:latin typeface="Calibri" pitchFamily="34" charset="0"/>
                <a:ea typeface="Calibri" pitchFamily="34" charset="-122"/>
                <a:cs typeface="Calibri" pitchFamily="34" charset="-120"/>
              </a:rPr>
              <a:t>When the attempt was made</a:t>
            </a:r>
            <a:endParaRPr lang="en-US" sz="1250" dirty="0"/>
          </a:p>
          <a:p>
            <a:pPr marL="342900" indent="-342900">
              <a:spcAft>
                <a:spcPts val="700"/>
              </a:spcAft>
              <a:buSzPct val="100000"/>
              <a:buChar char="•"/>
            </a:pPr>
            <a:r>
              <a:rPr lang="en-US" sz="1250" dirty="0">
                <a:solidFill>
                  <a:srgbClr val="14171A"/>
                </a:solidFill>
                <a:latin typeface="Calibri" pitchFamily="34" charset="0"/>
                <a:ea typeface="Calibri" pitchFamily="34" charset="-122"/>
                <a:cs typeface="Calibri" pitchFamily="34" charset="-120"/>
              </a:rPr>
              <a:t>Which channel, which direction</a:t>
            </a:r>
            <a:endParaRPr lang="en-US" sz="1250" dirty="0"/>
          </a:p>
          <a:p>
            <a:pPr marL="342900" indent="-342900">
              <a:spcAft>
                <a:spcPts val="700"/>
              </a:spcAft>
              <a:buSzPct val="100000"/>
              <a:buChar char="•"/>
            </a:pPr>
            <a:r>
              <a:rPr lang="en-US" sz="1250" dirty="0">
                <a:solidFill>
                  <a:srgbClr val="14171A"/>
                </a:solidFill>
                <a:latin typeface="Calibri" pitchFamily="34" charset="0"/>
                <a:ea typeface="Calibri" pitchFamily="34" charset="-122"/>
                <a:cs typeface="Calibri" pitchFamily="34" charset="-120"/>
              </a:rPr>
              <a:t>Whether it arrived, and why not</a:t>
            </a:r>
            <a:endParaRPr lang="en-US" sz="1250" dirty="0"/>
          </a:p>
          <a:p>
            <a:pPr marL="342900" indent="-342900">
              <a:spcAft>
                <a:spcPts val="700"/>
              </a:spcAft>
              <a:buSzPct val="100000"/>
              <a:buChar char="•"/>
            </a:pPr>
            <a:r>
              <a:rPr lang="en-US" sz="1250" dirty="0">
                <a:solidFill>
                  <a:srgbClr val="14171A"/>
                </a:solidFill>
                <a:latin typeface="Calibri" pitchFamily="34" charset="0"/>
                <a:ea typeface="Calibri" pitchFamily="34" charset="-122"/>
                <a:cs typeface="Calibri" pitchFamily="34" charset="-120"/>
              </a:rPr>
              <a:t>A salted hash of the handle</a:t>
            </a:r>
            <a:endParaRPr lang="en-US" sz="1250" dirty="0"/>
          </a:p>
          <a:p>
            <a:pPr marL="342900" indent="-342900">
              <a:spcAft>
                <a:spcPts val="700"/>
              </a:spcAft>
              <a:buSzPct val="100000"/>
              <a:buChar char="•"/>
            </a:pPr>
            <a:r>
              <a:rPr lang="en-US" sz="1250" dirty="0">
                <a:solidFill>
                  <a:srgbClr val="14171A"/>
                </a:solidFill>
                <a:latin typeface="Calibri" pitchFamily="34" charset="0"/>
                <a:ea typeface="Calibri" pitchFamily="34" charset="-122"/>
                <a:cs typeface="Calibri" pitchFamily="34" charset="-120"/>
              </a:rPr>
              <a:t>How much of today’s quota is spent</a:t>
            </a:r>
            <a:endParaRPr lang="en-US" sz="1250" dirty="0"/>
          </a:p>
        </p:txBody>
      </p:sp>
      <p:sp>
        <p:nvSpPr>
          <p:cNvPr id="7" name="Shape 5"/>
          <p:cNvSpPr/>
          <p:nvPr/>
        </p:nvSpPr>
        <p:spPr>
          <a:xfrm>
            <a:off x="6217920" y="1810512"/>
            <a:ext cx="5166360" cy="2651760"/>
          </a:xfrm>
          <a:prstGeom prst="roundRect">
            <a:avLst>
              <a:gd name="adj" fmla="val 1724"/>
            </a:avLst>
          </a:prstGeom>
          <a:solidFill>
            <a:srgbClr val="FFFFFF"/>
          </a:solidFill>
          <a:ln w="19050">
            <a:solidFill>
              <a:srgbClr val="8A2F24"/>
            </a:solidFill>
            <a:prstDash val="solid"/>
          </a:ln>
        </p:spPr>
      </p:sp>
      <p:sp>
        <p:nvSpPr>
          <p:cNvPr id="8" name="Text 6"/>
          <p:cNvSpPr txBox="1"/>
          <p:nvPr/>
        </p:nvSpPr>
        <p:spPr>
          <a:xfrm>
            <a:off x="6464808" y="1975104"/>
            <a:ext cx="4663440" cy="310896"/>
          </a:xfrm>
          <a:prstGeom prst="rect">
            <a:avLst/>
          </a:prstGeom>
          <a:noFill/>
          <a:ln/>
        </p:spPr>
        <p:txBody>
          <a:bodyPr wrap="square" lIns="0" tIns="0" rIns="0" bIns="0" rtlCol="0" anchor="ctr"/>
          <a:lstStyle/>
          <a:p>
            <a:pPr indent="0" marL="0">
              <a:buNone/>
            </a:pPr>
            <a:r>
              <a:rPr lang="en-US" sz="1100" b="1" spc="120" kern="0" dirty="0">
                <a:solidFill>
                  <a:srgbClr val="8A2F24"/>
                </a:solidFill>
                <a:latin typeface="Courier New" pitchFamily="34" charset="0"/>
                <a:ea typeface="Courier New" pitchFamily="34" charset="-122"/>
                <a:cs typeface="Courier New" pitchFamily="34" charset="-120"/>
              </a:rPr>
              <a:t>WHAT IT CANNOT HOLD</a:t>
            </a:r>
            <a:endParaRPr lang="en-US" sz="1100" dirty="0"/>
          </a:p>
        </p:txBody>
      </p:sp>
      <p:sp>
        <p:nvSpPr>
          <p:cNvPr id="9" name="Text 7"/>
          <p:cNvSpPr txBox="1"/>
          <p:nvPr/>
        </p:nvSpPr>
        <p:spPr>
          <a:xfrm>
            <a:off x="6464808" y="2377440"/>
            <a:ext cx="4663440" cy="201168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14171A"/>
                </a:solidFill>
                <a:latin typeface="Calibri" pitchFamily="34" charset="0"/>
                <a:ea typeface="Calibri" pitchFamily="34" charset="-122"/>
                <a:cs typeface="Calibri" pitchFamily="34" charset="-120"/>
              </a:rPr>
              <a:t>The message</a:t>
            </a:r>
            <a:endParaRPr lang="en-US" sz="1250" dirty="0"/>
          </a:p>
          <a:p>
            <a:pPr marL="342900" indent="-342900">
              <a:spcAft>
                <a:spcPts val="700"/>
              </a:spcAft>
              <a:buSzPct val="100000"/>
              <a:buChar char="•"/>
            </a:pPr>
            <a:r>
              <a:rPr lang="en-US" sz="1250" dirty="0">
                <a:solidFill>
                  <a:srgbClr val="14171A"/>
                </a:solidFill>
                <a:latin typeface="Calibri" pitchFamily="34" charset="0"/>
                <a:ea typeface="Calibri" pitchFamily="34" charset="-122"/>
                <a:cs typeface="Calibri" pitchFamily="34" charset="-120"/>
              </a:rPr>
              <a:t>A raw phone number or address</a:t>
            </a:r>
            <a:endParaRPr lang="en-US" sz="1250" dirty="0"/>
          </a:p>
          <a:p>
            <a:pPr marL="342900" indent="-342900">
              <a:spcAft>
                <a:spcPts val="700"/>
              </a:spcAft>
              <a:buSzPct val="100000"/>
              <a:buChar char="•"/>
            </a:pPr>
            <a:r>
              <a:rPr lang="en-US" sz="1250" dirty="0">
                <a:solidFill>
                  <a:srgbClr val="14171A"/>
                </a:solidFill>
                <a:latin typeface="Calibri" pitchFamily="34" charset="0"/>
                <a:ea typeface="Calibri" pitchFamily="34" charset="-122"/>
                <a:cs typeface="Calibri" pitchFamily="34" charset="-120"/>
              </a:rPr>
              <a:t>A name</a:t>
            </a:r>
            <a:endParaRPr lang="en-US" sz="1250" dirty="0"/>
          </a:p>
          <a:p>
            <a:pPr marL="342900" indent="-342900">
              <a:spcAft>
                <a:spcPts val="700"/>
              </a:spcAft>
              <a:buSzPct val="100000"/>
              <a:buChar char="•"/>
            </a:pPr>
            <a:r>
              <a:rPr lang="en-US" sz="1250" dirty="0">
                <a:solidFill>
                  <a:srgbClr val="14171A"/>
                </a:solidFill>
                <a:latin typeface="Calibri" pitchFamily="34" charset="0"/>
                <a:ea typeface="Calibri" pitchFamily="34" charset="-122"/>
                <a:cs typeface="Calibri" pitchFamily="34" charset="-120"/>
              </a:rPr>
              <a:t>Anything about a body</a:t>
            </a:r>
            <a:endParaRPr lang="en-US" sz="1250" dirty="0"/>
          </a:p>
          <a:p>
            <a:pPr marL="342900" indent="-342900">
              <a:spcAft>
                <a:spcPts val="700"/>
              </a:spcAft>
              <a:buSzPct val="100000"/>
              <a:buChar char="•"/>
            </a:pPr>
            <a:r>
              <a:rPr lang="en-US" sz="1250" dirty="0">
                <a:solidFill>
                  <a:srgbClr val="14171A"/>
                </a:solidFill>
                <a:latin typeface="Calibri" pitchFamily="34" charset="0"/>
                <a:ea typeface="Calibri" pitchFamily="34" charset="-122"/>
                <a:cs typeface="Calibri" pitchFamily="34" charset="-120"/>
              </a:rPr>
              <a:t>A reason for turning a disclosure off</a:t>
            </a:r>
            <a:endParaRPr lang="en-US" sz="1250" dirty="0"/>
          </a:p>
        </p:txBody>
      </p:sp>
      <p:sp>
        <p:nvSpPr>
          <p:cNvPr id="10" name="Text 8"/>
          <p:cNvSpPr txBox="1"/>
          <p:nvPr/>
        </p:nvSpPr>
        <p:spPr>
          <a:xfrm>
            <a:off x="777240" y="4645152"/>
            <a:ext cx="10607040" cy="822960"/>
          </a:xfrm>
          <a:prstGeom prst="rect">
            <a:avLst/>
          </a:prstGeom>
          <a:noFill/>
          <a:ln/>
        </p:spPr>
        <p:txBody>
          <a:bodyPr wrap="square" lIns="0" tIns="0" rIns="0" bIns="0" rtlCol="0" anchor="ctr"/>
          <a:lstStyle/>
          <a:p>
            <a:pPr indent="0" marL="0">
              <a:buNone/>
            </a:pPr>
            <a:r>
              <a:rPr lang="en-US" sz="1350" dirty="0">
                <a:solidFill>
                  <a:srgbClr val="42474C"/>
                </a:solidFill>
                <a:latin typeface="Calibri" pitchFamily="34" charset="0"/>
                <a:ea typeface="Calibri" pitchFamily="34" charset="-122"/>
                <a:cs typeface="Calibri" pitchFamily="34" charset="-120"/>
              </a:rPr>
              <a:t>Six classes write to it. None can write a body, because there's no field for one. Five reports and one dashboard sit on top of it for the person on duty: who is waiting, what didn't arrive, who needs an interpreter.</a:t>
            </a:r>
            <a:endParaRPr lang="en-US" sz="1350" dirty="0"/>
          </a:p>
        </p:txBody>
      </p:sp>
      <p:sp>
        <p:nvSpPr>
          <p:cNvPr id="11" name="Text 9"/>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The ledger records delivery, never the message, so an employer can't use it to read a conversation.</a:t>
            </a:r>
            <a:endParaRPr lang="en-US" sz="1600" dirty="0"/>
          </a:p>
        </p:txBody>
      </p:sp>
      <p:sp>
        <p:nvSpPr>
          <p:cNvPr id="12" name="Text 10"/>
          <p:cNvSpPr txBox="1"/>
          <p:nvPr/>
        </p:nvSpPr>
        <p:spPr>
          <a:xfrm>
            <a:off x="777240" y="6419088"/>
            <a:ext cx="1069848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Message_Log__c   ·   9 fields, no body   ·   How_People_Reach_Us, Messages_That_Did_Not_Arrive, Who_Is_Waiting, Needs_An_Interpreter, Awaiting_A_Decision</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03  THE BUILD  |  GROUNDING</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Where the model is allowed to touch it.</a:t>
            </a:r>
            <a:endParaRPr lang="en-US" sz="3300" dirty="0"/>
          </a:p>
        </p:txBody>
      </p:sp>
      <p:sp>
        <p:nvSpPr>
          <p:cNvPr id="4" name="Shape 2"/>
          <p:cNvSpPr/>
          <p:nvPr/>
        </p:nvSpPr>
        <p:spPr>
          <a:xfrm>
            <a:off x="777240" y="1792224"/>
            <a:ext cx="502920" cy="621792"/>
          </a:xfrm>
          <a:prstGeom prst="rect">
            <a:avLst/>
          </a:prstGeom>
          <a:solidFill>
            <a:srgbClr val="14171A"/>
          </a:solidFill>
          <a:ln w="12700">
            <a:solidFill>
              <a:srgbClr val="14171A"/>
            </a:solidFill>
            <a:prstDash val="solid"/>
          </a:ln>
        </p:spPr>
      </p:sp>
      <p:sp>
        <p:nvSpPr>
          <p:cNvPr id="5" name="Text 3"/>
          <p:cNvSpPr txBox="1"/>
          <p:nvPr/>
        </p:nvSpPr>
        <p:spPr>
          <a:xfrm>
            <a:off x="777240" y="1975104"/>
            <a:ext cx="502920" cy="292608"/>
          </a:xfrm>
          <a:prstGeom prst="rect">
            <a:avLst/>
          </a:prstGeom>
          <a:noFill/>
          <a:ln/>
        </p:spPr>
        <p:txBody>
          <a:bodyPr wrap="square" lIns="0" tIns="0" rIns="0" bIns="0" rtlCol="0" anchor="ctr"/>
          <a:lstStyle/>
          <a:p>
            <a:pPr algn="ctr" indent="0" marL="0">
              <a:buNone/>
            </a:pPr>
            <a:r>
              <a:rPr lang="en-US" sz="1300" b="1" dirty="0">
                <a:solidFill>
                  <a:srgbClr val="F7F5EF"/>
                </a:solidFill>
                <a:latin typeface="Courier New" pitchFamily="34" charset="0"/>
                <a:ea typeface="Courier New" pitchFamily="34" charset="-122"/>
                <a:cs typeface="Courier New" pitchFamily="34" charset="-120"/>
              </a:rPr>
              <a:t>1</a:t>
            </a:r>
            <a:endParaRPr lang="en-US" sz="1300" dirty="0"/>
          </a:p>
        </p:txBody>
      </p:sp>
      <p:sp>
        <p:nvSpPr>
          <p:cNvPr id="6" name="Text 4"/>
          <p:cNvSpPr txBox="1"/>
          <p:nvPr/>
        </p:nvSpPr>
        <p:spPr>
          <a:xfrm>
            <a:off x="1417320" y="1984248"/>
            <a:ext cx="1371600" cy="292608"/>
          </a:xfrm>
          <a:prstGeom prst="rect">
            <a:avLst/>
          </a:prstGeom>
          <a:noFill/>
          <a:ln/>
        </p:spPr>
        <p:txBody>
          <a:bodyPr wrap="square" lIns="0" tIns="0" rIns="0" bIns="0" rtlCol="0" anchor="ctr"/>
          <a:lstStyle/>
          <a:p>
            <a:pPr indent="0" marL="0">
              <a:buNone/>
            </a:pPr>
            <a:r>
              <a:rPr lang="en-US" sz="1050" b="1" spc="110" kern="0" dirty="0">
                <a:solidFill>
                  <a:srgbClr val="656B71"/>
                </a:solidFill>
                <a:latin typeface="Courier New" pitchFamily="34" charset="0"/>
                <a:ea typeface="Courier New" pitchFamily="34" charset="-122"/>
                <a:cs typeface="Courier New" pitchFamily="34" charset="-120"/>
              </a:rPr>
              <a:t>SENTENCE</a:t>
            </a:r>
            <a:endParaRPr lang="en-US" sz="1050" dirty="0"/>
          </a:p>
        </p:txBody>
      </p:sp>
      <p:sp>
        <p:nvSpPr>
          <p:cNvPr id="7" name="Shape 5"/>
          <p:cNvSpPr/>
          <p:nvPr/>
        </p:nvSpPr>
        <p:spPr>
          <a:xfrm>
            <a:off x="2880360" y="1792224"/>
            <a:ext cx="8503920" cy="621792"/>
          </a:xfrm>
          <a:prstGeom prst="rect">
            <a:avLst/>
          </a:prstGeom>
          <a:solidFill>
            <a:srgbClr val="FFFFFF"/>
          </a:solidFill>
          <a:ln w="15875">
            <a:solidFill>
              <a:srgbClr val="D3CEC0"/>
            </a:solidFill>
            <a:prstDash val="solid"/>
          </a:ln>
        </p:spPr>
      </p:sp>
      <p:sp>
        <p:nvSpPr>
          <p:cNvPr id="8" name="Text 6"/>
          <p:cNvSpPr txBox="1"/>
          <p:nvPr/>
        </p:nvSpPr>
        <p:spPr>
          <a:xfrm>
            <a:off x="3090672" y="1975104"/>
            <a:ext cx="8138160" cy="365760"/>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"I get migraines from the office lighting." Stored as written, after a condition strip.</a:t>
            </a:r>
            <a:endParaRPr lang="en-US" sz="1200" dirty="0"/>
          </a:p>
        </p:txBody>
      </p:sp>
      <p:sp>
        <p:nvSpPr>
          <p:cNvPr id="9" name="Shape 7"/>
          <p:cNvSpPr/>
          <p:nvPr/>
        </p:nvSpPr>
        <p:spPr>
          <a:xfrm>
            <a:off x="1024128" y="2414016"/>
            <a:ext cx="0" cy="155448"/>
          </a:xfrm>
          <a:prstGeom prst="line">
            <a:avLst/>
          </a:prstGeom>
          <a:noFill/>
          <a:ln w="17780">
            <a:solidFill>
              <a:srgbClr val="42474C"/>
            </a:solidFill>
            <a:prstDash val="solid"/>
            <a:tailEnd type="triangle"/>
          </a:ln>
        </p:spPr>
      </p:sp>
      <p:sp>
        <p:nvSpPr>
          <p:cNvPr id="10" name="Shape 8"/>
          <p:cNvSpPr/>
          <p:nvPr/>
        </p:nvSpPr>
        <p:spPr>
          <a:xfrm>
            <a:off x="777240" y="2569464"/>
            <a:ext cx="502920" cy="621792"/>
          </a:xfrm>
          <a:prstGeom prst="rect">
            <a:avLst/>
          </a:prstGeom>
          <a:solidFill>
            <a:srgbClr val="14171A"/>
          </a:solidFill>
          <a:ln w="12700">
            <a:solidFill>
              <a:srgbClr val="14171A"/>
            </a:solidFill>
            <a:prstDash val="solid"/>
          </a:ln>
        </p:spPr>
      </p:sp>
      <p:sp>
        <p:nvSpPr>
          <p:cNvPr id="11" name="Text 9"/>
          <p:cNvSpPr txBox="1"/>
          <p:nvPr/>
        </p:nvSpPr>
        <p:spPr>
          <a:xfrm>
            <a:off x="777240" y="2752344"/>
            <a:ext cx="502920" cy="292608"/>
          </a:xfrm>
          <a:prstGeom prst="rect">
            <a:avLst/>
          </a:prstGeom>
          <a:noFill/>
          <a:ln/>
        </p:spPr>
        <p:txBody>
          <a:bodyPr wrap="square" lIns="0" tIns="0" rIns="0" bIns="0" rtlCol="0" anchor="ctr"/>
          <a:lstStyle/>
          <a:p>
            <a:pPr algn="ctr" indent="0" marL="0">
              <a:buNone/>
            </a:pPr>
            <a:r>
              <a:rPr lang="en-US" sz="1300" b="1" dirty="0">
                <a:solidFill>
                  <a:srgbClr val="F7F5EF"/>
                </a:solidFill>
                <a:latin typeface="Courier New" pitchFamily="34" charset="0"/>
                <a:ea typeface="Courier New" pitchFamily="34" charset="-122"/>
                <a:cs typeface="Courier New" pitchFamily="34" charset="-120"/>
              </a:rPr>
              <a:t>2</a:t>
            </a:r>
            <a:endParaRPr lang="en-US" sz="1300" dirty="0"/>
          </a:p>
        </p:txBody>
      </p:sp>
      <p:sp>
        <p:nvSpPr>
          <p:cNvPr id="12" name="Text 10"/>
          <p:cNvSpPr txBox="1"/>
          <p:nvPr/>
        </p:nvSpPr>
        <p:spPr>
          <a:xfrm>
            <a:off x="1417320" y="2761488"/>
            <a:ext cx="1371600" cy="292608"/>
          </a:xfrm>
          <a:prstGeom prst="rect">
            <a:avLst/>
          </a:prstGeom>
          <a:noFill/>
          <a:ln/>
        </p:spPr>
        <p:txBody>
          <a:bodyPr wrap="square" lIns="0" tIns="0" rIns="0" bIns="0" rtlCol="0" anchor="ctr"/>
          <a:lstStyle/>
          <a:p>
            <a:pPr indent="0" marL="0">
              <a:buNone/>
            </a:pPr>
            <a:r>
              <a:rPr lang="en-US" sz="1050" b="1" spc="110" kern="0" dirty="0">
                <a:solidFill>
                  <a:srgbClr val="656B71"/>
                </a:solidFill>
                <a:latin typeface="Courier New" pitchFamily="34" charset="0"/>
                <a:ea typeface="Courier New" pitchFamily="34" charset="-122"/>
                <a:cs typeface="Courier New" pitchFamily="34" charset="-120"/>
              </a:rPr>
              <a:t>TOKENS</a:t>
            </a:r>
            <a:endParaRPr lang="en-US" sz="1050" dirty="0"/>
          </a:p>
        </p:txBody>
      </p:sp>
      <p:sp>
        <p:nvSpPr>
          <p:cNvPr id="13" name="Shape 11"/>
          <p:cNvSpPr/>
          <p:nvPr/>
        </p:nvSpPr>
        <p:spPr>
          <a:xfrm>
            <a:off x="2880360" y="2569464"/>
            <a:ext cx="8503920" cy="621792"/>
          </a:xfrm>
          <a:prstGeom prst="rect">
            <a:avLst/>
          </a:prstGeom>
          <a:solidFill>
            <a:srgbClr val="FFFFFF"/>
          </a:solidFill>
          <a:ln w="15875">
            <a:solidFill>
              <a:srgbClr val="D3CEC0"/>
            </a:solidFill>
            <a:prstDash val="solid"/>
          </a:ln>
        </p:spPr>
      </p:sp>
      <p:sp>
        <p:nvSpPr>
          <p:cNvPr id="14" name="Text 12"/>
          <p:cNvSpPr txBox="1"/>
          <p:nvPr/>
        </p:nvSpPr>
        <p:spPr>
          <a:xfrm>
            <a:off x="3090672" y="2752344"/>
            <a:ext cx="8138160" cy="365760"/>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Lowercased, whole words only. contains() once matched long inside alongside.</a:t>
            </a:r>
            <a:endParaRPr lang="en-US" sz="1200" dirty="0"/>
          </a:p>
        </p:txBody>
      </p:sp>
      <p:sp>
        <p:nvSpPr>
          <p:cNvPr id="15" name="Shape 13"/>
          <p:cNvSpPr/>
          <p:nvPr/>
        </p:nvSpPr>
        <p:spPr>
          <a:xfrm>
            <a:off x="1024128" y="3191256"/>
            <a:ext cx="0" cy="155448"/>
          </a:xfrm>
          <a:prstGeom prst="line">
            <a:avLst/>
          </a:prstGeom>
          <a:noFill/>
          <a:ln w="17780">
            <a:solidFill>
              <a:srgbClr val="42474C"/>
            </a:solidFill>
            <a:prstDash val="solid"/>
            <a:tailEnd type="triangle"/>
          </a:ln>
        </p:spPr>
      </p:sp>
      <p:sp>
        <p:nvSpPr>
          <p:cNvPr id="16" name="Shape 14"/>
          <p:cNvSpPr/>
          <p:nvPr/>
        </p:nvSpPr>
        <p:spPr>
          <a:xfrm>
            <a:off x="777240" y="3346704"/>
            <a:ext cx="502920" cy="621792"/>
          </a:xfrm>
          <a:prstGeom prst="rect">
            <a:avLst/>
          </a:prstGeom>
          <a:solidFill>
            <a:srgbClr val="14171A"/>
          </a:solidFill>
          <a:ln w="12700">
            <a:solidFill>
              <a:srgbClr val="14171A"/>
            </a:solidFill>
            <a:prstDash val="solid"/>
          </a:ln>
        </p:spPr>
      </p:sp>
      <p:sp>
        <p:nvSpPr>
          <p:cNvPr id="17" name="Text 15"/>
          <p:cNvSpPr txBox="1"/>
          <p:nvPr/>
        </p:nvSpPr>
        <p:spPr>
          <a:xfrm>
            <a:off x="777240" y="3529584"/>
            <a:ext cx="502920" cy="292608"/>
          </a:xfrm>
          <a:prstGeom prst="rect">
            <a:avLst/>
          </a:prstGeom>
          <a:noFill/>
          <a:ln/>
        </p:spPr>
        <p:txBody>
          <a:bodyPr wrap="square" lIns="0" tIns="0" rIns="0" bIns="0" rtlCol="0" anchor="ctr"/>
          <a:lstStyle/>
          <a:p>
            <a:pPr algn="ctr" indent="0" marL="0">
              <a:buNone/>
            </a:pPr>
            <a:r>
              <a:rPr lang="en-US" sz="1300" b="1" dirty="0">
                <a:solidFill>
                  <a:srgbClr val="F7F5EF"/>
                </a:solidFill>
                <a:latin typeface="Courier New" pitchFamily="34" charset="0"/>
                <a:ea typeface="Courier New" pitchFamily="34" charset="-122"/>
                <a:cs typeface="Courier New" pitchFamily="34" charset="-120"/>
              </a:rPr>
              <a:t>3</a:t>
            </a:r>
            <a:endParaRPr lang="en-US" sz="1300" dirty="0"/>
          </a:p>
        </p:txBody>
      </p:sp>
      <p:sp>
        <p:nvSpPr>
          <p:cNvPr id="18" name="Text 16"/>
          <p:cNvSpPr txBox="1"/>
          <p:nvPr/>
        </p:nvSpPr>
        <p:spPr>
          <a:xfrm>
            <a:off x="1417320" y="3538728"/>
            <a:ext cx="1371600" cy="292608"/>
          </a:xfrm>
          <a:prstGeom prst="rect">
            <a:avLst/>
          </a:prstGeom>
          <a:noFill/>
          <a:ln/>
        </p:spPr>
        <p:txBody>
          <a:bodyPr wrap="square" lIns="0" tIns="0" rIns="0" bIns="0" rtlCol="0" anchor="ctr"/>
          <a:lstStyle/>
          <a:p>
            <a:pPr indent="0" marL="0">
              <a:buNone/>
            </a:pPr>
            <a:r>
              <a:rPr lang="en-US" sz="1050" b="1" spc="110" kern="0" dirty="0">
                <a:solidFill>
                  <a:srgbClr val="656B71"/>
                </a:solidFill>
                <a:latin typeface="Courier New" pitchFamily="34" charset="0"/>
                <a:ea typeface="Courier New" pitchFamily="34" charset="-122"/>
                <a:cs typeface="Courier New" pitchFamily="34" charset="-120"/>
              </a:rPr>
              <a:t>RANK</a:t>
            </a:r>
            <a:endParaRPr lang="en-US" sz="1050" dirty="0"/>
          </a:p>
        </p:txBody>
      </p:sp>
      <p:sp>
        <p:nvSpPr>
          <p:cNvPr id="19" name="Shape 17"/>
          <p:cNvSpPr/>
          <p:nvPr/>
        </p:nvSpPr>
        <p:spPr>
          <a:xfrm>
            <a:off x="2880360" y="3346704"/>
            <a:ext cx="8503920" cy="621792"/>
          </a:xfrm>
          <a:prstGeom prst="rect">
            <a:avLst/>
          </a:prstGeom>
          <a:solidFill>
            <a:srgbClr val="FFFFFF"/>
          </a:solidFill>
          <a:ln w="15875">
            <a:solidFill>
              <a:srgbClr val="D3CEC0"/>
            </a:solidFill>
            <a:prstDash val="solid"/>
          </a:ln>
        </p:spPr>
      </p:sp>
      <p:sp>
        <p:nvSpPr>
          <p:cNvPr id="20" name="Text 18"/>
          <p:cNvSpPr txBox="1"/>
          <p:nvPr/>
        </p:nvSpPr>
        <p:spPr>
          <a:xfrm>
            <a:off x="3090672" y="3529584"/>
            <a:ext cx="8138160" cy="365760"/>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Weighted by how much a word DISTINGUISHES, not whether it appears. A word in a quarter of rows scores nothing.</a:t>
            </a:r>
            <a:endParaRPr lang="en-US" sz="1200" dirty="0"/>
          </a:p>
        </p:txBody>
      </p:sp>
      <p:sp>
        <p:nvSpPr>
          <p:cNvPr id="21" name="Shape 19"/>
          <p:cNvSpPr/>
          <p:nvPr/>
        </p:nvSpPr>
        <p:spPr>
          <a:xfrm>
            <a:off x="1024128" y="3968496"/>
            <a:ext cx="0" cy="155448"/>
          </a:xfrm>
          <a:prstGeom prst="line">
            <a:avLst/>
          </a:prstGeom>
          <a:noFill/>
          <a:ln w="17780">
            <a:solidFill>
              <a:srgbClr val="42474C"/>
            </a:solidFill>
            <a:prstDash val="solid"/>
            <a:tailEnd type="triangle"/>
          </a:ln>
        </p:spPr>
      </p:sp>
      <p:sp>
        <p:nvSpPr>
          <p:cNvPr id="22" name="Shape 20"/>
          <p:cNvSpPr/>
          <p:nvPr/>
        </p:nvSpPr>
        <p:spPr>
          <a:xfrm>
            <a:off x="777240" y="4123944"/>
            <a:ext cx="502920" cy="621792"/>
          </a:xfrm>
          <a:prstGeom prst="rect">
            <a:avLst/>
          </a:prstGeom>
          <a:solidFill>
            <a:srgbClr val="14171A"/>
          </a:solidFill>
          <a:ln w="12700">
            <a:solidFill>
              <a:srgbClr val="14171A"/>
            </a:solidFill>
            <a:prstDash val="solid"/>
          </a:ln>
        </p:spPr>
      </p:sp>
      <p:sp>
        <p:nvSpPr>
          <p:cNvPr id="23" name="Text 21"/>
          <p:cNvSpPr txBox="1"/>
          <p:nvPr/>
        </p:nvSpPr>
        <p:spPr>
          <a:xfrm>
            <a:off x="777240" y="4306824"/>
            <a:ext cx="502920" cy="292608"/>
          </a:xfrm>
          <a:prstGeom prst="rect">
            <a:avLst/>
          </a:prstGeom>
          <a:noFill/>
          <a:ln/>
        </p:spPr>
        <p:txBody>
          <a:bodyPr wrap="square" lIns="0" tIns="0" rIns="0" bIns="0" rtlCol="0" anchor="ctr"/>
          <a:lstStyle/>
          <a:p>
            <a:pPr algn="ctr" indent="0" marL="0">
              <a:buNone/>
            </a:pPr>
            <a:r>
              <a:rPr lang="en-US" sz="1300" b="1" dirty="0">
                <a:solidFill>
                  <a:srgbClr val="F7F5EF"/>
                </a:solidFill>
                <a:latin typeface="Courier New" pitchFamily="34" charset="0"/>
                <a:ea typeface="Courier New" pitchFamily="34" charset="-122"/>
                <a:cs typeface="Courier New" pitchFamily="34" charset="-120"/>
              </a:rPr>
              <a:t>4</a:t>
            </a:r>
            <a:endParaRPr lang="en-US" sz="1300" dirty="0"/>
          </a:p>
        </p:txBody>
      </p:sp>
      <p:sp>
        <p:nvSpPr>
          <p:cNvPr id="24" name="Text 22"/>
          <p:cNvSpPr txBox="1"/>
          <p:nvPr/>
        </p:nvSpPr>
        <p:spPr>
          <a:xfrm>
            <a:off x="1417320" y="4315968"/>
            <a:ext cx="1371600" cy="292608"/>
          </a:xfrm>
          <a:prstGeom prst="rect">
            <a:avLst/>
          </a:prstGeom>
          <a:noFill/>
          <a:ln/>
        </p:spPr>
        <p:txBody>
          <a:bodyPr wrap="square" lIns="0" tIns="0" rIns="0" bIns="0" rtlCol="0" anchor="ctr"/>
          <a:lstStyle/>
          <a:p>
            <a:pPr indent="0" marL="0">
              <a:buNone/>
            </a:pPr>
            <a:r>
              <a:rPr lang="en-US" sz="1050" b="1" spc="110" kern="0" dirty="0">
                <a:solidFill>
                  <a:srgbClr val="656B71"/>
                </a:solidFill>
                <a:latin typeface="Courier New" pitchFamily="34" charset="0"/>
                <a:ea typeface="Courier New" pitchFamily="34" charset="-122"/>
                <a:cs typeface="Courier New" pitchFamily="34" charset="-120"/>
              </a:rPr>
              <a:t>SOQL</a:t>
            </a:r>
            <a:endParaRPr lang="en-US" sz="1050" dirty="0"/>
          </a:p>
        </p:txBody>
      </p:sp>
      <p:sp>
        <p:nvSpPr>
          <p:cNvPr id="25" name="Shape 23"/>
          <p:cNvSpPr/>
          <p:nvPr/>
        </p:nvSpPr>
        <p:spPr>
          <a:xfrm>
            <a:off x="2880360" y="4123944"/>
            <a:ext cx="8503920" cy="621792"/>
          </a:xfrm>
          <a:prstGeom prst="rect">
            <a:avLst/>
          </a:prstGeom>
          <a:solidFill>
            <a:srgbClr val="FFFFFF"/>
          </a:solidFill>
          <a:ln w="15875">
            <a:solidFill>
              <a:srgbClr val="D3CEC0"/>
            </a:solidFill>
            <a:prstDash val="solid"/>
          </a:ln>
        </p:spPr>
      </p:sp>
      <p:sp>
        <p:nvSpPr>
          <p:cNvPr id="26" name="Text 24"/>
          <p:cNvSpPr txBox="1"/>
          <p:nvPr/>
        </p:nvSpPr>
        <p:spPr>
          <a:xfrm>
            <a:off x="3090672" y="4306824"/>
            <a:ext cx="8138160" cy="365760"/>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28 rows. Every one carries a source URL. No embeddings, no index, no vector store.</a:t>
            </a:r>
            <a:endParaRPr lang="en-US" sz="1200" dirty="0"/>
          </a:p>
        </p:txBody>
      </p:sp>
      <p:sp>
        <p:nvSpPr>
          <p:cNvPr id="27" name="Shape 25"/>
          <p:cNvSpPr/>
          <p:nvPr/>
        </p:nvSpPr>
        <p:spPr>
          <a:xfrm>
            <a:off x="1024128" y="4745736"/>
            <a:ext cx="0" cy="155448"/>
          </a:xfrm>
          <a:prstGeom prst="line">
            <a:avLst/>
          </a:prstGeom>
          <a:noFill/>
          <a:ln w="17780">
            <a:solidFill>
              <a:srgbClr val="42474C"/>
            </a:solidFill>
            <a:prstDash val="solid"/>
            <a:tailEnd type="triangle"/>
          </a:ln>
        </p:spPr>
      </p:sp>
      <p:sp>
        <p:nvSpPr>
          <p:cNvPr id="28" name="Shape 26"/>
          <p:cNvSpPr/>
          <p:nvPr/>
        </p:nvSpPr>
        <p:spPr>
          <a:xfrm>
            <a:off x="777240" y="4901184"/>
            <a:ext cx="502920" cy="621792"/>
          </a:xfrm>
          <a:prstGeom prst="rect">
            <a:avLst/>
          </a:prstGeom>
          <a:solidFill>
            <a:srgbClr val="C9A227"/>
          </a:solidFill>
          <a:ln w="12700">
            <a:solidFill>
              <a:srgbClr val="C9A227"/>
            </a:solidFill>
            <a:prstDash val="solid"/>
          </a:ln>
        </p:spPr>
      </p:sp>
      <p:sp>
        <p:nvSpPr>
          <p:cNvPr id="29" name="Text 27"/>
          <p:cNvSpPr txBox="1"/>
          <p:nvPr/>
        </p:nvSpPr>
        <p:spPr>
          <a:xfrm>
            <a:off x="777240" y="5084064"/>
            <a:ext cx="502920" cy="292608"/>
          </a:xfrm>
          <a:prstGeom prst="rect">
            <a:avLst/>
          </a:prstGeom>
          <a:noFill/>
          <a:ln/>
        </p:spPr>
        <p:txBody>
          <a:bodyPr wrap="square" lIns="0" tIns="0" rIns="0" bIns="0" rtlCol="0" anchor="ctr"/>
          <a:lstStyle/>
          <a:p>
            <a:pPr algn="ctr" indent="0" marL="0">
              <a:buNone/>
            </a:pPr>
            <a:r>
              <a:rPr lang="en-US" sz="1300" b="1" dirty="0">
                <a:solidFill>
                  <a:srgbClr val="14171A"/>
                </a:solidFill>
                <a:latin typeface="Courier New" pitchFamily="34" charset="0"/>
                <a:ea typeface="Courier New" pitchFamily="34" charset="-122"/>
                <a:cs typeface="Courier New" pitchFamily="34" charset="-120"/>
              </a:rPr>
              <a:t>5</a:t>
            </a:r>
            <a:endParaRPr lang="en-US" sz="1300" dirty="0"/>
          </a:p>
        </p:txBody>
      </p:sp>
      <p:sp>
        <p:nvSpPr>
          <p:cNvPr id="30" name="Text 28"/>
          <p:cNvSpPr txBox="1"/>
          <p:nvPr/>
        </p:nvSpPr>
        <p:spPr>
          <a:xfrm>
            <a:off x="1417320" y="5093208"/>
            <a:ext cx="1371600" cy="292608"/>
          </a:xfrm>
          <a:prstGeom prst="rect">
            <a:avLst/>
          </a:prstGeom>
          <a:noFill/>
          <a:ln/>
        </p:spPr>
        <p:txBody>
          <a:bodyPr wrap="square" lIns="0" tIns="0" rIns="0" bIns="0" rtlCol="0" anchor="ctr"/>
          <a:lstStyle/>
          <a:p>
            <a:pPr indent="0" marL="0">
              <a:buNone/>
            </a:pPr>
            <a:r>
              <a:rPr lang="en-US" sz="1050" b="1" spc="110" kern="0" dirty="0">
                <a:solidFill>
                  <a:srgbClr val="9A6608"/>
                </a:solidFill>
                <a:latin typeface="Courier New" pitchFamily="34" charset="0"/>
                <a:ea typeface="Courier New" pitchFamily="34" charset="-122"/>
                <a:cs typeface="Courier New" pitchFamily="34" charset="-120"/>
              </a:rPr>
              <a:t>PHRASE</a:t>
            </a:r>
            <a:endParaRPr lang="en-US" sz="1050" dirty="0"/>
          </a:p>
        </p:txBody>
      </p:sp>
      <p:sp>
        <p:nvSpPr>
          <p:cNvPr id="31" name="Shape 29"/>
          <p:cNvSpPr/>
          <p:nvPr/>
        </p:nvSpPr>
        <p:spPr>
          <a:xfrm>
            <a:off x="2880360" y="4901184"/>
            <a:ext cx="8503920" cy="621792"/>
          </a:xfrm>
          <a:prstGeom prst="rect">
            <a:avLst/>
          </a:prstGeom>
          <a:solidFill>
            <a:srgbClr val="FFFFFF"/>
          </a:solidFill>
          <a:ln w="15875">
            <a:solidFill>
              <a:srgbClr val="D3CEC0"/>
            </a:solidFill>
            <a:prstDash val="solid"/>
          </a:ln>
        </p:spPr>
      </p:sp>
      <p:sp>
        <p:nvSpPr>
          <p:cNvPr id="32" name="Text 30"/>
          <p:cNvSpPr txBox="1"/>
          <p:nvPr/>
        </p:nvSpPr>
        <p:spPr>
          <a:xfrm>
            <a:off x="3090672" y="5084064"/>
            <a:ext cx="8138160" cy="365760"/>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The model may word the reply. It may not add a row, a cost, or a precedent.</a:t>
            </a:r>
            <a:endParaRPr lang="en-US" sz="1200" dirty="0"/>
          </a:p>
        </p:txBody>
      </p:sp>
      <p:sp>
        <p:nvSpPr>
          <p:cNvPr id="33" name="Text 31"/>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Steps one to four are Apex. The model only phrases the reply.</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03  THE BUILD  |  CHANNEL SWIM LANES</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The same contract, whichever door she comes through.</a:t>
            </a:r>
            <a:endParaRPr lang="en-US" sz="3300" dirty="0"/>
          </a:p>
        </p:txBody>
      </p:sp>
      <p:sp>
        <p:nvSpPr>
          <p:cNvPr id="4" name="Text 2"/>
          <p:cNvSpPr txBox="1"/>
          <p:nvPr/>
        </p:nvSpPr>
        <p:spPr>
          <a:xfrm>
            <a:off x="2880360" y="1691640"/>
            <a:ext cx="1737360" cy="274320"/>
          </a:xfrm>
          <a:prstGeom prst="rect">
            <a:avLst/>
          </a:prstGeom>
          <a:noFill/>
          <a:ln/>
        </p:spPr>
        <p:txBody>
          <a:bodyPr wrap="square" lIns="0" tIns="0" rIns="0" bIns="0" rtlCol="0" anchor="ctr"/>
          <a:lstStyle/>
          <a:p>
            <a:pPr indent="0" marL="0">
              <a:buNone/>
            </a:pPr>
            <a:r>
              <a:rPr lang="en-US" sz="1050" b="1" dirty="0">
                <a:solidFill>
                  <a:srgbClr val="14171A"/>
                </a:solidFill>
                <a:latin typeface="Calibri" pitchFamily="34" charset="0"/>
                <a:ea typeface="Calibri" pitchFamily="34" charset="-122"/>
                <a:cs typeface="Calibri" pitchFamily="34" charset="-120"/>
              </a:rPr>
              <a:t>Control word</a:t>
            </a:r>
            <a:endParaRPr lang="en-US" sz="1050" dirty="0"/>
          </a:p>
        </p:txBody>
      </p:sp>
      <p:sp>
        <p:nvSpPr>
          <p:cNvPr id="5" name="Text 3"/>
          <p:cNvSpPr txBox="1"/>
          <p:nvPr/>
        </p:nvSpPr>
        <p:spPr>
          <a:xfrm>
            <a:off x="2880360" y="1938528"/>
            <a:ext cx="173736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resolved in Apex</a:t>
            </a:r>
            <a:endParaRPr lang="en-US" sz="850" dirty="0"/>
          </a:p>
        </p:txBody>
      </p:sp>
      <p:sp>
        <p:nvSpPr>
          <p:cNvPr id="6" name="Text 4"/>
          <p:cNvSpPr txBox="1"/>
          <p:nvPr/>
        </p:nvSpPr>
        <p:spPr>
          <a:xfrm>
            <a:off x="4690872" y="1691640"/>
            <a:ext cx="1737360" cy="274320"/>
          </a:xfrm>
          <a:prstGeom prst="rect">
            <a:avLst/>
          </a:prstGeom>
          <a:noFill/>
          <a:ln/>
        </p:spPr>
        <p:txBody>
          <a:bodyPr wrap="square" lIns="0" tIns="0" rIns="0" bIns="0" rtlCol="0" anchor="ctr"/>
          <a:lstStyle/>
          <a:p>
            <a:pPr indent="0" marL="0">
              <a:buNone/>
            </a:pPr>
            <a:r>
              <a:rPr lang="en-US" sz="1050" b="1" dirty="0">
                <a:solidFill>
                  <a:srgbClr val="14171A"/>
                </a:solidFill>
                <a:latin typeface="Calibri" pitchFamily="34" charset="0"/>
                <a:ea typeface="Calibri" pitchFamily="34" charset="-122"/>
                <a:cs typeface="Calibri" pitchFamily="34" charset="-120"/>
              </a:rPr>
              <a:t>Grounded options</a:t>
            </a:r>
            <a:endParaRPr lang="en-US" sz="1050" dirty="0"/>
          </a:p>
        </p:txBody>
      </p:sp>
      <p:sp>
        <p:nvSpPr>
          <p:cNvPr id="7" name="Text 5"/>
          <p:cNvSpPr txBox="1"/>
          <p:nvPr/>
        </p:nvSpPr>
        <p:spPr>
          <a:xfrm>
            <a:off x="4690872" y="1938528"/>
            <a:ext cx="173736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from 28 sourced rows</a:t>
            </a:r>
            <a:endParaRPr lang="en-US" sz="850" dirty="0"/>
          </a:p>
        </p:txBody>
      </p:sp>
      <p:sp>
        <p:nvSpPr>
          <p:cNvPr id="8" name="Text 6"/>
          <p:cNvSpPr txBox="1"/>
          <p:nvPr/>
        </p:nvSpPr>
        <p:spPr>
          <a:xfrm>
            <a:off x="6501384" y="1691640"/>
            <a:ext cx="1737360" cy="274320"/>
          </a:xfrm>
          <a:prstGeom prst="rect">
            <a:avLst/>
          </a:prstGeom>
          <a:noFill/>
          <a:ln/>
        </p:spPr>
        <p:txBody>
          <a:bodyPr wrap="square" lIns="0" tIns="0" rIns="0" bIns="0" rtlCol="0" anchor="ctr"/>
          <a:lstStyle/>
          <a:p>
            <a:pPr indent="0" marL="0">
              <a:buNone/>
            </a:pPr>
            <a:r>
              <a:rPr lang="en-US" sz="1050" b="1" dirty="0">
                <a:solidFill>
                  <a:srgbClr val="14171A"/>
                </a:solidFill>
                <a:latin typeface="Calibri" pitchFamily="34" charset="0"/>
                <a:ea typeface="Calibri" pitchFamily="34" charset="-122"/>
                <a:cs typeface="Calibri" pitchFamily="34" charset="-120"/>
              </a:rPr>
              <a:t>Draft a request</a:t>
            </a:r>
            <a:endParaRPr lang="en-US" sz="1050" dirty="0"/>
          </a:p>
        </p:txBody>
      </p:sp>
      <p:sp>
        <p:nvSpPr>
          <p:cNvPr id="9" name="Text 7"/>
          <p:cNvSpPr txBox="1"/>
          <p:nvPr/>
        </p:nvSpPr>
        <p:spPr>
          <a:xfrm>
            <a:off x="6501384" y="1938528"/>
            <a:ext cx="173736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in her own words</a:t>
            </a:r>
            <a:endParaRPr lang="en-US" sz="850" dirty="0"/>
          </a:p>
        </p:txBody>
      </p:sp>
      <p:sp>
        <p:nvSpPr>
          <p:cNvPr id="10" name="Text 8"/>
          <p:cNvSpPr txBox="1"/>
          <p:nvPr/>
        </p:nvSpPr>
        <p:spPr>
          <a:xfrm>
            <a:off x="8311896" y="1691640"/>
            <a:ext cx="1737360" cy="274320"/>
          </a:xfrm>
          <a:prstGeom prst="rect">
            <a:avLst/>
          </a:prstGeom>
          <a:noFill/>
          <a:ln/>
        </p:spPr>
        <p:txBody>
          <a:bodyPr wrap="square" lIns="0" tIns="0" rIns="0" bIns="0" rtlCol="0" anchor="ctr"/>
          <a:lstStyle/>
          <a:p>
            <a:pPr indent="0" marL="0">
              <a:buNone/>
            </a:pPr>
            <a:r>
              <a:rPr lang="en-US" sz="1050" b="1" dirty="0">
                <a:solidFill>
                  <a:srgbClr val="14171A"/>
                </a:solidFill>
                <a:latin typeface="Calibri" pitchFamily="34" charset="0"/>
                <a:ea typeface="Calibri" pitchFamily="34" charset="-122"/>
                <a:cs typeface="Calibri" pitchFamily="34" charset="-120"/>
              </a:rPr>
              <a:t>Send it</a:t>
            </a:r>
            <a:endParaRPr lang="en-US" sz="1050" dirty="0"/>
          </a:p>
        </p:txBody>
      </p:sp>
      <p:sp>
        <p:nvSpPr>
          <p:cNvPr id="11" name="Text 9"/>
          <p:cNvSpPr txBox="1"/>
          <p:nvPr/>
        </p:nvSpPr>
        <p:spPr>
          <a:xfrm>
            <a:off x="8311896" y="1938528"/>
            <a:ext cx="173736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only on a clear yes</a:t>
            </a:r>
            <a:endParaRPr lang="en-US" sz="850" dirty="0"/>
          </a:p>
        </p:txBody>
      </p:sp>
      <p:sp>
        <p:nvSpPr>
          <p:cNvPr id="12" name="Text 10"/>
          <p:cNvSpPr txBox="1"/>
          <p:nvPr/>
        </p:nvSpPr>
        <p:spPr>
          <a:xfrm>
            <a:off x="10122408" y="1691640"/>
            <a:ext cx="1737360" cy="274320"/>
          </a:xfrm>
          <a:prstGeom prst="rect">
            <a:avLst/>
          </a:prstGeom>
          <a:noFill/>
          <a:ln/>
        </p:spPr>
        <p:txBody>
          <a:bodyPr wrap="square" lIns="0" tIns="0" rIns="0" bIns="0" rtlCol="0" anchor="ctr"/>
          <a:lstStyle/>
          <a:p>
            <a:pPr indent="0" marL="0">
              <a:buNone/>
            </a:pPr>
            <a:r>
              <a:rPr lang="en-US" sz="1050" b="1" dirty="0">
                <a:solidFill>
                  <a:srgbClr val="14171A"/>
                </a:solidFill>
                <a:latin typeface="Calibri" pitchFamily="34" charset="0"/>
                <a:ea typeface="Calibri" pitchFamily="34" charset="-122"/>
                <a:cs typeface="Calibri" pitchFamily="34" charset="-120"/>
              </a:rPr>
              <a:t>Photo or signed video</a:t>
            </a:r>
            <a:endParaRPr lang="en-US" sz="1050" dirty="0"/>
          </a:p>
        </p:txBody>
      </p:sp>
      <p:sp>
        <p:nvSpPr>
          <p:cNvPr id="13" name="Text 11"/>
          <p:cNvSpPr txBox="1"/>
          <p:nvPr/>
        </p:nvSpPr>
        <p:spPr>
          <a:xfrm>
            <a:off x="10122408" y="1938528"/>
            <a:ext cx="173736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to a human interpreter</a:t>
            </a:r>
            <a:endParaRPr lang="en-US" sz="850" dirty="0"/>
          </a:p>
        </p:txBody>
      </p:sp>
      <p:sp>
        <p:nvSpPr>
          <p:cNvPr id="14" name="Shape 12"/>
          <p:cNvSpPr/>
          <p:nvPr/>
        </p:nvSpPr>
        <p:spPr>
          <a:xfrm>
            <a:off x="777240" y="2331720"/>
            <a:ext cx="10607040" cy="493776"/>
          </a:xfrm>
          <a:prstGeom prst="rect">
            <a:avLst/>
          </a:prstGeom>
          <a:solidFill>
            <a:srgbClr val="F5F3ED"/>
          </a:solidFill>
          <a:ln w="9525">
            <a:solidFill>
              <a:srgbClr val="D3CEC0"/>
            </a:solidFill>
            <a:prstDash val="solid"/>
          </a:ln>
        </p:spPr>
      </p:sp>
      <p:sp>
        <p:nvSpPr>
          <p:cNvPr id="15" name="Text 13"/>
          <p:cNvSpPr txBox="1"/>
          <p:nvPr/>
        </p:nvSpPr>
        <p:spPr>
          <a:xfrm>
            <a:off x="914400" y="2450592"/>
            <a:ext cx="1005840" cy="27432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Web</a:t>
            </a:r>
            <a:endParaRPr lang="en-US" sz="1250" dirty="0"/>
          </a:p>
        </p:txBody>
      </p:sp>
      <p:sp>
        <p:nvSpPr>
          <p:cNvPr id="16" name="Text 14"/>
          <p:cNvSpPr txBox="1"/>
          <p:nvPr/>
        </p:nvSpPr>
        <p:spPr>
          <a:xfrm>
            <a:off x="1920240" y="2478024"/>
            <a:ext cx="1463040" cy="256032"/>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anonymous, no login</a:t>
            </a:r>
            <a:endParaRPr lang="en-US" sz="850" dirty="0"/>
          </a:p>
        </p:txBody>
      </p:sp>
      <p:sp>
        <p:nvSpPr>
          <p:cNvPr id="17" name="Shape 15"/>
          <p:cNvSpPr/>
          <p:nvPr/>
        </p:nvSpPr>
        <p:spPr>
          <a:xfrm>
            <a:off x="3429000" y="2468880"/>
            <a:ext cx="219456" cy="219456"/>
          </a:xfrm>
          <a:prstGeom prst="ellipse">
            <a:avLst/>
          </a:prstGeom>
          <a:solidFill>
            <a:srgbClr val="1F5546"/>
          </a:solidFill>
          <a:ln w="12700">
            <a:solidFill>
              <a:srgbClr val="1F5546"/>
            </a:solidFill>
            <a:prstDash val="solid"/>
          </a:ln>
        </p:spPr>
      </p:sp>
      <p:sp>
        <p:nvSpPr>
          <p:cNvPr id="18" name="Shape 16"/>
          <p:cNvSpPr/>
          <p:nvPr/>
        </p:nvSpPr>
        <p:spPr>
          <a:xfrm>
            <a:off x="5239512" y="2468880"/>
            <a:ext cx="219456" cy="219456"/>
          </a:xfrm>
          <a:prstGeom prst="ellipse">
            <a:avLst/>
          </a:prstGeom>
          <a:solidFill>
            <a:srgbClr val="1F5546"/>
          </a:solidFill>
          <a:ln w="12700">
            <a:solidFill>
              <a:srgbClr val="1F5546"/>
            </a:solidFill>
            <a:prstDash val="solid"/>
          </a:ln>
        </p:spPr>
      </p:sp>
      <p:sp>
        <p:nvSpPr>
          <p:cNvPr id="19" name="Shape 17"/>
          <p:cNvSpPr/>
          <p:nvPr/>
        </p:nvSpPr>
        <p:spPr>
          <a:xfrm>
            <a:off x="7050024" y="2468880"/>
            <a:ext cx="219456" cy="219456"/>
          </a:xfrm>
          <a:prstGeom prst="ellipse">
            <a:avLst/>
          </a:prstGeom>
          <a:solidFill>
            <a:srgbClr val="1F5546"/>
          </a:solidFill>
          <a:ln w="12700">
            <a:solidFill>
              <a:srgbClr val="1F5546"/>
            </a:solidFill>
            <a:prstDash val="solid"/>
          </a:ln>
        </p:spPr>
      </p:sp>
      <p:sp>
        <p:nvSpPr>
          <p:cNvPr id="20" name="Shape 18"/>
          <p:cNvSpPr/>
          <p:nvPr/>
        </p:nvSpPr>
        <p:spPr>
          <a:xfrm>
            <a:off x="8860536" y="2468880"/>
            <a:ext cx="219456" cy="219456"/>
          </a:xfrm>
          <a:prstGeom prst="ellipse">
            <a:avLst/>
          </a:prstGeom>
          <a:solidFill>
            <a:srgbClr val="1F5546"/>
          </a:solidFill>
          <a:ln w="12700">
            <a:solidFill>
              <a:srgbClr val="1F5546"/>
            </a:solidFill>
            <a:prstDash val="solid"/>
          </a:ln>
        </p:spPr>
      </p:sp>
      <p:sp>
        <p:nvSpPr>
          <p:cNvPr id="21" name="Shape 19"/>
          <p:cNvSpPr/>
          <p:nvPr/>
        </p:nvSpPr>
        <p:spPr>
          <a:xfrm>
            <a:off x="10671048" y="2468880"/>
            <a:ext cx="219456" cy="219456"/>
          </a:xfrm>
          <a:prstGeom prst="ellipse">
            <a:avLst/>
          </a:prstGeom>
          <a:solidFill>
            <a:srgbClr val="1F5546"/>
          </a:solidFill>
          <a:ln w="12700">
            <a:solidFill>
              <a:srgbClr val="1F5546"/>
            </a:solidFill>
            <a:prstDash val="solid"/>
          </a:ln>
        </p:spPr>
      </p:sp>
      <p:sp>
        <p:nvSpPr>
          <p:cNvPr id="22" name="Shape 20"/>
          <p:cNvSpPr/>
          <p:nvPr/>
        </p:nvSpPr>
        <p:spPr>
          <a:xfrm>
            <a:off x="777240" y="2898648"/>
            <a:ext cx="10607040" cy="493776"/>
          </a:xfrm>
          <a:prstGeom prst="rect">
            <a:avLst/>
          </a:prstGeom>
          <a:solidFill>
            <a:srgbClr val="FFFFFF"/>
          </a:solidFill>
          <a:ln w="9525">
            <a:solidFill>
              <a:srgbClr val="D3CEC0"/>
            </a:solidFill>
            <a:prstDash val="solid"/>
          </a:ln>
        </p:spPr>
      </p:sp>
      <p:sp>
        <p:nvSpPr>
          <p:cNvPr id="23" name="Text 21"/>
          <p:cNvSpPr txBox="1"/>
          <p:nvPr/>
        </p:nvSpPr>
        <p:spPr>
          <a:xfrm>
            <a:off x="914400" y="3017520"/>
            <a:ext cx="1005840" cy="27432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Voice</a:t>
            </a:r>
            <a:endParaRPr lang="en-US" sz="1250" dirty="0"/>
          </a:p>
        </p:txBody>
      </p:sp>
      <p:sp>
        <p:nvSpPr>
          <p:cNvPr id="24" name="Text 22"/>
          <p:cNvSpPr txBox="1"/>
          <p:nvPr/>
        </p:nvSpPr>
        <p:spPr>
          <a:xfrm>
            <a:off x="1920240" y="3044952"/>
            <a:ext cx="1463040" cy="256032"/>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live, no registration</a:t>
            </a:r>
            <a:endParaRPr lang="en-US" sz="850" dirty="0"/>
          </a:p>
        </p:txBody>
      </p:sp>
      <p:sp>
        <p:nvSpPr>
          <p:cNvPr id="25" name="Shape 23"/>
          <p:cNvSpPr/>
          <p:nvPr/>
        </p:nvSpPr>
        <p:spPr>
          <a:xfrm>
            <a:off x="3410712" y="3145536"/>
            <a:ext cx="256032" cy="0"/>
          </a:xfrm>
          <a:prstGeom prst="line">
            <a:avLst/>
          </a:prstGeom>
          <a:noFill/>
          <a:ln w="25400">
            <a:solidFill>
              <a:srgbClr val="D3CEC0"/>
            </a:solidFill>
            <a:prstDash val="solid"/>
          </a:ln>
        </p:spPr>
      </p:sp>
      <p:sp>
        <p:nvSpPr>
          <p:cNvPr id="26" name="Shape 24"/>
          <p:cNvSpPr/>
          <p:nvPr/>
        </p:nvSpPr>
        <p:spPr>
          <a:xfrm>
            <a:off x="5239512" y="3035808"/>
            <a:ext cx="219456" cy="219456"/>
          </a:xfrm>
          <a:prstGeom prst="ellipse">
            <a:avLst/>
          </a:prstGeom>
          <a:solidFill>
            <a:srgbClr val="1F5546"/>
          </a:solidFill>
          <a:ln w="12700">
            <a:solidFill>
              <a:srgbClr val="1F5546"/>
            </a:solidFill>
            <a:prstDash val="solid"/>
          </a:ln>
        </p:spPr>
      </p:sp>
      <p:sp>
        <p:nvSpPr>
          <p:cNvPr id="27" name="Shape 25"/>
          <p:cNvSpPr/>
          <p:nvPr/>
        </p:nvSpPr>
        <p:spPr>
          <a:xfrm>
            <a:off x="7031736" y="3145536"/>
            <a:ext cx="256032" cy="0"/>
          </a:xfrm>
          <a:prstGeom prst="line">
            <a:avLst/>
          </a:prstGeom>
          <a:noFill/>
          <a:ln w="25400">
            <a:solidFill>
              <a:srgbClr val="D3CEC0"/>
            </a:solidFill>
            <a:prstDash val="solid"/>
          </a:ln>
        </p:spPr>
      </p:sp>
      <p:sp>
        <p:nvSpPr>
          <p:cNvPr id="28" name="Shape 26"/>
          <p:cNvSpPr/>
          <p:nvPr/>
        </p:nvSpPr>
        <p:spPr>
          <a:xfrm>
            <a:off x="8842248" y="3145536"/>
            <a:ext cx="256032" cy="0"/>
          </a:xfrm>
          <a:prstGeom prst="line">
            <a:avLst/>
          </a:prstGeom>
          <a:noFill/>
          <a:ln w="25400">
            <a:solidFill>
              <a:srgbClr val="D3CEC0"/>
            </a:solidFill>
            <a:prstDash val="solid"/>
          </a:ln>
        </p:spPr>
      </p:sp>
      <p:sp>
        <p:nvSpPr>
          <p:cNvPr id="29" name="Shape 27"/>
          <p:cNvSpPr/>
          <p:nvPr/>
        </p:nvSpPr>
        <p:spPr>
          <a:xfrm>
            <a:off x="10652760" y="3145536"/>
            <a:ext cx="256032" cy="0"/>
          </a:xfrm>
          <a:prstGeom prst="line">
            <a:avLst/>
          </a:prstGeom>
          <a:noFill/>
          <a:ln w="25400">
            <a:solidFill>
              <a:srgbClr val="D3CEC0"/>
            </a:solidFill>
            <a:prstDash val="solid"/>
          </a:ln>
        </p:spPr>
      </p:sp>
      <p:sp>
        <p:nvSpPr>
          <p:cNvPr id="30" name="Shape 28"/>
          <p:cNvSpPr/>
          <p:nvPr/>
        </p:nvSpPr>
        <p:spPr>
          <a:xfrm>
            <a:off x="777240" y="3465576"/>
            <a:ext cx="10607040" cy="493776"/>
          </a:xfrm>
          <a:prstGeom prst="rect">
            <a:avLst/>
          </a:prstGeom>
          <a:solidFill>
            <a:srgbClr val="F5F3ED"/>
          </a:solidFill>
          <a:ln w="9525">
            <a:solidFill>
              <a:srgbClr val="D3CEC0"/>
            </a:solidFill>
            <a:prstDash val="solid"/>
          </a:ln>
        </p:spPr>
      </p:sp>
      <p:sp>
        <p:nvSpPr>
          <p:cNvPr id="31" name="Text 29"/>
          <p:cNvSpPr txBox="1"/>
          <p:nvPr/>
        </p:nvSpPr>
        <p:spPr>
          <a:xfrm>
            <a:off x="914400" y="3584448"/>
            <a:ext cx="1005840" cy="27432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Text</a:t>
            </a:r>
            <a:endParaRPr lang="en-US" sz="1250" dirty="0"/>
          </a:p>
        </p:txBody>
      </p:sp>
      <p:sp>
        <p:nvSpPr>
          <p:cNvPr id="32" name="Text 30"/>
          <p:cNvSpPr txBox="1"/>
          <p:nvPr/>
        </p:nvSpPr>
        <p:spPr>
          <a:xfrm>
            <a:off x="1920240" y="3611880"/>
            <a:ext cx="1463040" cy="256032"/>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live, via relay</a:t>
            </a:r>
            <a:endParaRPr lang="en-US" sz="850" dirty="0"/>
          </a:p>
        </p:txBody>
      </p:sp>
      <p:sp>
        <p:nvSpPr>
          <p:cNvPr id="33" name="Shape 31"/>
          <p:cNvSpPr/>
          <p:nvPr/>
        </p:nvSpPr>
        <p:spPr>
          <a:xfrm>
            <a:off x="3429000" y="3602736"/>
            <a:ext cx="219456" cy="219456"/>
          </a:xfrm>
          <a:prstGeom prst="ellipse">
            <a:avLst/>
          </a:prstGeom>
          <a:solidFill>
            <a:srgbClr val="1F5546"/>
          </a:solidFill>
          <a:ln w="12700">
            <a:solidFill>
              <a:srgbClr val="1F5546"/>
            </a:solidFill>
            <a:prstDash val="solid"/>
          </a:ln>
        </p:spPr>
      </p:sp>
      <p:sp>
        <p:nvSpPr>
          <p:cNvPr id="34" name="Shape 32"/>
          <p:cNvSpPr/>
          <p:nvPr/>
        </p:nvSpPr>
        <p:spPr>
          <a:xfrm>
            <a:off x="5239512" y="3602736"/>
            <a:ext cx="219456" cy="219456"/>
          </a:xfrm>
          <a:prstGeom prst="ellipse">
            <a:avLst/>
          </a:prstGeom>
          <a:solidFill>
            <a:srgbClr val="1F5546"/>
          </a:solidFill>
          <a:ln w="12700">
            <a:solidFill>
              <a:srgbClr val="1F5546"/>
            </a:solidFill>
            <a:prstDash val="solid"/>
          </a:ln>
        </p:spPr>
      </p:sp>
      <p:sp>
        <p:nvSpPr>
          <p:cNvPr id="35" name="Shape 33"/>
          <p:cNvSpPr/>
          <p:nvPr/>
        </p:nvSpPr>
        <p:spPr>
          <a:xfrm>
            <a:off x="7050024" y="3602736"/>
            <a:ext cx="219456" cy="219456"/>
          </a:xfrm>
          <a:prstGeom prst="ellipse">
            <a:avLst/>
          </a:prstGeom>
          <a:solidFill>
            <a:srgbClr val="1F5546"/>
          </a:solidFill>
          <a:ln w="12700">
            <a:solidFill>
              <a:srgbClr val="1F5546"/>
            </a:solidFill>
            <a:prstDash val="solid"/>
          </a:ln>
        </p:spPr>
      </p:sp>
      <p:sp>
        <p:nvSpPr>
          <p:cNvPr id="36" name="Shape 34"/>
          <p:cNvSpPr/>
          <p:nvPr/>
        </p:nvSpPr>
        <p:spPr>
          <a:xfrm>
            <a:off x="8860536" y="3602736"/>
            <a:ext cx="219456" cy="219456"/>
          </a:xfrm>
          <a:prstGeom prst="ellipse">
            <a:avLst/>
          </a:prstGeom>
          <a:solidFill>
            <a:srgbClr val="1F5546"/>
          </a:solidFill>
          <a:ln w="12700">
            <a:solidFill>
              <a:srgbClr val="1F5546"/>
            </a:solidFill>
            <a:prstDash val="solid"/>
          </a:ln>
        </p:spPr>
      </p:sp>
      <p:sp>
        <p:nvSpPr>
          <p:cNvPr id="37" name="Shape 35"/>
          <p:cNvSpPr/>
          <p:nvPr/>
        </p:nvSpPr>
        <p:spPr>
          <a:xfrm>
            <a:off x="10652760" y="3712464"/>
            <a:ext cx="256032" cy="0"/>
          </a:xfrm>
          <a:prstGeom prst="line">
            <a:avLst/>
          </a:prstGeom>
          <a:noFill/>
          <a:ln w="25400">
            <a:solidFill>
              <a:srgbClr val="D3CEC0"/>
            </a:solidFill>
            <a:prstDash val="solid"/>
          </a:ln>
        </p:spPr>
      </p:sp>
      <p:sp>
        <p:nvSpPr>
          <p:cNvPr id="38" name="Shape 36"/>
          <p:cNvSpPr/>
          <p:nvPr/>
        </p:nvSpPr>
        <p:spPr>
          <a:xfrm>
            <a:off x="777240" y="4032504"/>
            <a:ext cx="10607040" cy="493776"/>
          </a:xfrm>
          <a:prstGeom prst="rect">
            <a:avLst/>
          </a:prstGeom>
          <a:solidFill>
            <a:srgbClr val="FFFFFF"/>
          </a:solidFill>
          <a:ln w="9525">
            <a:solidFill>
              <a:srgbClr val="D3CEC0"/>
            </a:solidFill>
            <a:prstDash val="solid"/>
          </a:ln>
        </p:spPr>
      </p:sp>
      <p:sp>
        <p:nvSpPr>
          <p:cNvPr id="39" name="Text 37"/>
          <p:cNvSpPr txBox="1"/>
          <p:nvPr/>
        </p:nvSpPr>
        <p:spPr>
          <a:xfrm>
            <a:off x="914400" y="4151376"/>
            <a:ext cx="1005840" cy="27432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Email</a:t>
            </a:r>
            <a:endParaRPr lang="en-US" sz="1250" dirty="0"/>
          </a:p>
        </p:txBody>
      </p:sp>
      <p:sp>
        <p:nvSpPr>
          <p:cNvPr id="40" name="Text 38"/>
          <p:cNvSpPr txBox="1"/>
          <p:nvPr/>
        </p:nvSpPr>
        <p:spPr>
          <a:xfrm>
            <a:off x="1920240" y="4178808"/>
            <a:ext cx="1463040" cy="256032"/>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answers, never sends</a:t>
            </a:r>
            <a:endParaRPr lang="en-US" sz="850" dirty="0"/>
          </a:p>
        </p:txBody>
      </p:sp>
      <p:sp>
        <p:nvSpPr>
          <p:cNvPr id="41" name="Shape 39"/>
          <p:cNvSpPr/>
          <p:nvPr/>
        </p:nvSpPr>
        <p:spPr>
          <a:xfrm>
            <a:off x="3429000" y="4169664"/>
            <a:ext cx="219456" cy="219456"/>
          </a:xfrm>
          <a:prstGeom prst="ellipse">
            <a:avLst/>
          </a:prstGeom>
          <a:solidFill>
            <a:srgbClr val="1F5546"/>
          </a:solidFill>
          <a:ln w="12700">
            <a:solidFill>
              <a:srgbClr val="1F5546"/>
            </a:solidFill>
            <a:prstDash val="solid"/>
          </a:ln>
        </p:spPr>
      </p:sp>
      <p:sp>
        <p:nvSpPr>
          <p:cNvPr id="42" name="Shape 40"/>
          <p:cNvSpPr/>
          <p:nvPr/>
        </p:nvSpPr>
        <p:spPr>
          <a:xfrm>
            <a:off x="5239512" y="4169664"/>
            <a:ext cx="219456" cy="219456"/>
          </a:xfrm>
          <a:prstGeom prst="ellipse">
            <a:avLst/>
          </a:prstGeom>
          <a:solidFill>
            <a:srgbClr val="1F5546"/>
          </a:solidFill>
          <a:ln w="12700">
            <a:solidFill>
              <a:srgbClr val="1F5546"/>
            </a:solidFill>
            <a:prstDash val="solid"/>
          </a:ln>
        </p:spPr>
      </p:sp>
      <p:sp>
        <p:nvSpPr>
          <p:cNvPr id="43" name="Shape 41"/>
          <p:cNvSpPr/>
          <p:nvPr/>
        </p:nvSpPr>
        <p:spPr>
          <a:xfrm>
            <a:off x="7031736" y="4279392"/>
            <a:ext cx="256032" cy="0"/>
          </a:xfrm>
          <a:prstGeom prst="line">
            <a:avLst/>
          </a:prstGeom>
          <a:noFill/>
          <a:ln w="25400">
            <a:solidFill>
              <a:srgbClr val="D3CEC0"/>
            </a:solidFill>
            <a:prstDash val="solid"/>
          </a:ln>
        </p:spPr>
      </p:sp>
      <p:sp>
        <p:nvSpPr>
          <p:cNvPr id="44" name="Shape 42"/>
          <p:cNvSpPr/>
          <p:nvPr/>
        </p:nvSpPr>
        <p:spPr>
          <a:xfrm>
            <a:off x="8842248" y="4279392"/>
            <a:ext cx="256032" cy="0"/>
          </a:xfrm>
          <a:prstGeom prst="line">
            <a:avLst/>
          </a:prstGeom>
          <a:noFill/>
          <a:ln w="25400">
            <a:solidFill>
              <a:srgbClr val="D3CEC0"/>
            </a:solidFill>
            <a:prstDash val="solid"/>
          </a:ln>
        </p:spPr>
      </p:sp>
      <p:sp>
        <p:nvSpPr>
          <p:cNvPr id="45" name="Shape 43"/>
          <p:cNvSpPr/>
          <p:nvPr/>
        </p:nvSpPr>
        <p:spPr>
          <a:xfrm>
            <a:off x="10671048" y="4169664"/>
            <a:ext cx="219456" cy="219456"/>
          </a:xfrm>
          <a:prstGeom prst="ellipse">
            <a:avLst/>
          </a:prstGeom>
          <a:solidFill>
            <a:srgbClr val="1F5546"/>
          </a:solidFill>
          <a:ln w="12700">
            <a:solidFill>
              <a:srgbClr val="1F5546"/>
            </a:solidFill>
            <a:prstDash val="solid"/>
          </a:ln>
        </p:spPr>
      </p:sp>
      <p:sp>
        <p:nvSpPr>
          <p:cNvPr id="46" name="Shape 44"/>
          <p:cNvSpPr/>
          <p:nvPr/>
        </p:nvSpPr>
        <p:spPr>
          <a:xfrm>
            <a:off x="777240" y="4599432"/>
            <a:ext cx="10607040" cy="493776"/>
          </a:xfrm>
          <a:prstGeom prst="rect">
            <a:avLst/>
          </a:prstGeom>
          <a:solidFill>
            <a:srgbClr val="F5F3ED"/>
          </a:solidFill>
          <a:ln w="9525">
            <a:solidFill>
              <a:srgbClr val="D3CEC0"/>
            </a:solidFill>
            <a:prstDash val="solid"/>
          </a:ln>
        </p:spPr>
      </p:sp>
      <p:sp>
        <p:nvSpPr>
          <p:cNvPr id="47" name="Text 45"/>
          <p:cNvSpPr txBox="1"/>
          <p:nvPr/>
        </p:nvSpPr>
        <p:spPr>
          <a:xfrm>
            <a:off x="914400" y="4718304"/>
            <a:ext cx="1005840" cy="27432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Slack</a:t>
            </a:r>
            <a:endParaRPr lang="en-US" sz="1250" dirty="0"/>
          </a:p>
        </p:txBody>
      </p:sp>
      <p:sp>
        <p:nvSpPr>
          <p:cNvPr id="48" name="Text 46"/>
          <p:cNvSpPr txBox="1"/>
          <p:nvPr/>
        </p:nvSpPr>
        <p:spPr>
          <a:xfrm>
            <a:off x="1920240" y="4745736"/>
            <a:ext cx="1463040" cy="256032"/>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DM only, never sends</a:t>
            </a:r>
            <a:endParaRPr lang="en-US" sz="850" dirty="0"/>
          </a:p>
        </p:txBody>
      </p:sp>
      <p:sp>
        <p:nvSpPr>
          <p:cNvPr id="49" name="Shape 47"/>
          <p:cNvSpPr/>
          <p:nvPr/>
        </p:nvSpPr>
        <p:spPr>
          <a:xfrm>
            <a:off x="3429000" y="4736592"/>
            <a:ext cx="219456" cy="219456"/>
          </a:xfrm>
          <a:prstGeom prst="ellipse">
            <a:avLst/>
          </a:prstGeom>
          <a:solidFill>
            <a:srgbClr val="1F5546"/>
          </a:solidFill>
          <a:ln w="12700">
            <a:solidFill>
              <a:srgbClr val="1F5546"/>
            </a:solidFill>
            <a:prstDash val="solid"/>
          </a:ln>
        </p:spPr>
      </p:sp>
      <p:sp>
        <p:nvSpPr>
          <p:cNvPr id="50" name="Shape 48"/>
          <p:cNvSpPr/>
          <p:nvPr/>
        </p:nvSpPr>
        <p:spPr>
          <a:xfrm>
            <a:off x="5239512" y="4736592"/>
            <a:ext cx="219456" cy="219456"/>
          </a:xfrm>
          <a:prstGeom prst="ellipse">
            <a:avLst/>
          </a:prstGeom>
          <a:solidFill>
            <a:srgbClr val="1F5546"/>
          </a:solidFill>
          <a:ln w="12700">
            <a:solidFill>
              <a:srgbClr val="1F5546"/>
            </a:solidFill>
            <a:prstDash val="solid"/>
          </a:ln>
        </p:spPr>
      </p:sp>
      <p:sp>
        <p:nvSpPr>
          <p:cNvPr id="51" name="Shape 49"/>
          <p:cNvSpPr/>
          <p:nvPr/>
        </p:nvSpPr>
        <p:spPr>
          <a:xfrm>
            <a:off x="7031736" y="4846320"/>
            <a:ext cx="256032" cy="0"/>
          </a:xfrm>
          <a:prstGeom prst="line">
            <a:avLst/>
          </a:prstGeom>
          <a:noFill/>
          <a:ln w="25400">
            <a:solidFill>
              <a:srgbClr val="D3CEC0"/>
            </a:solidFill>
            <a:prstDash val="solid"/>
          </a:ln>
        </p:spPr>
      </p:sp>
      <p:sp>
        <p:nvSpPr>
          <p:cNvPr id="52" name="Shape 50"/>
          <p:cNvSpPr/>
          <p:nvPr/>
        </p:nvSpPr>
        <p:spPr>
          <a:xfrm>
            <a:off x="8842248" y="4846320"/>
            <a:ext cx="256032" cy="0"/>
          </a:xfrm>
          <a:prstGeom prst="line">
            <a:avLst/>
          </a:prstGeom>
          <a:noFill/>
          <a:ln w="25400">
            <a:solidFill>
              <a:srgbClr val="D3CEC0"/>
            </a:solidFill>
            <a:prstDash val="solid"/>
          </a:ln>
        </p:spPr>
      </p:sp>
      <p:sp>
        <p:nvSpPr>
          <p:cNvPr id="53" name="Shape 51"/>
          <p:cNvSpPr/>
          <p:nvPr/>
        </p:nvSpPr>
        <p:spPr>
          <a:xfrm>
            <a:off x="10652760" y="4846320"/>
            <a:ext cx="256032" cy="0"/>
          </a:xfrm>
          <a:prstGeom prst="line">
            <a:avLst/>
          </a:prstGeom>
          <a:noFill/>
          <a:ln w="25400">
            <a:solidFill>
              <a:srgbClr val="D3CEC0"/>
            </a:solidFill>
            <a:prstDash val="solid"/>
          </a:ln>
        </p:spPr>
      </p:sp>
      <p:sp>
        <p:nvSpPr>
          <p:cNvPr id="54" name="Shape 52"/>
          <p:cNvSpPr/>
          <p:nvPr/>
        </p:nvSpPr>
        <p:spPr>
          <a:xfrm>
            <a:off x="777240" y="5166360"/>
            <a:ext cx="10607040" cy="493776"/>
          </a:xfrm>
          <a:prstGeom prst="rect">
            <a:avLst/>
          </a:prstGeom>
          <a:solidFill>
            <a:srgbClr val="FFFFFF"/>
          </a:solidFill>
          <a:ln w="9525">
            <a:solidFill>
              <a:srgbClr val="D3CEC0"/>
            </a:solidFill>
            <a:prstDash val="solid"/>
          </a:ln>
        </p:spPr>
      </p:sp>
      <p:sp>
        <p:nvSpPr>
          <p:cNvPr id="55" name="Text 53"/>
          <p:cNvSpPr txBox="1"/>
          <p:nvPr/>
        </p:nvSpPr>
        <p:spPr>
          <a:xfrm>
            <a:off x="914400" y="5285232"/>
            <a:ext cx="1005840" cy="27432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MCP</a:t>
            </a:r>
            <a:endParaRPr lang="en-US" sz="1250" dirty="0"/>
          </a:p>
        </p:txBody>
      </p:sp>
      <p:sp>
        <p:nvSpPr>
          <p:cNvPr id="56" name="Text 54"/>
          <p:cNvSpPr txBox="1"/>
          <p:nvPr/>
        </p:nvSpPr>
        <p:spPr>
          <a:xfrm>
            <a:off x="1920240" y="5312664"/>
            <a:ext cx="1463040" cy="256032"/>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external assistants</a:t>
            </a:r>
            <a:endParaRPr lang="en-US" sz="850" dirty="0"/>
          </a:p>
        </p:txBody>
      </p:sp>
      <p:sp>
        <p:nvSpPr>
          <p:cNvPr id="57" name="Shape 55"/>
          <p:cNvSpPr/>
          <p:nvPr/>
        </p:nvSpPr>
        <p:spPr>
          <a:xfrm>
            <a:off x="3429000" y="5303520"/>
            <a:ext cx="219456" cy="219456"/>
          </a:xfrm>
          <a:prstGeom prst="ellipse">
            <a:avLst/>
          </a:prstGeom>
          <a:solidFill>
            <a:srgbClr val="1F5546"/>
          </a:solidFill>
          <a:ln w="12700">
            <a:solidFill>
              <a:srgbClr val="1F5546"/>
            </a:solidFill>
            <a:prstDash val="solid"/>
          </a:ln>
        </p:spPr>
      </p:sp>
      <p:sp>
        <p:nvSpPr>
          <p:cNvPr id="58" name="Shape 56"/>
          <p:cNvSpPr/>
          <p:nvPr/>
        </p:nvSpPr>
        <p:spPr>
          <a:xfrm>
            <a:off x="5239512" y="5303520"/>
            <a:ext cx="219456" cy="219456"/>
          </a:xfrm>
          <a:prstGeom prst="ellipse">
            <a:avLst/>
          </a:prstGeom>
          <a:solidFill>
            <a:srgbClr val="1F5546"/>
          </a:solidFill>
          <a:ln w="12700">
            <a:solidFill>
              <a:srgbClr val="1F5546"/>
            </a:solidFill>
            <a:prstDash val="solid"/>
          </a:ln>
        </p:spPr>
      </p:sp>
      <p:sp>
        <p:nvSpPr>
          <p:cNvPr id="59" name="Shape 57"/>
          <p:cNvSpPr/>
          <p:nvPr/>
        </p:nvSpPr>
        <p:spPr>
          <a:xfrm>
            <a:off x="7050024" y="5303520"/>
            <a:ext cx="219456" cy="219456"/>
          </a:xfrm>
          <a:prstGeom prst="ellipse">
            <a:avLst/>
          </a:prstGeom>
          <a:solidFill>
            <a:srgbClr val="1F5546"/>
          </a:solidFill>
          <a:ln w="12700">
            <a:solidFill>
              <a:srgbClr val="1F5546"/>
            </a:solidFill>
            <a:prstDash val="solid"/>
          </a:ln>
        </p:spPr>
      </p:sp>
      <p:sp>
        <p:nvSpPr>
          <p:cNvPr id="60" name="Shape 58"/>
          <p:cNvSpPr/>
          <p:nvPr/>
        </p:nvSpPr>
        <p:spPr>
          <a:xfrm>
            <a:off x="8842248" y="5413248"/>
            <a:ext cx="256032" cy="0"/>
          </a:xfrm>
          <a:prstGeom prst="line">
            <a:avLst/>
          </a:prstGeom>
          <a:noFill/>
          <a:ln w="25400">
            <a:solidFill>
              <a:srgbClr val="D3CEC0"/>
            </a:solidFill>
            <a:prstDash val="solid"/>
          </a:ln>
        </p:spPr>
      </p:sp>
      <p:sp>
        <p:nvSpPr>
          <p:cNvPr id="61" name="Shape 59"/>
          <p:cNvSpPr/>
          <p:nvPr/>
        </p:nvSpPr>
        <p:spPr>
          <a:xfrm>
            <a:off x="10652760" y="5413248"/>
            <a:ext cx="256032" cy="0"/>
          </a:xfrm>
          <a:prstGeom prst="line">
            <a:avLst/>
          </a:prstGeom>
          <a:noFill/>
          <a:ln w="25400">
            <a:solidFill>
              <a:srgbClr val="D3CEC0"/>
            </a:solidFill>
            <a:prstDash val="solid"/>
          </a:ln>
        </p:spPr>
      </p:sp>
      <p:sp>
        <p:nvSpPr>
          <p:cNvPr id="62" name="Text 60"/>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Email and Slack deliberately won't send. Agreeing in writing days later isn't the same as choosing in the moment.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03  THE BUILD  |  SAID ONCE</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Said once, instead of six times a day.</a:t>
            </a:r>
            <a:endParaRPr lang="en-US" sz="3300" dirty="0"/>
          </a:p>
        </p:txBody>
      </p:sp>
      <p:sp>
        <p:nvSpPr>
          <p:cNvPr id="4" name="Text 2"/>
          <p:cNvSpPr txBox="1"/>
          <p:nvPr/>
        </p:nvSpPr>
        <p:spPr>
          <a:xfrm>
            <a:off x="777240" y="1645920"/>
            <a:ext cx="10698480" cy="411480"/>
          </a:xfrm>
          <a:prstGeom prst="rect">
            <a:avLst/>
          </a:prstGeom>
          <a:noFill/>
          <a:ln/>
        </p:spPr>
        <p:txBody>
          <a:bodyPr wrap="square" lIns="0" tIns="0" rIns="0" bIns="0" rtlCol="0" anchor="ctr"/>
          <a:lstStyle/>
          <a:p>
            <a:pPr indent="0" marL="0">
              <a:buNone/>
            </a:pPr>
            <a:r>
              <a:rPr lang="en-US" sz="1450" i="1" dirty="0">
                <a:solidFill>
                  <a:srgbClr val="42474C"/>
                </a:solidFill>
                <a:latin typeface="Cambria" pitchFamily="34" charset="0"/>
                <a:ea typeface="Cambria" pitchFamily="34" charset="-122"/>
                <a:cs typeface="Cambria" pitchFamily="34" charset="-120"/>
              </a:rPr>
              <a:t>"...having to sit down and explain it six times a day to twenty different people."</a:t>
            </a:r>
            <a:endParaRPr lang="en-US" sz="1450" dirty="0"/>
          </a:p>
        </p:txBody>
      </p:sp>
      <p:sp>
        <p:nvSpPr>
          <p:cNvPr id="5" name="Shape 3"/>
          <p:cNvSpPr/>
          <p:nvPr/>
        </p:nvSpPr>
        <p:spPr>
          <a:xfrm>
            <a:off x="777240" y="2286000"/>
            <a:ext cx="512064" cy="512064"/>
          </a:xfrm>
          <a:prstGeom prst="ellipse">
            <a:avLst/>
          </a:prstGeom>
          <a:solidFill>
            <a:srgbClr val="C9A227"/>
          </a:solidFill>
          <a:ln w="12700">
            <a:solidFill>
              <a:srgbClr val="C9A227"/>
            </a:solidFill>
            <a:prstDash val="solid"/>
          </a:ln>
        </p:spPr>
      </p:sp>
      <p:sp>
        <p:nvSpPr>
          <p:cNvPr id="6" name="Text 4"/>
          <p:cNvSpPr txBox="1"/>
          <p:nvPr/>
        </p:nvSpPr>
        <p:spPr>
          <a:xfrm>
            <a:off x="777240" y="2386584"/>
            <a:ext cx="512064" cy="329184"/>
          </a:xfrm>
          <a:prstGeom prst="rect">
            <a:avLst/>
          </a:prstGeom>
          <a:noFill/>
          <a:ln/>
        </p:spPr>
        <p:txBody>
          <a:bodyPr wrap="square" lIns="0" tIns="0" rIns="0" bIns="0" rtlCol="0" anchor="ctr"/>
          <a:lstStyle/>
          <a:p>
            <a:pPr algn="ctr" indent="0" marL="0">
              <a:buNone/>
            </a:pPr>
            <a:r>
              <a:rPr lang="en-US" sz="1500" b="1" dirty="0">
                <a:solidFill>
                  <a:srgbClr val="14171A"/>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777240" y="2944368"/>
            <a:ext cx="2514600" cy="45720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She writes it once</a:t>
            </a:r>
            <a:endParaRPr lang="en-US" sz="1500" dirty="0"/>
          </a:p>
        </p:txBody>
      </p:sp>
      <p:sp>
        <p:nvSpPr>
          <p:cNvPr id="8" name="Text 6"/>
          <p:cNvSpPr txBox="1"/>
          <p:nvPr/>
        </p:nvSpPr>
        <p:spPr>
          <a:xfrm>
            <a:off x="777240" y="3438144"/>
            <a:ext cx="2514600" cy="91440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in her own words, never a category from a dropdown</a:t>
            </a:r>
            <a:endParaRPr lang="en-US" sz="1200" dirty="0"/>
          </a:p>
        </p:txBody>
      </p:sp>
      <p:sp>
        <p:nvSpPr>
          <p:cNvPr id="9" name="Shape 7"/>
          <p:cNvSpPr/>
          <p:nvPr/>
        </p:nvSpPr>
        <p:spPr>
          <a:xfrm>
            <a:off x="3355848" y="2542032"/>
            <a:ext cx="137160" cy="0"/>
          </a:xfrm>
          <a:prstGeom prst="line">
            <a:avLst/>
          </a:prstGeom>
          <a:noFill/>
          <a:ln w="17780">
            <a:solidFill>
              <a:srgbClr val="42474C"/>
            </a:solidFill>
            <a:prstDash val="solid"/>
            <a:tailEnd type="triangle"/>
          </a:ln>
        </p:spPr>
      </p:sp>
      <p:sp>
        <p:nvSpPr>
          <p:cNvPr id="10" name="Shape 8"/>
          <p:cNvSpPr/>
          <p:nvPr/>
        </p:nvSpPr>
        <p:spPr>
          <a:xfrm>
            <a:off x="3520440" y="2286000"/>
            <a:ext cx="512064" cy="512064"/>
          </a:xfrm>
          <a:prstGeom prst="ellipse">
            <a:avLst/>
          </a:prstGeom>
          <a:solidFill>
            <a:srgbClr val="C9A227"/>
          </a:solidFill>
          <a:ln w="12700">
            <a:solidFill>
              <a:srgbClr val="C9A227"/>
            </a:solidFill>
            <a:prstDash val="solid"/>
          </a:ln>
        </p:spPr>
      </p:sp>
      <p:sp>
        <p:nvSpPr>
          <p:cNvPr id="11" name="Text 9"/>
          <p:cNvSpPr txBox="1"/>
          <p:nvPr/>
        </p:nvSpPr>
        <p:spPr>
          <a:xfrm>
            <a:off x="3520440" y="2386584"/>
            <a:ext cx="512064" cy="329184"/>
          </a:xfrm>
          <a:prstGeom prst="rect">
            <a:avLst/>
          </a:prstGeom>
          <a:noFill/>
          <a:ln/>
        </p:spPr>
        <p:txBody>
          <a:bodyPr wrap="square" lIns="0" tIns="0" rIns="0" bIns="0" rtlCol="0" anchor="ctr"/>
          <a:lstStyle/>
          <a:p>
            <a:pPr algn="ctr" indent="0" marL="0">
              <a:buNone/>
            </a:pPr>
            <a:r>
              <a:rPr lang="en-US" sz="1500" b="1" dirty="0">
                <a:solidFill>
                  <a:srgbClr val="14171A"/>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3520440" y="2944368"/>
            <a:ext cx="2514600" cy="45720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She chooses who sees it</a:t>
            </a:r>
            <a:endParaRPr lang="en-US" sz="1500" dirty="0"/>
          </a:p>
        </p:txBody>
      </p:sp>
      <p:sp>
        <p:nvSpPr>
          <p:cNvPr id="13" name="Text 11"/>
          <p:cNvSpPr txBox="1"/>
          <p:nvPr/>
        </p:nvSpPr>
        <p:spPr>
          <a:xfrm>
            <a:off x="3520440" y="3438144"/>
            <a:ext cx="2514600" cy="91440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her manager only, or meeting hosts, or her team</a:t>
            </a:r>
            <a:endParaRPr lang="en-US" sz="1200" dirty="0"/>
          </a:p>
        </p:txBody>
      </p:sp>
      <p:sp>
        <p:nvSpPr>
          <p:cNvPr id="14" name="Shape 12"/>
          <p:cNvSpPr/>
          <p:nvPr/>
        </p:nvSpPr>
        <p:spPr>
          <a:xfrm>
            <a:off x="6099048" y="2542032"/>
            <a:ext cx="137160" cy="0"/>
          </a:xfrm>
          <a:prstGeom prst="line">
            <a:avLst/>
          </a:prstGeom>
          <a:noFill/>
          <a:ln w="17780">
            <a:solidFill>
              <a:srgbClr val="42474C"/>
            </a:solidFill>
            <a:prstDash val="solid"/>
            <a:tailEnd type="triangle"/>
          </a:ln>
        </p:spPr>
      </p:sp>
      <p:sp>
        <p:nvSpPr>
          <p:cNvPr id="15" name="Shape 13"/>
          <p:cNvSpPr/>
          <p:nvPr/>
        </p:nvSpPr>
        <p:spPr>
          <a:xfrm>
            <a:off x="6263640" y="2286000"/>
            <a:ext cx="512064" cy="512064"/>
          </a:xfrm>
          <a:prstGeom prst="ellipse">
            <a:avLst/>
          </a:prstGeom>
          <a:solidFill>
            <a:srgbClr val="C9A227"/>
          </a:solidFill>
          <a:ln w="12700">
            <a:solidFill>
              <a:srgbClr val="C9A227"/>
            </a:solidFill>
            <a:prstDash val="solid"/>
          </a:ln>
        </p:spPr>
      </p:sp>
      <p:sp>
        <p:nvSpPr>
          <p:cNvPr id="16" name="Text 14"/>
          <p:cNvSpPr txBox="1"/>
          <p:nvPr/>
        </p:nvSpPr>
        <p:spPr>
          <a:xfrm>
            <a:off x="6263640" y="2386584"/>
            <a:ext cx="512064" cy="329184"/>
          </a:xfrm>
          <a:prstGeom prst="rect">
            <a:avLst/>
          </a:prstGeom>
          <a:noFill/>
          <a:ln/>
        </p:spPr>
        <p:txBody>
          <a:bodyPr wrap="square" lIns="0" tIns="0" rIns="0" bIns="0" rtlCol="0" anchor="ctr"/>
          <a:lstStyle/>
          <a:p>
            <a:pPr algn="ctr" indent="0" marL="0">
              <a:buNone/>
            </a:pPr>
            <a:r>
              <a:rPr lang="en-US" sz="1500" b="1" dirty="0">
                <a:solidFill>
                  <a:srgbClr val="14171A"/>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6263640" y="2944368"/>
            <a:ext cx="2514600" cy="45720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She gets six characters</a:t>
            </a:r>
            <a:endParaRPr lang="en-US" sz="1500" dirty="0"/>
          </a:p>
        </p:txBody>
      </p:sp>
      <p:sp>
        <p:nvSpPr>
          <p:cNvPr id="18" name="Text 16"/>
          <p:cNvSpPr txBox="1"/>
          <p:nvPr/>
        </p:nvSpPr>
        <p:spPr>
          <a:xfrm>
            <a:off x="6263640" y="3438144"/>
            <a:ext cx="2514600" cy="91440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shown once, because we hold no account for her</a:t>
            </a:r>
            <a:endParaRPr lang="en-US" sz="1200" dirty="0"/>
          </a:p>
        </p:txBody>
      </p:sp>
      <p:sp>
        <p:nvSpPr>
          <p:cNvPr id="19" name="Shape 17"/>
          <p:cNvSpPr/>
          <p:nvPr/>
        </p:nvSpPr>
        <p:spPr>
          <a:xfrm>
            <a:off x="8842248" y="2542032"/>
            <a:ext cx="137160" cy="0"/>
          </a:xfrm>
          <a:prstGeom prst="line">
            <a:avLst/>
          </a:prstGeom>
          <a:noFill/>
          <a:ln w="17780">
            <a:solidFill>
              <a:srgbClr val="42474C"/>
            </a:solidFill>
            <a:prstDash val="solid"/>
            <a:tailEnd type="triangle"/>
          </a:ln>
        </p:spPr>
      </p:sp>
      <p:sp>
        <p:nvSpPr>
          <p:cNvPr id="20" name="Shape 18"/>
          <p:cNvSpPr/>
          <p:nvPr/>
        </p:nvSpPr>
        <p:spPr>
          <a:xfrm>
            <a:off x="9006840" y="2286000"/>
            <a:ext cx="512064" cy="512064"/>
          </a:xfrm>
          <a:prstGeom prst="ellipse">
            <a:avLst/>
          </a:prstGeom>
          <a:solidFill>
            <a:srgbClr val="C9A227"/>
          </a:solidFill>
          <a:ln w="12700">
            <a:solidFill>
              <a:srgbClr val="C9A227"/>
            </a:solidFill>
            <a:prstDash val="solid"/>
          </a:ln>
        </p:spPr>
      </p:sp>
      <p:sp>
        <p:nvSpPr>
          <p:cNvPr id="21" name="Text 19"/>
          <p:cNvSpPr txBox="1"/>
          <p:nvPr/>
        </p:nvSpPr>
        <p:spPr>
          <a:xfrm>
            <a:off x="9006840" y="2386584"/>
            <a:ext cx="512064" cy="329184"/>
          </a:xfrm>
          <a:prstGeom prst="rect">
            <a:avLst/>
          </a:prstGeom>
          <a:noFill/>
          <a:ln/>
        </p:spPr>
        <p:txBody>
          <a:bodyPr wrap="square" lIns="0" tIns="0" rIns="0" bIns="0" rtlCol="0" anchor="ctr"/>
          <a:lstStyle/>
          <a:p>
            <a:pPr algn="ctr" indent="0" marL="0">
              <a:buNone/>
            </a:pPr>
            <a:r>
              <a:rPr lang="en-US" sz="1500" b="1" dirty="0">
                <a:solidFill>
                  <a:srgbClr val="14171A"/>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9006840" y="2944368"/>
            <a:ext cx="2514600" cy="45720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She can take it back</a:t>
            </a:r>
            <a:endParaRPr lang="en-US" sz="1500" dirty="0"/>
          </a:p>
        </p:txBody>
      </p:sp>
      <p:sp>
        <p:nvSpPr>
          <p:cNvPr id="23" name="Text 21"/>
          <p:cNvSpPr txBox="1"/>
          <p:nvPr/>
        </p:nvSpPr>
        <p:spPr>
          <a:xfrm>
            <a:off x="9006840" y="3438144"/>
            <a:ext cx="2514600" cy="91440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from any channel, immediately, no reason asked</a:t>
            </a:r>
            <a:endParaRPr lang="en-US" sz="1200" dirty="0"/>
          </a:p>
        </p:txBody>
      </p:sp>
      <p:sp>
        <p:nvSpPr>
          <p:cNvPr id="24" name="Text 22"/>
          <p:cNvSpPr txBox="1"/>
          <p:nvPr/>
        </p:nvSpPr>
        <p:spPr>
          <a:xfrm>
            <a:off x="777240" y="4572000"/>
            <a:ext cx="10698480" cy="457200"/>
          </a:xfrm>
          <a:prstGeom prst="rect">
            <a:avLst/>
          </a:prstGeom>
          <a:noFill/>
          <a:ln/>
        </p:spPr>
        <p:txBody>
          <a:bodyPr wrap="square" lIns="0" tIns="0" rIns="0" bIns="0" rtlCol="0" anchor="ctr"/>
          <a:lstStyle/>
          <a:p>
            <a:pPr indent="0" marL="0">
              <a:buNone/>
            </a:pPr>
            <a:r>
              <a:rPr lang="en-US" sz="1350" dirty="0">
                <a:solidFill>
                  <a:srgbClr val="14171A"/>
                </a:solidFill>
                <a:latin typeface="Calibri" pitchFamily="34" charset="0"/>
                <a:ea typeface="Calibri" pitchFamily="34" charset="-122"/>
                <a:cs typeface="Calibri" pitchFamily="34" charset="-120"/>
              </a:rPr>
              <a:t>A spent code and a wrong code return the same answer, so nobody can use this to test whether a stranger’s disclosure is still live.</a:t>
            </a:r>
            <a:endParaRPr lang="en-US" sz="1350" dirty="0"/>
          </a:p>
        </p:txBody>
      </p:sp>
      <p:sp>
        <p:nvSpPr>
          <p:cNvPr id="25" name="Text 23"/>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The code alphabet leaves out O 0 I 1 S 5, so it survives a cracked screen or being read aloud.</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03  THE BUILD  |  RESPONSIBLE AI</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There's no field for a diagnosis.</a:t>
            </a:r>
            <a:endParaRPr lang="en-US" sz="3300" dirty="0"/>
          </a:p>
        </p:txBody>
      </p:sp>
      <p:sp>
        <p:nvSpPr>
          <p:cNvPr id="4" name="Text 2"/>
          <p:cNvSpPr txBox="1"/>
          <p:nvPr/>
        </p:nvSpPr>
        <p:spPr>
          <a:xfrm>
            <a:off x="777240" y="1600200"/>
            <a:ext cx="10515600" cy="365760"/>
          </a:xfrm>
          <a:prstGeom prst="rect">
            <a:avLst/>
          </a:prstGeom>
          <a:noFill/>
          <a:ln/>
        </p:spPr>
        <p:txBody>
          <a:bodyPr wrap="square" lIns="0" tIns="0" rIns="0" bIns="0" rtlCol="0" anchor="ctr"/>
          <a:lstStyle/>
          <a:p>
            <a:pPr indent="0" marL="0">
              <a:buNone/>
            </a:pPr>
            <a:r>
              <a:rPr lang="en-US" sz="1650" i="1" dirty="0">
                <a:solidFill>
                  <a:srgbClr val="9A6608"/>
                </a:solidFill>
                <a:latin typeface="Cambria" pitchFamily="34" charset="0"/>
                <a:ea typeface="Cambria" pitchFamily="34" charset="-122"/>
                <a:cs typeface="Cambria" pitchFamily="34" charset="-120"/>
              </a:rPr>
              <a:t>It isn't encrypted or locked behind a permission. It simply isn't there.</a:t>
            </a:r>
            <a:endParaRPr lang="en-US" sz="1650" dirty="0"/>
          </a:p>
        </p:txBody>
      </p:sp>
      <p:sp>
        <p:nvSpPr>
          <p:cNvPr id="5" name="Shape 3"/>
          <p:cNvSpPr/>
          <p:nvPr/>
        </p:nvSpPr>
        <p:spPr>
          <a:xfrm>
            <a:off x="777240" y="2103120"/>
            <a:ext cx="5029200" cy="2377440"/>
          </a:xfrm>
          <a:prstGeom prst="roundRect">
            <a:avLst>
              <a:gd name="adj" fmla="val 1923"/>
            </a:avLst>
          </a:prstGeom>
          <a:solidFill>
            <a:srgbClr val="FFFFFF"/>
          </a:solidFill>
          <a:ln w="19050">
            <a:solidFill>
              <a:srgbClr val="1F5546"/>
            </a:solidFill>
            <a:prstDash val="solid"/>
          </a:ln>
        </p:spPr>
      </p:sp>
      <p:sp>
        <p:nvSpPr>
          <p:cNvPr id="6" name="Text 4"/>
          <p:cNvSpPr txBox="1"/>
          <p:nvPr/>
        </p:nvSpPr>
        <p:spPr>
          <a:xfrm>
            <a:off x="960120" y="2240280"/>
            <a:ext cx="4572000" cy="274320"/>
          </a:xfrm>
          <a:prstGeom prst="rect">
            <a:avLst/>
          </a:prstGeom>
          <a:noFill/>
          <a:ln/>
        </p:spPr>
        <p:txBody>
          <a:bodyPr wrap="square" lIns="0" tIns="0" rIns="0" bIns="0" rtlCol="0" anchor="ctr"/>
          <a:lstStyle/>
          <a:p>
            <a:pPr indent="0" marL="0">
              <a:buNone/>
            </a:pPr>
            <a:r>
              <a:rPr lang="en-US" sz="1000" b="1" spc="150" kern="0" dirty="0">
                <a:solidFill>
                  <a:srgbClr val="1F5546"/>
                </a:solidFill>
                <a:latin typeface="Courier New" pitchFamily="34" charset="0"/>
                <a:ea typeface="Courier New" pitchFamily="34" charset="-122"/>
                <a:cs typeface="Courier New" pitchFamily="34" charset="-120"/>
              </a:rPr>
              <a:t>PRESENT</a:t>
            </a:r>
            <a:endParaRPr lang="en-US" sz="1000" dirty="0"/>
          </a:p>
        </p:txBody>
      </p:sp>
      <p:sp>
        <p:nvSpPr>
          <p:cNvPr id="7" name="Text 5"/>
          <p:cNvSpPr txBox="1"/>
          <p:nvPr/>
        </p:nvSpPr>
        <p:spPr>
          <a:xfrm>
            <a:off x="960120" y="2578608"/>
            <a:ext cx="4663440" cy="1737360"/>
          </a:xfrm>
          <a:prstGeom prst="rect">
            <a:avLst/>
          </a:prstGeom>
          <a:noFill/>
          <a:ln/>
        </p:spPr>
        <p:txBody>
          <a:bodyPr wrap="square" lIns="0" tIns="0" rIns="0" bIns="0" rtlCol="0" anchor="ctr"/>
          <a:lstStyle/>
          <a:p>
            <a:pPr indent="0" marL="0">
              <a:spcAft>
                <a:spcPts val="700"/>
              </a:spcAft>
              <a:buNone/>
            </a:pPr>
            <a:r>
              <a:rPr lang="en-US" sz="1200" dirty="0">
                <a:solidFill>
                  <a:srgbClr val="14171A"/>
                </a:solidFill>
                <a:latin typeface="Courier New" pitchFamily="34" charset="0"/>
                <a:ea typeface="Courier New" pitchFamily="34" charset="-122"/>
                <a:cs typeface="Courier New" pitchFamily="34" charset="-120"/>
              </a:rPr>
              <a:t>Functional_Description__c</a:t>
            </a:r>
            <a:endParaRPr lang="en-US" sz="1200" dirty="0"/>
          </a:p>
          <a:p>
            <a:pPr indent="0" marL="0">
              <a:spcAft>
                <a:spcPts val="700"/>
              </a:spcAft>
              <a:buNone/>
            </a:pPr>
            <a:r>
              <a:rPr lang="en-US" sz="1200" dirty="0">
                <a:solidFill>
                  <a:srgbClr val="14171A"/>
                </a:solidFill>
                <a:latin typeface="Courier New" pitchFamily="34" charset="0"/>
                <a:ea typeface="Courier New" pitchFamily="34" charset="-122"/>
                <a:cs typeface="Courier New" pitchFamily="34" charset="-120"/>
              </a:rPr>
              <a:t>Inbound_Modality__c</a:t>
            </a:r>
            <a:endParaRPr lang="en-US" sz="1200" dirty="0"/>
          </a:p>
          <a:p>
            <a:pPr indent="0" marL="0">
              <a:spcAft>
                <a:spcPts val="700"/>
              </a:spcAft>
              <a:buNone/>
            </a:pPr>
            <a:r>
              <a:rPr lang="en-US" sz="1200" dirty="0">
                <a:solidFill>
                  <a:srgbClr val="14171A"/>
                </a:solidFill>
                <a:latin typeface="Courier New" pitchFamily="34" charset="0"/>
                <a:ea typeface="Courier New" pitchFamily="34" charset="-122"/>
                <a:cs typeface="Courier New" pitchFamily="34" charset="-120"/>
              </a:rPr>
              <a:t>Interpreter_Needed__c</a:t>
            </a:r>
            <a:endParaRPr lang="en-US" sz="1200" dirty="0"/>
          </a:p>
          <a:p>
            <a:pPr indent="0" marL="0">
              <a:spcAft>
                <a:spcPts val="700"/>
              </a:spcAft>
              <a:buNone/>
            </a:pPr>
            <a:r>
              <a:rPr lang="en-US" sz="1200" dirty="0">
                <a:solidFill>
                  <a:srgbClr val="14171A"/>
                </a:solidFill>
                <a:latin typeface="Courier New" pitchFamily="34" charset="0"/>
                <a:ea typeface="Courier New" pitchFamily="34" charset="-122"/>
                <a:cs typeface="Courier New" pitchFamily="34" charset="-120"/>
              </a:rPr>
              <a:t>Anonymous__c</a:t>
            </a:r>
            <a:endParaRPr lang="en-US" sz="1200" dirty="0"/>
          </a:p>
        </p:txBody>
      </p:sp>
      <p:sp>
        <p:nvSpPr>
          <p:cNvPr id="8" name="Shape 6"/>
          <p:cNvSpPr/>
          <p:nvPr/>
        </p:nvSpPr>
        <p:spPr>
          <a:xfrm>
            <a:off x="6355080" y="2103120"/>
            <a:ext cx="5029200" cy="2377440"/>
          </a:xfrm>
          <a:prstGeom prst="roundRect">
            <a:avLst>
              <a:gd name="adj" fmla="val 1923"/>
            </a:avLst>
          </a:prstGeom>
          <a:solidFill>
            <a:srgbClr val="FFFFFF"/>
          </a:solidFill>
          <a:ln w="19050">
            <a:solidFill>
              <a:srgbClr val="8A2F24"/>
            </a:solidFill>
            <a:prstDash val="solid"/>
          </a:ln>
        </p:spPr>
      </p:sp>
      <p:sp>
        <p:nvSpPr>
          <p:cNvPr id="9" name="Text 7"/>
          <p:cNvSpPr txBox="1"/>
          <p:nvPr/>
        </p:nvSpPr>
        <p:spPr>
          <a:xfrm>
            <a:off x="6537960" y="2240280"/>
            <a:ext cx="4663440" cy="274320"/>
          </a:xfrm>
          <a:prstGeom prst="rect">
            <a:avLst/>
          </a:prstGeom>
          <a:noFill/>
          <a:ln/>
        </p:spPr>
        <p:txBody>
          <a:bodyPr wrap="square" lIns="0" tIns="0" rIns="0" bIns="0" rtlCol="0" anchor="ctr"/>
          <a:lstStyle/>
          <a:p>
            <a:pPr indent="0" marL="0">
              <a:buNone/>
            </a:pPr>
            <a:r>
              <a:rPr lang="en-US" sz="1000" b="1" spc="150" kern="0" dirty="0">
                <a:solidFill>
                  <a:srgbClr val="8A2F24"/>
                </a:solidFill>
                <a:latin typeface="Courier New" pitchFamily="34" charset="0"/>
                <a:ea typeface="Courier New" pitchFamily="34" charset="-122"/>
                <a:cs typeface="Courier New" pitchFamily="34" charset="-120"/>
              </a:rPr>
              <a:t>ABSENT, AND ENFORCED ABSENT</a:t>
            </a:r>
            <a:endParaRPr lang="en-US" sz="1000" dirty="0"/>
          </a:p>
        </p:txBody>
      </p:sp>
      <p:sp>
        <p:nvSpPr>
          <p:cNvPr id="10" name="Text 8"/>
          <p:cNvSpPr txBox="1"/>
          <p:nvPr/>
        </p:nvSpPr>
        <p:spPr>
          <a:xfrm>
            <a:off x="6537960" y="2578608"/>
            <a:ext cx="4663440" cy="1828800"/>
          </a:xfrm>
          <a:prstGeom prst="rect">
            <a:avLst/>
          </a:prstGeom>
          <a:noFill/>
          <a:ln/>
        </p:spPr>
        <p:txBody>
          <a:bodyPr wrap="square" lIns="0" tIns="0" rIns="0" bIns="0" rtlCol="0" anchor="ctr"/>
          <a:lstStyle/>
          <a:p>
            <a:pPr indent="0" marL="0">
              <a:spcAft>
                <a:spcPts val="400"/>
              </a:spcAft>
              <a:buNone/>
            </a:pPr>
            <a:r>
              <a:rPr lang="en-US" sz="1200" strike="sngStrike" dirty="0">
                <a:solidFill>
                  <a:srgbClr val="8A2F24"/>
                </a:solidFill>
                <a:latin typeface="Courier New" pitchFamily="34" charset="0"/>
                <a:ea typeface="Courier New" pitchFamily="34" charset="-122"/>
                <a:cs typeface="Courier New" pitchFamily="34" charset="-120"/>
              </a:rPr>
              <a:t>Diagnosis__c</a:t>
            </a:r>
            <a:endParaRPr lang="en-US" sz="1200" dirty="0"/>
          </a:p>
          <a:p>
            <a:pPr indent="0" marL="0">
              <a:spcAft>
                <a:spcPts val="400"/>
              </a:spcAft>
              <a:buNone/>
            </a:pPr>
            <a:r>
              <a:rPr lang="en-US" sz="1200" strike="sngStrike" dirty="0">
                <a:solidFill>
                  <a:srgbClr val="8A2F24"/>
                </a:solidFill>
                <a:latin typeface="Courier New" pitchFamily="34" charset="0"/>
                <a:ea typeface="Courier New" pitchFamily="34" charset="-122"/>
                <a:cs typeface="Courier New" pitchFamily="34" charset="-120"/>
              </a:rPr>
              <a:t>Condition__c</a:t>
            </a:r>
            <a:endParaRPr lang="en-US" sz="1200" dirty="0"/>
          </a:p>
          <a:p>
            <a:pPr indent="0" marL="0">
              <a:spcAft>
                <a:spcPts val="400"/>
              </a:spcAft>
              <a:buNone/>
            </a:pPr>
            <a:r>
              <a:rPr lang="en-US" sz="1200" strike="sngStrike" dirty="0">
                <a:solidFill>
                  <a:srgbClr val="8A2F24"/>
                </a:solidFill>
                <a:latin typeface="Courier New" pitchFamily="34" charset="0"/>
                <a:ea typeface="Courier New" pitchFamily="34" charset="-122"/>
                <a:cs typeface="Courier New" pitchFamily="34" charset="-120"/>
              </a:rPr>
              <a:t>Disability_Type__c</a:t>
            </a:r>
            <a:endParaRPr lang="en-US" sz="1200" dirty="0"/>
          </a:p>
          <a:p>
            <a:pPr indent="0" marL="0">
              <a:spcAft>
                <a:spcPts val="400"/>
              </a:spcAft>
              <a:buNone/>
            </a:pPr>
            <a:r>
              <a:rPr lang="en-US" sz="1200" strike="sngStrike" dirty="0">
                <a:solidFill>
                  <a:srgbClr val="8A2F24"/>
                </a:solidFill>
                <a:latin typeface="Courier New" pitchFamily="34" charset="0"/>
                <a:ea typeface="Courier New" pitchFamily="34" charset="-122"/>
                <a:cs typeface="Courier New" pitchFamily="34" charset="-120"/>
              </a:rPr>
              <a:t>Medical_Note__c</a:t>
            </a:r>
            <a:endParaRPr lang="en-US" sz="1200" dirty="0"/>
          </a:p>
          <a:p>
            <a:pPr indent="0" marL="0">
              <a:spcAft>
                <a:spcPts val="400"/>
              </a:spcAft>
              <a:buNone/>
            </a:pPr>
            <a:r>
              <a:rPr lang="en-US" sz="1200" strike="sngStrike" dirty="0">
                <a:solidFill>
                  <a:srgbClr val="8A2F24"/>
                </a:solidFill>
                <a:latin typeface="Courier New" pitchFamily="34" charset="0"/>
                <a:ea typeface="Courier New" pitchFamily="34" charset="-122"/>
                <a:cs typeface="Courier New" pitchFamily="34" charset="-120"/>
              </a:rPr>
              <a:t>Severity__c</a:t>
            </a:r>
            <a:endParaRPr lang="en-US" sz="1200" dirty="0"/>
          </a:p>
          <a:p>
            <a:pPr indent="0" marL="0">
              <a:spcAft>
                <a:spcPts val="400"/>
              </a:spcAft>
              <a:buNone/>
            </a:pPr>
            <a:r>
              <a:rPr lang="en-US" sz="1200" strike="sngStrike" dirty="0">
                <a:solidFill>
                  <a:srgbClr val="8A2F24"/>
                </a:solidFill>
                <a:latin typeface="Courier New" pitchFamily="34" charset="0"/>
                <a:ea typeface="Courier New" pitchFamily="34" charset="-122"/>
                <a:cs typeface="Courier New" pitchFamily="34" charset="-120"/>
              </a:rPr>
              <a:t>Prognosis__c</a:t>
            </a:r>
            <a:endParaRPr lang="en-US" sz="1200" dirty="0"/>
          </a:p>
        </p:txBody>
      </p:sp>
      <p:sp>
        <p:nvSpPr>
          <p:cNvPr id="11" name="Text 9"/>
          <p:cNvSpPr txBox="1"/>
          <p:nvPr/>
        </p:nvSpPr>
        <p:spPr>
          <a:xfrm>
            <a:off x="777240" y="4663440"/>
            <a:ext cx="10515600" cy="365760"/>
          </a:xfrm>
          <a:prstGeom prst="rect">
            <a:avLst/>
          </a:prstGeom>
          <a:noFill/>
          <a:ln/>
        </p:spPr>
        <p:txBody>
          <a:bodyPr wrap="square" lIns="0" tIns="0" rIns="0" bIns="0" rtlCol="0" anchor="ctr"/>
          <a:lstStyle/>
          <a:p>
            <a:pPr indent="0" marL="0">
              <a:buNone/>
            </a:pPr>
            <a:r>
              <a:rPr lang="en-US" sz="1500" b="1" dirty="0">
                <a:solidFill>
                  <a:srgbClr val="14171A"/>
                </a:solidFill>
                <a:latin typeface="Calibri" pitchFamily="34" charset="0"/>
                <a:ea typeface="Calibri" pitchFamily="34" charset="-122"/>
                <a:cs typeface="Calibri" pitchFamily="34" charset="-120"/>
              </a:rPr>
              <a:t>0 matches across 61 fields in 9 objects. A build fails if anyone adds one.</a:t>
            </a:r>
            <a:endParaRPr lang="en-US" sz="1500" dirty="0"/>
          </a:p>
        </p:txBody>
      </p:sp>
      <p:sp>
        <p:nvSpPr>
          <p:cNvPr id="12" name="Text 10"/>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Encryption defends against outsiders. Absence defends against the organisation holding the data, which is the actual adversary. A manager with legitimate access can still read an encrypted field.</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A9B0B6"/>
                </a:solidFill>
                <a:latin typeface="Courier New" pitchFamily="34" charset="0"/>
                <a:ea typeface="Courier New" pitchFamily="34" charset="-122"/>
                <a:cs typeface="Courier New" pitchFamily="34" charset="-120"/>
              </a:rPr>
              <a:t>03  THE BUILD  |  THE REFUSAL</a:t>
            </a:r>
            <a:endParaRPr lang="en-US" sz="950" dirty="0"/>
          </a:p>
        </p:txBody>
      </p:sp>
      <p:sp>
        <p:nvSpPr>
          <p:cNvPr id="3" name="Text 1"/>
          <p:cNvSpPr txBox="1"/>
          <p:nvPr/>
        </p:nvSpPr>
        <p:spPr>
          <a:xfrm>
            <a:off x="777240" y="914400"/>
            <a:ext cx="10515600" cy="457200"/>
          </a:xfrm>
          <a:prstGeom prst="rect">
            <a:avLst/>
          </a:prstGeom>
          <a:noFill/>
          <a:ln/>
        </p:spPr>
        <p:txBody>
          <a:bodyPr wrap="square" lIns="0" tIns="0" rIns="0" bIns="0" rtlCol="0" anchor="ctr"/>
          <a:lstStyle/>
          <a:p>
            <a:pPr indent="0" marL="0">
              <a:buNone/>
            </a:pPr>
            <a:r>
              <a:rPr lang="en-US" sz="1550" dirty="0">
                <a:solidFill>
                  <a:srgbClr val="A9B0B6"/>
                </a:solidFill>
                <a:latin typeface="Calibri" pitchFamily="34" charset="0"/>
                <a:ea typeface="Calibri" pitchFamily="34" charset="-122"/>
                <a:cs typeface="Calibri" pitchFamily="34" charset="-120"/>
              </a:rPr>
              <a:t>Her manager asks the system what is wrong with her.</a:t>
            </a:r>
            <a:endParaRPr lang="en-US" sz="1550" dirty="0"/>
          </a:p>
        </p:txBody>
      </p:sp>
      <p:sp>
        <p:nvSpPr>
          <p:cNvPr id="4" name="Text 2"/>
          <p:cNvSpPr txBox="1"/>
          <p:nvPr/>
        </p:nvSpPr>
        <p:spPr>
          <a:xfrm>
            <a:off x="777240" y="1554480"/>
            <a:ext cx="10515600" cy="822960"/>
          </a:xfrm>
          <a:prstGeom prst="rect">
            <a:avLst/>
          </a:prstGeom>
          <a:noFill/>
          <a:ln/>
        </p:spPr>
        <p:txBody>
          <a:bodyPr wrap="square" lIns="0" tIns="0" rIns="0" bIns="0" rtlCol="0" anchor="ctr"/>
          <a:lstStyle/>
          <a:p>
            <a:pPr indent="0" marL="0">
              <a:buNone/>
            </a:pPr>
            <a:r>
              <a:rPr lang="en-US" sz="3100" b="1" dirty="0">
                <a:solidFill>
                  <a:srgbClr val="F7F5EF"/>
                </a:solidFill>
                <a:latin typeface="Cambria" pitchFamily="34" charset="0"/>
                <a:ea typeface="Cambria" pitchFamily="34" charset="-122"/>
                <a:cs typeface="Cambria" pitchFamily="34" charset="-120"/>
              </a:rPr>
              <a:t>"No. And not because of a permission setting."</a:t>
            </a:r>
            <a:endParaRPr lang="en-US" sz="3100" dirty="0"/>
          </a:p>
        </p:txBody>
      </p:sp>
      <p:sp>
        <p:nvSpPr>
          <p:cNvPr id="5" name="Text 3"/>
          <p:cNvSpPr txBox="1"/>
          <p:nvPr/>
        </p:nvSpPr>
        <p:spPr>
          <a:xfrm>
            <a:off x="777240" y="2606040"/>
            <a:ext cx="10332720" cy="1371600"/>
          </a:xfrm>
          <a:prstGeom prst="rect">
            <a:avLst/>
          </a:prstGeom>
          <a:noFill/>
          <a:ln/>
        </p:spPr>
        <p:txBody>
          <a:bodyPr wrap="square" lIns="0" tIns="0" rIns="0" bIns="0" rtlCol="0" anchor="ctr"/>
          <a:lstStyle/>
          <a:p>
            <a:pPr indent="0" marL="0">
              <a:buNone/>
            </a:pPr>
            <a:r>
              <a:rPr lang="en-US" sz="1550" dirty="0">
                <a:solidFill>
                  <a:srgbClr val="D8DAD6"/>
                </a:solidFill>
                <a:latin typeface="Calibri" pitchFamily="34" charset="0"/>
                <a:ea typeface="Calibri" pitchFamily="34" charset="-122"/>
                <a:cs typeface="Calibri" pitchFamily="34" charset="-120"/>
              </a:rPr>
              <a:t>There's no field for a diagnosis, condition, disability type, medical note, severity or prognosis anywhere in this system. Nobody holds that, including the person who built it, and the person you are helping was never asked.</a:t>
            </a:r>
            <a:endParaRPr lang="en-US" sz="1550" dirty="0"/>
          </a:p>
        </p:txBody>
      </p:sp>
      <p:sp>
        <p:nvSpPr>
          <p:cNvPr id="6" name="Text 4"/>
          <p:cNvSpPr txBox="1"/>
          <p:nvPr/>
        </p:nvSpPr>
        <p:spPr>
          <a:xfrm>
            <a:off x="777240" y="4206240"/>
            <a:ext cx="10332720" cy="914400"/>
          </a:xfrm>
          <a:prstGeom prst="rect">
            <a:avLst/>
          </a:prstGeom>
          <a:noFill/>
          <a:ln/>
        </p:spPr>
        <p:txBody>
          <a:bodyPr wrap="square" lIns="0" tIns="0" rIns="0" bIns="0" rtlCol="0" anchor="ctr"/>
          <a:lstStyle/>
          <a:p>
            <a:pPr indent="0" marL="0">
              <a:buNone/>
            </a:pPr>
            <a:r>
              <a:rPr lang="en-US" sz="1850" i="1" dirty="0">
                <a:solidFill>
                  <a:srgbClr val="E8C87A"/>
                </a:solidFill>
                <a:latin typeface="Cambria" pitchFamily="34" charset="0"/>
                <a:ea typeface="Cambria" pitchFamily="34" charset="-122"/>
                <a:cs typeface="Cambria" pitchFamily="34" charset="-120"/>
              </a:rPr>
              <a:t>"A manager who asks you gets the same answer, and you can tell them it came from the system rather than from you."</a:t>
            </a:r>
            <a:endParaRPr lang="en-US" sz="1850" dirty="0"/>
          </a:p>
        </p:txBody>
      </p:sp>
      <p:sp>
        <p:nvSpPr>
          <p:cNvPr id="7" name="Text 5"/>
          <p:cNvSpPr txBox="1"/>
          <p:nvPr/>
        </p:nvSpPr>
        <p:spPr>
          <a:xfrm>
            <a:off x="777240" y="5577840"/>
            <a:ext cx="10058400" cy="365760"/>
          </a:xfrm>
          <a:prstGeom prst="rect">
            <a:avLst/>
          </a:prstGeom>
          <a:noFill/>
          <a:ln/>
        </p:spPr>
        <p:txBody>
          <a:bodyPr wrap="square" lIns="0" tIns="0" rIns="0" bIns="0" rtlCol="0" anchor="ctr"/>
          <a:lstStyle/>
          <a:p>
            <a:pPr indent="0" marL="0">
              <a:buNone/>
            </a:pPr>
            <a:r>
              <a:rPr lang="en-US" sz="1250" dirty="0">
                <a:solidFill>
                  <a:srgbClr val="A9B0B6"/>
                </a:solidFill>
                <a:latin typeface="Courier New" pitchFamily="34" charset="0"/>
                <a:ea typeface="Courier New" pitchFamily="34" charset="-122"/>
                <a:cs typeface="Courier New" pitchFamily="34" charset="-120"/>
              </a:rPr>
              <a:t>The refusal protects the person answering, too. That clause took longest to get right.</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777240" y="2286000"/>
            <a:ext cx="1828800" cy="914400"/>
          </a:xfrm>
          <a:prstGeom prst="rect">
            <a:avLst/>
          </a:prstGeom>
          <a:noFill/>
          <a:ln/>
        </p:spPr>
        <p:txBody>
          <a:bodyPr wrap="square" lIns="0" tIns="0" rIns="0" bIns="0" rtlCol="0" anchor="ctr"/>
          <a:lstStyle/>
          <a:p>
            <a:pPr indent="0" marL="0">
              <a:buNone/>
            </a:pPr>
            <a:r>
              <a:rPr lang="en-US" sz="4800" b="1" dirty="0">
                <a:solidFill>
                  <a:srgbClr val="E8C87A"/>
                </a:solidFill>
                <a:latin typeface="Courier New" pitchFamily="34" charset="0"/>
                <a:ea typeface="Courier New" pitchFamily="34" charset="-122"/>
                <a:cs typeface="Courier New" pitchFamily="34" charset="-120"/>
              </a:rPr>
              <a:t>04</a:t>
            </a:r>
            <a:endParaRPr lang="en-US" sz="4800" dirty="0"/>
          </a:p>
        </p:txBody>
      </p:sp>
      <p:sp>
        <p:nvSpPr>
          <p:cNvPr id="3" name="Text 1"/>
          <p:cNvSpPr txBox="1"/>
          <p:nvPr/>
        </p:nvSpPr>
        <p:spPr>
          <a:xfrm>
            <a:off x="777240" y="3154680"/>
            <a:ext cx="10058400" cy="822960"/>
          </a:xfrm>
          <a:prstGeom prst="rect">
            <a:avLst/>
          </a:prstGeom>
          <a:noFill/>
          <a:ln/>
        </p:spPr>
        <p:txBody>
          <a:bodyPr wrap="square" lIns="0" tIns="0" rIns="0" bIns="0" rtlCol="0" anchor="ctr"/>
          <a:lstStyle/>
          <a:p>
            <a:pPr indent="0" marL="0">
              <a:buNone/>
            </a:pPr>
            <a:r>
              <a:rPr lang="en-US" sz="4100" b="1" dirty="0">
                <a:solidFill>
                  <a:srgbClr val="F7F5EF"/>
                </a:solidFill>
                <a:latin typeface="Cambria" pitchFamily="34" charset="0"/>
                <a:ea typeface="Cambria" pitchFamily="34" charset="-122"/>
                <a:cs typeface="Cambria" pitchFamily="34" charset="-120"/>
              </a:rPr>
              <a:t>The honest part</a:t>
            </a:r>
            <a:endParaRPr lang="en-US" sz="4100" dirty="0"/>
          </a:p>
        </p:txBody>
      </p:sp>
      <p:sp>
        <p:nvSpPr>
          <p:cNvPr id="4" name="Text 2"/>
          <p:cNvSpPr txBox="1"/>
          <p:nvPr/>
        </p:nvSpPr>
        <p:spPr>
          <a:xfrm>
            <a:off x="777240" y="4114800"/>
            <a:ext cx="9144000" cy="457200"/>
          </a:xfrm>
          <a:prstGeom prst="rect">
            <a:avLst/>
          </a:prstGeom>
          <a:noFill/>
          <a:ln/>
        </p:spPr>
        <p:txBody>
          <a:bodyPr wrap="square" lIns="0" tIns="0" rIns="0" bIns="0" rtlCol="0" anchor="ctr"/>
          <a:lstStyle/>
          <a:p>
            <a:pPr indent="0" marL="0">
              <a:buNone/>
            </a:pPr>
            <a:r>
              <a:rPr lang="en-US" sz="1600" dirty="0">
                <a:solidFill>
                  <a:srgbClr val="A9B0B6"/>
                </a:solidFill>
                <a:latin typeface="Calibri" pitchFamily="34" charset="0"/>
                <a:ea typeface="Calibri" pitchFamily="34" charset="-122"/>
                <a:cs typeface="Calibri" pitchFamily="34" charset="-120"/>
              </a:rPr>
              <a:t>What we shipped wrong, and what still fails.</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8A2F24"/>
                </a:solidFill>
                <a:latin typeface="Courier New" pitchFamily="34" charset="0"/>
                <a:ea typeface="Courier New" pitchFamily="34" charset="-122"/>
                <a:cs typeface="Courier New" pitchFamily="34" charset="-120"/>
              </a:rPr>
              <a:t>04  THE HONEST PART</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Three things we shipped that were wrong.</a:t>
            </a:r>
            <a:endParaRPr lang="en-US" sz="3300" dirty="0"/>
          </a:p>
        </p:txBody>
      </p:sp>
      <p:sp>
        <p:nvSpPr>
          <p:cNvPr id="4" name="Shape 2"/>
          <p:cNvSpPr/>
          <p:nvPr/>
        </p:nvSpPr>
        <p:spPr>
          <a:xfrm>
            <a:off x="777240" y="1783080"/>
            <a:ext cx="54864" cy="1051560"/>
          </a:xfrm>
          <a:prstGeom prst="rect">
            <a:avLst/>
          </a:prstGeom>
          <a:solidFill>
            <a:srgbClr val="8A2F24"/>
          </a:solidFill>
          <a:ln w="12700">
            <a:solidFill>
              <a:srgbClr val="8A2F24"/>
            </a:solidFill>
            <a:prstDash val="solid"/>
          </a:ln>
        </p:spPr>
      </p:sp>
      <p:sp>
        <p:nvSpPr>
          <p:cNvPr id="5" name="Text 3"/>
          <p:cNvSpPr txBox="1"/>
          <p:nvPr/>
        </p:nvSpPr>
        <p:spPr>
          <a:xfrm>
            <a:off x="1051560" y="1783080"/>
            <a:ext cx="3108960" cy="457200"/>
          </a:xfrm>
          <a:prstGeom prst="rect">
            <a:avLst/>
          </a:prstGeom>
          <a:noFill/>
          <a:ln/>
        </p:spPr>
        <p:txBody>
          <a:bodyPr wrap="square" lIns="0" tIns="0" rIns="0" bIns="0" rtlCol="0" anchor="ctr"/>
          <a:lstStyle/>
          <a:p>
            <a:pPr indent="0" marL="0">
              <a:buNone/>
            </a:pPr>
            <a:r>
              <a:rPr lang="en-US" sz="1500" b="1" dirty="0">
                <a:solidFill>
                  <a:srgbClr val="8A2F24"/>
                </a:solidFill>
                <a:latin typeface="Cambria" pitchFamily="34" charset="0"/>
                <a:ea typeface="Cambria" pitchFamily="34" charset="-122"/>
                <a:cs typeface="Cambria" pitchFamily="34" charset="-120"/>
              </a:rPr>
              <a:t>OFF did nothing.</a:t>
            </a:r>
            <a:endParaRPr lang="en-US" sz="1500" dirty="0"/>
          </a:p>
        </p:txBody>
      </p:sp>
      <p:sp>
        <p:nvSpPr>
          <p:cNvPr id="6" name="Text 4"/>
          <p:cNvSpPr txBox="1"/>
          <p:nvPr/>
        </p:nvSpPr>
        <p:spPr>
          <a:xfrm>
            <a:off x="4343400" y="1783080"/>
            <a:ext cx="7040880" cy="1078992"/>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Six control words were printed in our own copy and routed nowhere. The word that withdraws a disclosure returned "I don't have good information on that", and the sharing stayed on.</a:t>
            </a:r>
            <a:endParaRPr lang="en-US" sz="1200" dirty="0"/>
          </a:p>
        </p:txBody>
      </p:sp>
      <p:sp>
        <p:nvSpPr>
          <p:cNvPr id="7" name="Shape 5"/>
          <p:cNvSpPr/>
          <p:nvPr/>
        </p:nvSpPr>
        <p:spPr>
          <a:xfrm>
            <a:off x="777240" y="3081528"/>
            <a:ext cx="54864" cy="1051560"/>
          </a:xfrm>
          <a:prstGeom prst="rect">
            <a:avLst/>
          </a:prstGeom>
          <a:solidFill>
            <a:srgbClr val="8A2F24"/>
          </a:solidFill>
          <a:ln w="12700">
            <a:solidFill>
              <a:srgbClr val="8A2F24"/>
            </a:solidFill>
            <a:prstDash val="solid"/>
          </a:ln>
        </p:spPr>
      </p:sp>
      <p:sp>
        <p:nvSpPr>
          <p:cNvPr id="8" name="Text 6"/>
          <p:cNvSpPr txBox="1"/>
          <p:nvPr/>
        </p:nvSpPr>
        <p:spPr>
          <a:xfrm>
            <a:off x="1051560" y="3081528"/>
            <a:ext cx="3108960" cy="457200"/>
          </a:xfrm>
          <a:prstGeom prst="rect">
            <a:avLst/>
          </a:prstGeom>
          <a:noFill/>
          <a:ln/>
        </p:spPr>
        <p:txBody>
          <a:bodyPr wrap="square" lIns="0" tIns="0" rIns="0" bIns="0" rtlCol="0" anchor="ctr"/>
          <a:lstStyle/>
          <a:p>
            <a:pPr indent="0" marL="0">
              <a:buNone/>
            </a:pPr>
            <a:r>
              <a:rPr lang="en-US" sz="1500" b="1" dirty="0">
                <a:solidFill>
                  <a:srgbClr val="8A2F24"/>
                </a:solidFill>
                <a:latin typeface="Cambria" pitchFamily="34" charset="0"/>
                <a:ea typeface="Cambria" pitchFamily="34" charset="-122"/>
                <a:cs typeface="Cambria" pitchFamily="34" charset="-120"/>
              </a:rPr>
              <a:t>The privacy policy was false.</a:t>
            </a:r>
            <a:endParaRPr lang="en-US" sz="1500" dirty="0"/>
          </a:p>
        </p:txBody>
      </p:sp>
      <p:sp>
        <p:nvSpPr>
          <p:cNvPr id="9" name="Text 7"/>
          <p:cNvSpPr txBox="1"/>
          <p:nvPr/>
        </p:nvSpPr>
        <p:spPr>
          <a:xfrm>
            <a:off x="4343400" y="3081528"/>
            <a:ext cx="7040880" cy="1078992"/>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It said a volunteered condition "isn't written to any record". It was stored word for word. Now stripped before the insert, with the claim rewritten to state its limit.</a:t>
            </a:r>
            <a:endParaRPr lang="en-US" sz="1200" dirty="0"/>
          </a:p>
        </p:txBody>
      </p:sp>
      <p:sp>
        <p:nvSpPr>
          <p:cNvPr id="10" name="Shape 8"/>
          <p:cNvSpPr/>
          <p:nvPr/>
        </p:nvSpPr>
        <p:spPr>
          <a:xfrm>
            <a:off x="777240" y="4379976"/>
            <a:ext cx="54864" cy="1051560"/>
          </a:xfrm>
          <a:prstGeom prst="rect">
            <a:avLst/>
          </a:prstGeom>
          <a:solidFill>
            <a:srgbClr val="8A2F24"/>
          </a:solidFill>
          <a:ln w="12700">
            <a:solidFill>
              <a:srgbClr val="8A2F24"/>
            </a:solidFill>
            <a:prstDash val="solid"/>
          </a:ln>
        </p:spPr>
      </p:sp>
      <p:sp>
        <p:nvSpPr>
          <p:cNvPr id="11" name="Text 9"/>
          <p:cNvSpPr txBox="1"/>
          <p:nvPr/>
        </p:nvSpPr>
        <p:spPr>
          <a:xfrm>
            <a:off x="1051560" y="4379976"/>
            <a:ext cx="3108960" cy="457200"/>
          </a:xfrm>
          <a:prstGeom prst="rect">
            <a:avLst/>
          </a:prstGeom>
          <a:noFill/>
          <a:ln/>
        </p:spPr>
        <p:txBody>
          <a:bodyPr wrap="square" lIns="0" tIns="0" rIns="0" bIns="0" rtlCol="0" anchor="ctr"/>
          <a:lstStyle/>
          <a:p>
            <a:pPr indent="0" marL="0">
              <a:buNone/>
            </a:pPr>
            <a:r>
              <a:rPr lang="en-US" sz="1500" b="1" dirty="0">
                <a:solidFill>
                  <a:srgbClr val="8A2F24"/>
                </a:solidFill>
                <a:latin typeface="Cambria" pitchFamily="34" charset="0"/>
                <a:ea typeface="Cambria" pitchFamily="34" charset="-122"/>
                <a:cs typeface="Cambria" pitchFamily="34" charset="-120"/>
              </a:rPr>
              <a:t>Silence read as success.</a:t>
            </a:r>
            <a:endParaRPr lang="en-US" sz="1500" dirty="0"/>
          </a:p>
        </p:txBody>
      </p:sp>
      <p:sp>
        <p:nvSpPr>
          <p:cNvPr id="12" name="Text 10"/>
          <p:cNvSpPr txBox="1"/>
          <p:nvPr/>
        </p:nvSpPr>
        <p:spPr>
          <a:xfrm>
            <a:off x="4343400" y="4379976"/>
            <a:ext cx="7040880" cy="1078992"/>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Our adversarial scorer exited zero with every assertion inconclusive. It printed "silence must never read as success" and then did exactly that.</a:t>
            </a:r>
            <a:endParaRPr lang="en-US" sz="1200" dirty="0"/>
          </a:p>
        </p:txBody>
      </p:sp>
      <p:sp>
        <p:nvSpPr>
          <p:cNvPr id="13" name="Text 11"/>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Five checks now fail the build if any of these comes back: advertised-keyword-is-routed, kindness, privacy-page-does-not-overclaim, redaction-spares-identity-words, adversarial-silence-is-not-success.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04  THE HONEST PART</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The tool couldn't decide the thing that mattered.</a:t>
            </a:r>
            <a:endParaRPr lang="en-US" sz="3300" dirty="0"/>
          </a:p>
        </p:txBody>
      </p:sp>
      <p:sp>
        <p:nvSpPr>
          <p:cNvPr id="4" name="Shape 2"/>
          <p:cNvSpPr/>
          <p:nvPr/>
        </p:nvSpPr>
        <p:spPr>
          <a:xfrm>
            <a:off x="777240" y="1755648"/>
            <a:ext cx="5257800" cy="1965960"/>
          </a:xfrm>
          <a:prstGeom prst="roundRect">
            <a:avLst>
              <a:gd name="adj" fmla="val 2326"/>
            </a:avLst>
          </a:prstGeom>
          <a:solidFill>
            <a:srgbClr val="FFFFFF"/>
          </a:solidFill>
          <a:ln w="19050">
            <a:solidFill>
              <a:srgbClr val="1F5546"/>
            </a:solidFill>
            <a:prstDash val="solid"/>
          </a:ln>
        </p:spPr>
      </p:sp>
      <p:sp>
        <p:nvSpPr>
          <p:cNvPr id="5" name="Text 3"/>
          <p:cNvSpPr txBox="1"/>
          <p:nvPr/>
        </p:nvSpPr>
        <p:spPr>
          <a:xfrm>
            <a:off x="1033272" y="1938528"/>
            <a:ext cx="4754880" cy="329184"/>
          </a:xfrm>
          <a:prstGeom prst="rect">
            <a:avLst/>
          </a:prstGeom>
          <a:noFill/>
          <a:ln/>
        </p:spPr>
        <p:txBody>
          <a:bodyPr wrap="square" lIns="0" tIns="0" rIns="0" bIns="0" rtlCol="0" anchor="ctr"/>
          <a:lstStyle/>
          <a:p>
            <a:pPr indent="0" marL="0">
              <a:buNone/>
            </a:pPr>
            <a:r>
              <a:rPr lang="en-US" sz="1450" b="1" dirty="0">
                <a:solidFill>
                  <a:srgbClr val="1F5546"/>
                </a:solidFill>
                <a:latin typeface="Cambria" pitchFamily="34" charset="0"/>
                <a:ea typeface="Cambria" pitchFamily="34" charset="-122"/>
                <a:cs typeface="Cambria" pitchFamily="34" charset="-120"/>
              </a:rPr>
              <a:t>What it passed</a:t>
            </a:r>
            <a:endParaRPr lang="en-US" sz="1450" dirty="0"/>
          </a:p>
        </p:txBody>
      </p:sp>
      <p:sp>
        <p:nvSpPr>
          <p:cNvPr id="6" name="Text 4"/>
          <p:cNvSpPr txBox="1"/>
          <p:nvPr/>
        </p:nvSpPr>
        <p:spPr>
          <a:xfrm>
            <a:off x="1033272" y="2359152"/>
            <a:ext cx="4754880" cy="1188720"/>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Sa11y, Salesforce’s own axe-core matcher, reached through the lwc-experts toolset in the DX MCP server. Twelve component states, 131 checks, zero WCAG violations, against the 100-rule preset rather than the 64-rule default.</a:t>
            </a:r>
            <a:endParaRPr lang="en-US" sz="1200" dirty="0"/>
          </a:p>
        </p:txBody>
      </p:sp>
      <p:sp>
        <p:nvSpPr>
          <p:cNvPr id="7" name="Shape 5"/>
          <p:cNvSpPr/>
          <p:nvPr/>
        </p:nvSpPr>
        <p:spPr>
          <a:xfrm>
            <a:off x="6400800" y="1755648"/>
            <a:ext cx="4983480" cy="1965960"/>
          </a:xfrm>
          <a:prstGeom prst="roundRect">
            <a:avLst>
              <a:gd name="adj" fmla="val 2326"/>
            </a:avLst>
          </a:prstGeom>
          <a:solidFill>
            <a:srgbClr val="FFFFFF"/>
          </a:solidFill>
          <a:ln w="19050">
            <a:solidFill>
              <a:srgbClr val="8A2F24"/>
            </a:solidFill>
            <a:prstDash val="solid"/>
          </a:ln>
        </p:spPr>
      </p:sp>
      <p:sp>
        <p:nvSpPr>
          <p:cNvPr id="8" name="Text 6"/>
          <p:cNvSpPr txBox="1"/>
          <p:nvPr/>
        </p:nvSpPr>
        <p:spPr>
          <a:xfrm>
            <a:off x="6656832" y="1938528"/>
            <a:ext cx="4480560" cy="329184"/>
          </a:xfrm>
          <a:prstGeom prst="rect">
            <a:avLst/>
          </a:prstGeom>
          <a:noFill/>
          <a:ln/>
        </p:spPr>
        <p:txBody>
          <a:bodyPr wrap="square" lIns="0" tIns="0" rIns="0" bIns="0" rtlCol="0" anchor="ctr"/>
          <a:lstStyle/>
          <a:p>
            <a:pPr indent="0" marL="0">
              <a:buNone/>
            </a:pPr>
            <a:r>
              <a:rPr lang="en-US" sz="1450" b="1" dirty="0">
                <a:solidFill>
                  <a:srgbClr val="8A2F24"/>
                </a:solidFill>
                <a:latin typeface="Cambria" pitchFamily="34" charset="0"/>
                <a:ea typeface="Cambria" pitchFamily="34" charset="-122"/>
                <a:cs typeface="Cambria" pitchFamily="34" charset="-120"/>
              </a:rPr>
              <a:t>What it returned instead</a:t>
            </a:r>
            <a:endParaRPr lang="en-US" sz="1450" dirty="0"/>
          </a:p>
        </p:txBody>
      </p:sp>
      <p:sp>
        <p:nvSpPr>
          <p:cNvPr id="9" name="Text 7"/>
          <p:cNvSpPr txBox="1"/>
          <p:nvPr/>
        </p:nvSpPr>
        <p:spPr>
          <a:xfrm>
            <a:off x="6656832" y="2359152"/>
            <a:ext cx="4480560" cy="1188720"/>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On the signed video, WCAG 1.2.2 came back incomplete, not pass. Inside a test runner axe can't inspect media. So it couldn't settle it. A person using a screen reader would have settled it immediately.</a:t>
            </a:r>
            <a:endParaRPr lang="en-US" sz="1200" dirty="0"/>
          </a:p>
        </p:txBody>
      </p:sp>
      <p:sp>
        <p:nvSpPr>
          <p:cNvPr id="10" name="Text 8"/>
          <p:cNvSpPr txBox="1"/>
          <p:nvPr/>
        </p:nvSpPr>
        <p:spPr>
          <a:xfrm>
            <a:off x="777240" y="3950208"/>
            <a:ext cx="10607040" cy="804672"/>
          </a:xfrm>
          <a:prstGeom prst="rect">
            <a:avLst/>
          </a:prstGeom>
          <a:noFill/>
          <a:ln/>
        </p:spPr>
        <p:txBody>
          <a:bodyPr wrap="square" lIns="0" tIns="0" rIns="0" bIns="0" rtlCol="0" anchor="ctr"/>
          <a:lstStyle/>
          <a:p>
            <a:pPr indent="0" marL="0">
              <a:buNone/>
            </a:pPr>
            <a:r>
              <a:rPr lang="en-US" sz="1350" dirty="0">
                <a:solidFill>
                  <a:srgbClr val="42474C"/>
                </a:solidFill>
                <a:latin typeface="Calibri" pitchFamily="34" charset="0"/>
                <a:ea typeface="Calibri" pitchFamily="34" charset="-122"/>
                <a:cs typeface="Calibri" pitchFamily="34" charset="-120"/>
              </a:rPr>
              <a:t>The obvious remedy was the forbidden one. That video is usually a Deaf person signing, and a machine caption would put words in somebody’s mouth about their own body, then file them. So the video now says so itself, to the person who can't watch it:</a:t>
            </a:r>
            <a:endParaRPr lang="en-US" sz="1350" dirty="0"/>
          </a:p>
        </p:txBody>
      </p:sp>
      <p:sp>
        <p:nvSpPr>
          <p:cNvPr id="11" name="Shape 9"/>
          <p:cNvSpPr/>
          <p:nvPr/>
        </p:nvSpPr>
        <p:spPr>
          <a:xfrm>
            <a:off x="777240" y="4864608"/>
            <a:ext cx="54864" cy="658368"/>
          </a:xfrm>
          <a:prstGeom prst="rect">
            <a:avLst/>
          </a:prstGeom>
          <a:solidFill>
            <a:srgbClr val="C9A227"/>
          </a:solidFill>
          <a:ln w="12700">
            <a:solidFill>
              <a:srgbClr val="C9A227"/>
            </a:solidFill>
            <a:prstDash val="solid"/>
          </a:ln>
        </p:spPr>
      </p:sp>
      <p:sp>
        <p:nvSpPr>
          <p:cNvPr id="12" name="Text 10"/>
          <p:cNvSpPr txBox="1"/>
          <p:nvPr/>
        </p:nvSpPr>
        <p:spPr>
          <a:xfrm>
            <a:off x="1033272" y="4864608"/>
            <a:ext cx="10332720" cy="658368"/>
          </a:xfrm>
          <a:prstGeom prst="rect">
            <a:avLst/>
          </a:prstGeom>
          <a:noFill/>
          <a:ln/>
        </p:spPr>
        <p:txBody>
          <a:bodyPr wrap="square" lIns="0" tIns="0" rIns="0" bIns="0" rtlCol="0" anchor="ctr"/>
          <a:lstStyle/>
          <a:p>
            <a:pPr indent="0" marL="0">
              <a:buNone/>
            </a:pPr>
            <a:r>
              <a:rPr lang="en-US" sz="1600" i="1" dirty="0">
                <a:solidFill>
                  <a:srgbClr val="14171A"/>
                </a:solidFill>
                <a:latin typeface="Cambria" pitchFamily="34" charset="0"/>
                <a:ea typeface="Cambria" pitchFamily="34" charset="-122"/>
                <a:cs typeface="Cambria" pitchFamily="34" charset="-120"/>
              </a:rPr>
              <a:t>“No captions and no transcript, and none will be generated. This is waiting on a human interpreter.”</a:t>
            </a:r>
            <a:endParaRPr lang="en-US" sz="1600" dirty="0"/>
          </a:p>
        </p:txBody>
      </p:sp>
      <p:sp>
        <p:nvSpPr>
          <p:cNvPr id="13" name="Text 11"/>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axe returned incomplete on colour contrast because jsdom has no canvas. We measured contrast ourselves instead: 28 pairs, all passing.</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04  THE HONEST PART</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Our own repository couldn't rebuild us.</a:t>
            </a:r>
            <a:endParaRPr lang="en-US" sz="3300" dirty="0"/>
          </a:p>
        </p:txBody>
      </p:sp>
      <p:sp>
        <p:nvSpPr>
          <p:cNvPr id="4" name="Text 2"/>
          <p:cNvSpPr txBox="1"/>
          <p:nvPr/>
        </p:nvSpPr>
        <p:spPr>
          <a:xfrm>
            <a:off x="777240" y="1719072"/>
            <a:ext cx="10607040" cy="658368"/>
          </a:xfrm>
          <a:prstGeom prst="rect">
            <a:avLst/>
          </a:prstGeom>
          <a:noFill/>
          <a:ln/>
        </p:spPr>
        <p:txBody>
          <a:bodyPr wrap="square" lIns="0" tIns="0" rIns="0" bIns="0" rtlCol="0" anchor="ctr"/>
          <a:lstStyle/>
          <a:p>
            <a:pPr indent="0" marL="0">
              <a:buNone/>
            </a:pPr>
            <a:r>
              <a:rPr lang="en-US" sz="1350" dirty="0">
                <a:solidFill>
                  <a:srgbClr val="42474C"/>
                </a:solidFill>
                <a:latin typeface="Calibri" pitchFamily="34" charset="0"/>
                <a:ea typeface="Calibri" pitchFamily="34" charset="-122"/>
                <a:cs typeface="Calibri" pitchFamily="34" charset="-120"/>
              </a:rPr>
              <a:t>No Salesforce tool is published as an RAI Self Check, so we ran the same exercise against Salesforce’s own five guidelines for responsible agentic AI, as something anybody can execute and disagree with.</a:t>
            </a:r>
            <a:endParaRPr lang="en-US" sz="1350" dirty="0"/>
          </a:p>
        </p:txBody>
      </p:sp>
      <p:sp>
        <p:nvSpPr>
          <p:cNvPr id="5" name="Shape 3"/>
          <p:cNvSpPr/>
          <p:nvPr/>
        </p:nvSpPr>
        <p:spPr>
          <a:xfrm>
            <a:off x="777240" y="2487168"/>
            <a:ext cx="1975104" cy="457200"/>
          </a:xfrm>
          <a:prstGeom prst="rect">
            <a:avLst/>
          </a:prstGeom>
          <a:solidFill>
            <a:srgbClr val="E7E3D8"/>
          </a:solidFill>
          <a:ln w="12700">
            <a:solidFill>
              <a:srgbClr val="D3CEC0"/>
            </a:solidFill>
            <a:prstDash val="solid"/>
          </a:ln>
        </p:spPr>
      </p:sp>
      <p:sp>
        <p:nvSpPr>
          <p:cNvPr id="6" name="Text 4"/>
          <p:cNvSpPr txBox="1"/>
          <p:nvPr/>
        </p:nvSpPr>
        <p:spPr>
          <a:xfrm>
            <a:off x="777240" y="2615184"/>
            <a:ext cx="1975104" cy="256032"/>
          </a:xfrm>
          <a:prstGeom prst="rect">
            <a:avLst/>
          </a:prstGeom>
          <a:noFill/>
          <a:ln/>
        </p:spPr>
        <p:txBody>
          <a:bodyPr wrap="square" lIns="0" tIns="0" rIns="0" bIns="0" rtlCol="0" anchor="ctr"/>
          <a:lstStyle/>
          <a:p>
            <a:pPr algn="ctr" indent="0" marL="0">
              <a:buNone/>
            </a:pPr>
            <a:r>
              <a:rPr lang="en-US" sz="860" b="1" spc="60" kern="0" dirty="0">
                <a:solidFill>
                  <a:srgbClr val="14171A"/>
                </a:solidFill>
                <a:latin typeface="Courier New" pitchFamily="34" charset="0"/>
                <a:ea typeface="Courier New" pitchFamily="34" charset="-122"/>
                <a:cs typeface="Courier New" pitchFamily="34" charset="-120"/>
              </a:rPr>
              <a:t>ACCURACY</a:t>
            </a:r>
            <a:endParaRPr lang="en-US" sz="860" dirty="0"/>
          </a:p>
        </p:txBody>
      </p:sp>
      <p:sp>
        <p:nvSpPr>
          <p:cNvPr id="7" name="Shape 5"/>
          <p:cNvSpPr/>
          <p:nvPr/>
        </p:nvSpPr>
        <p:spPr>
          <a:xfrm>
            <a:off x="2907792" y="2487168"/>
            <a:ext cx="1975104" cy="457200"/>
          </a:xfrm>
          <a:prstGeom prst="rect">
            <a:avLst/>
          </a:prstGeom>
          <a:solidFill>
            <a:srgbClr val="E7E3D8"/>
          </a:solidFill>
          <a:ln w="12700">
            <a:solidFill>
              <a:srgbClr val="D3CEC0"/>
            </a:solidFill>
            <a:prstDash val="solid"/>
          </a:ln>
        </p:spPr>
      </p:sp>
      <p:sp>
        <p:nvSpPr>
          <p:cNvPr id="8" name="Text 6"/>
          <p:cNvSpPr txBox="1"/>
          <p:nvPr/>
        </p:nvSpPr>
        <p:spPr>
          <a:xfrm>
            <a:off x="2907792" y="2615184"/>
            <a:ext cx="1975104" cy="256032"/>
          </a:xfrm>
          <a:prstGeom prst="rect">
            <a:avLst/>
          </a:prstGeom>
          <a:noFill/>
          <a:ln/>
        </p:spPr>
        <p:txBody>
          <a:bodyPr wrap="square" lIns="0" tIns="0" rIns="0" bIns="0" rtlCol="0" anchor="ctr"/>
          <a:lstStyle/>
          <a:p>
            <a:pPr algn="ctr" indent="0" marL="0">
              <a:buNone/>
            </a:pPr>
            <a:r>
              <a:rPr lang="en-US" sz="860" b="1" spc="60" kern="0" dirty="0">
                <a:solidFill>
                  <a:srgbClr val="14171A"/>
                </a:solidFill>
                <a:latin typeface="Courier New" pitchFamily="34" charset="0"/>
                <a:ea typeface="Courier New" pitchFamily="34" charset="-122"/>
                <a:cs typeface="Courier New" pitchFamily="34" charset="-120"/>
              </a:rPr>
              <a:t>SAFETY</a:t>
            </a:r>
            <a:endParaRPr lang="en-US" sz="860" dirty="0"/>
          </a:p>
        </p:txBody>
      </p:sp>
      <p:sp>
        <p:nvSpPr>
          <p:cNvPr id="9" name="Shape 7"/>
          <p:cNvSpPr/>
          <p:nvPr/>
        </p:nvSpPr>
        <p:spPr>
          <a:xfrm>
            <a:off x="5038344" y="2487168"/>
            <a:ext cx="1975104" cy="457200"/>
          </a:xfrm>
          <a:prstGeom prst="rect">
            <a:avLst/>
          </a:prstGeom>
          <a:solidFill>
            <a:srgbClr val="E7E3D8"/>
          </a:solidFill>
          <a:ln w="12700">
            <a:solidFill>
              <a:srgbClr val="D3CEC0"/>
            </a:solidFill>
            <a:prstDash val="solid"/>
          </a:ln>
        </p:spPr>
      </p:sp>
      <p:sp>
        <p:nvSpPr>
          <p:cNvPr id="10" name="Text 8"/>
          <p:cNvSpPr txBox="1"/>
          <p:nvPr/>
        </p:nvSpPr>
        <p:spPr>
          <a:xfrm>
            <a:off x="5038344" y="2615184"/>
            <a:ext cx="1975104" cy="256032"/>
          </a:xfrm>
          <a:prstGeom prst="rect">
            <a:avLst/>
          </a:prstGeom>
          <a:noFill/>
          <a:ln/>
        </p:spPr>
        <p:txBody>
          <a:bodyPr wrap="square" lIns="0" tIns="0" rIns="0" bIns="0" rtlCol="0" anchor="ctr"/>
          <a:lstStyle/>
          <a:p>
            <a:pPr algn="ctr" indent="0" marL="0">
              <a:buNone/>
            </a:pPr>
            <a:r>
              <a:rPr lang="en-US" sz="860" b="1" spc="60" kern="0" dirty="0">
                <a:solidFill>
                  <a:srgbClr val="14171A"/>
                </a:solidFill>
                <a:latin typeface="Courier New" pitchFamily="34" charset="0"/>
                <a:ea typeface="Courier New" pitchFamily="34" charset="-122"/>
                <a:cs typeface="Courier New" pitchFamily="34" charset="-120"/>
              </a:rPr>
              <a:t>HONESTY</a:t>
            </a:r>
            <a:endParaRPr lang="en-US" sz="860" dirty="0"/>
          </a:p>
        </p:txBody>
      </p:sp>
      <p:sp>
        <p:nvSpPr>
          <p:cNvPr id="11" name="Shape 9"/>
          <p:cNvSpPr/>
          <p:nvPr/>
        </p:nvSpPr>
        <p:spPr>
          <a:xfrm>
            <a:off x="7168896" y="2487168"/>
            <a:ext cx="1975104" cy="457200"/>
          </a:xfrm>
          <a:prstGeom prst="rect">
            <a:avLst/>
          </a:prstGeom>
          <a:solidFill>
            <a:srgbClr val="E7E3D8"/>
          </a:solidFill>
          <a:ln w="12700">
            <a:solidFill>
              <a:srgbClr val="D3CEC0"/>
            </a:solidFill>
            <a:prstDash val="solid"/>
          </a:ln>
        </p:spPr>
      </p:sp>
      <p:sp>
        <p:nvSpPr>
          <p:cNvPr id="12" name="Text 10"/>
          <p:cNvSpPr txBox="1"/>
          <p:nvPr/>
        </p:nvSpPr>
        <p:spPr>
          <a:xfrm>
            <a:off x="7168896" y="2615184"/>
            <a:ext cx="1975104" cy="256032"/>
          </a:xfrm>
          <a:prstGeom prst="rect">
            <a:avLst/>
          </a:prstGeom>
          <a:noFill/>
          <a:ln/>
        </p:spPr>
        <p:txBody>
          <a:bodyPr wrap="square" lIns="0" tIns="0" rIns="0" bIns="0" rtlCol="0" anchor="ctr"/>
          <a:lstStyle/>
          <a:p>
            <a:pPr algn="ctr" indent="0" marL="0">
              <a:buNone/>
            </a:pPr>
            <a:r>
              <a:rPr lang="en-US" sz="860" b="1" spc="60" kern="0" dirty="0">
                <a:solidFill>
                  <a:srgbClr val="14171A"/>
                </a:solidFill>
                <a:latin typeface="Courier New" pitchFamily="34" charset="0"/>
                <a:ea typeface="Courier New" pitchFamily="34" charset="-122"/>
                <a:cs typeface="Courier New" pitchFamily="34" charset="-120"/>
              </a:rPr>
              <a:t>EMPOWERMENT</a:t>
            </a:r>
            <a:endParaRPr lang="en-US" sz="860" dirty="0"/>
          </a:p>
        </p:txBody>
      </p:sp>
      <p:sp>
        <p:nvSpPr>
          <p:cNvPr id="13" name="Shape 11"/>
          <p:cNvSpPr/>
          <p:nvPr/>
        </p:nvSpPr>
        <p:spPr>
          <a:xfrm>
            <a:off x="9299448" y="2487168"/>
            <a:ext cx="1975104" cy="457200"/>
          </a:xfrm>
          <a:prstGeom prst="rect">
            <a:avLst/>
          </a:prstGeom>
          <a:solidFill>
            <a:srgbClr val="E7E3D8"/>
          </a:solidFill>
          <a:ln w="12700">
            <a:solidFill>
              <a:srgbClr val="D3CEC0"/>
            </a:solidFill>
            <a:prstDash val="solid"/>
          </a:ln>
        </p:spPr>
      </p:sp>
      <p:sp>
        <p:nvSpPr>
          <p:cNvPr id="14" name="Text 12"/>
          <p:cNvSpPr txBox="1"/>
          <p:nvPr/>
        </p:nvSpPr>
        <p:spPr>
          <a:xfrm>
            <a:off x="9299448" y="2615184"/>
            <a:ext cx="1975104" cy="256032"/>
          </a:xfrm>
          <a:prstGeom prst="rect">
            <a:avLst/>
          </a:prstGeom>
          <a:noFill/>
          <a:ln/>
        </p:spPr>
        <p:txBody>
          <a:bodyPr wrap="square" lIns="0" tIns="0" rIns="0" bIns="0" rtlCol="0" anchor="ctr"/>
          <a:lstStyle/>
          <a:p>
            <a:pPr algn="ctr" indent="0" marL="0">
              <a:buNone/>
            </a:pPr>
            <a:r>
              <a:rPr lang="en-US" sz="860" b="1" spc="60" kern="0" dirty="0">
                <a:solidFill>
                  <a:srgbClr val="14171A"/>
                </a:solidFill>
                <a:latin typeface="Courier New" pitchFamily="34" charset="0"/>
                <a:ea typeface="Courier New" pitchFamily="34" charset="-122"/>
                <a:cs typeface="Courier New" pitchFamily="34" charset="-120"/>
              </a:rPr>
              <a:t>SUSTAINABILITY</a:t>
            </a:r>
            <a:endParaRPr lang="en-US" sz="860" dirty="0"/>
          </a:p>
        </p:txBody>
      </p:sp>
      <p:sp>
        <p:nvSpPr>
          <p:cNvPr id="15" name="Text 13"/>
          <p:cNvSpPr txBox="1"/>
          <p:nvPr/>
        </p:nvSpPr>
        <p:spPr>
          <a:xfrm>
            <a:off x="777240" y="3072384"/>
            <a:ext cx="10607040" cy="329184"/>
          </a:xfrm>
          <a:prstGeom prst="rect">
            <a:avLst/>
          </a:prstGeom>
          <a:noFill/>
          <a:ln/>
        </p:spPr>
        <p:txBody>
          <a:bodyPr wrap="square" lIns="0" tIns="0" rIns="0" bIns="0" rtlCol="0" anchor="ctr"/>
          <a:lstStyle/>
          <a:p>
            <a:pPr indent="0" marL="0">
              <a:buNone/>
            </a:pPr>
            <a:r>
              <a:rPr lang="en-US" sz="1200" dirty="0">
                <a:solidFill>
                  <a:srgbClr val="656B71"/>
                </a:solidFill>
                <a:latin typeface="Courier New" pitchFamily="34" charset="0"/>
                <a:ea typeface="Courier New" pitchFamily="34" charset="-122"/>
                <a:cs typeface="Courier New" pitchFamily="34" charset="-120"/>
              </a:rPr>
              <a:t>21 checks   |   19 passed   |   0 failed   |   2 undecided, and undecided is never counted as a pass</a:t>
            </a:r>
            <a:endParaRPr lang="en-US" sz="1200" dirty="0"/>
          </a:p>
        </p:txBody>
      </p:sp>
      <p:sp>
        <p:nvSpPr>
          <p:cNvPr id="16" name="Shape 14"/>
          <p:cNvSpPr/>
          <p:nvPr/>
        </p:nvSpPr>
        <p:spPr>
          <a:xfrm>
            <a:off x="777240" y="3529584"/>
            <a:ext cx="10607040" cy="1481328"/>
          </a:xfrm>
          <a:prstGeom prst="roundRect">
            <a:avLst>
              <a:gd name="adj" fmla="val 3086"/>
            </a:avLst>
          </a:prstGeom>
          <a:solidFill>
            <a:srgbClr val="FFFFFF"/>
          </a:solidFill>
          <a:ln w="19050">
            <a:solidFill>
              <a:srgbClr val="8A2F24"/>
            </a:solidFill>
            <a:prstDash val="solid"/>
          </a:ln>
        </p:spPr>
      </p:sp>
      <p:sp>
        <p:nvSpPr>
          <p:cNvPr id="17" name="Text 15"/>
          <p:cNvSpPr txBox="1"/>
          <p:nvPr/>
        </p:nvSpPr>
        <p:spPr>
          <a:xfrm>
            <a:off x="1033272" y="3712464"/>
            <a:ext cx="10149840" cy="310896"/>
          </a:xfrm>
          <a:prstGeom prst="rect">
            <a:avLst/>
          </a:prstGeom>
          <a:noFill/>
          <a:ln/>
        </p:spPr>
        <p:txBody>
          <a:bodyPr wrap="square" lIns="0" tIns="0" rIns="0" bIns="0" rtlCol="0" anchor="ctr"/>
          <a:lstStyle/>
          <a:p>
            <a:pPr indent="0" marL="0">
              <a:buNone/>
            </a:pPr>
            <a:r>
              <a:rPr lang="en-US" sz="1450" b="1" dirty="0">
                <a:solidFill>
                  <a:srgbClr val="8A2F24"/>
                </a:solidFill>
                <a:latin typeface="Cambria" pitchFamily="34" charset="0"/>
                <a:ea typeface="Cambria" pitchFamily="34" charset="-122"/>
                <a:cs typeface="Cambria" pitchFamily="34" charset="-120"/>
              </a:rPr>
              <a:t>What it caught on the first run</a:t>
            </a:r>
            <a:endParaRPr lang="en-US" sz="1450" dirty="0"/>
          </a:p>
        </p:txBody>
      </p:sp>
      <p:sp>
        <p:nvSpPr>
          <p:cNvPr id="18" name="Text 16"/>
          <p:cNvSpPr txBox="1"/>
          <p:nvPr/>
        </p:nvSpPr>
        <p:spPr>
          <a:xfrm>
            <a:off x="1033272" y="4114800"/>
            <a:ext cx="10149840" cy="822960"/>
          </a:xfrm>
          <a:prstGeom prst="rect">
            <a:avLst/>
          </a:prstGeom>
          <a:noFill/>
          <a:ln/>
        </p:spPr>
        <p:txBody>
          <a:bodyPr wrap="square" lIns="0" tIns="0" rIns="0" bIns="0" rtlCol="0" anchor="ctr"/>
          <a:lstStyle/>
          <a:p>
            <a:pPr indent="0" marL="0">
              <a:buNone/>
            </a:pPr>
            <a:r>
              <a:rPr lang="en-US" sz="1250" dirty="0">
                <a:solidFill>
                  <a:srgbClr val="14171A"/>
                </a:solidFill>
                <a:latin typeface="Calibri" pitchFamily="34" charset="0"/>
                <a:ea typeface="Calibri" pitchFamily="34" charset="-122"/>
                <a:cs typeface="Calibri" pitchFamily="34" charset="-120"/>
              </a:rPr>
              <a:t>The org held 28 library rows. The seed in our repository held 24. The four missing ones were the lighting rows added to fix the bias defect on the previous slide. Anyone deploying from our code would have rebuilt the agent with that defect back in, and every claim we make about fixing it would have been false on their org.</a:t>
            </a:r>
            <a:endParaRPr lang="en-US" sz="1250" dirty="0"/>
          </a:p>
        </p:txBody>
      </p:sp>
      <p:sp>
        <p:nvSpPr>
          <p:cNvPr id="19" name="Text 17"/>
          <p:cNvSpPr txBox="1"/>
          <p:nvPr/>
        </p:nvSpPr>
        <p:spPr>
          <a:xfrm>
            <a:off x="777240" y="5138928"/>
            <a:ext cx="10607040" cy="566928"/>
          </a:xfrm>
          <a:prstGeom prst="rect">
            <a:avLst/>
          </a:prstGeom>
          <a:noFill/>
          <a:ln/>
        </p:spPr>
        <p:txBody>
          <a:bodyPr wrap="square" lIns="0" tIns="0" rIns="0" bIns="0" rtlCol="0" anchor="ctr"/>
          <a:lstStyle/>
          <a:p>
            <a:pPr indent="0" marL="0">
              <a:buNone/>
            </a:pPr>
            <a:r>
              <a:rPr lang="en-US" sz="1250" dirty="0">
                <a:solidFill>
                  <a:srgbClr val="42474C"/>
                </a:solidFill>
                <a:latin typeface="Calibri" pitchFamily="34" charset="0"/>
                <a:ea typeface="Calibri" pitchFamily="34" charset="-122"/>
                <a:cs typeface="Calibri" pitchFamily="34" charset="-120"/>
              </a:rPr>
              <a:t>It also produced a finding we withdrew. A check demanded every row state a cost; nine don't. But the code was already right: it says it has no figure and refuses to estimate one. We corrected the check, not the code, and left it in the file with a note that it was wrong the first time.</a:t>
            </a:r>
            <a:endParaRPr lang="en-US" sz="1250" dirty="0"/>
          </a:p>
        </p:txBody>
      </p:sp>
      <p:sp>
        <p:nvSpPr>
          <p:cNvPr id="20" name="Text 18"/>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--selftest breaks five checks on purpose and asserts each one goes red.</a:t>
            </a:r>
            <a:endParaRPr lang="en-US" sz="1600" dirty="0"/>
          </a:p>
        </p:txBody>
      </p:sp>
      <p:sp>
        <p:nvSpPr>
          <p:cNvPr id="21" name="Text 19"/>
          <p:cNvSpPr txBox="1"/>
          <p:nvPr/>
        </p:nvSpPr>
        <p:spPr>
          <a:xfrm>
            <a:off x="777240" y="6419088"/>
            <a:ext cx="1069848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python3 tests/rai_self_check.py   ·   python3 tests/rai_self_check.py --selftest</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04  THE HONEST PART</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21 of 23. Three runs. Same score every time.</a:t>
            </a:r>
            <a:endParaRPr lang="en-US" sz="3300" dirty="0"/>
          </a:p>
        </p:txBody>
      </p:sp>
      <p:sp>
        <p:nvSpPr>
          <p:cNvPr id="4" name="Text 2"/>
          <p:cNvSpPr txBox="1"/>
          <p:nvPr/>
        </p:nvSpPr>
        <p:spPr>
          <a:xfrm>
            <a:off x="777240" y="1783080"/>
            <a:ext cx="5577840" cy="2194560"/>
          </a:xfrm>
          <a:prstGeom prst="rect">
            <a:avLst/>
          </a:prstGeom>
          <a:noFill/>
          <a:ln/>
        </p:spPr>
        <p:txBody>
          <a:bodyPr wrap="square" lIns="0" tIns="0" rIns="0" bIns="0" rtlCol="0" anchor="ctr"/>
          <a:lstStyle/>
          <a:p>
            <a:pPr marL="342900" indent="-342900">
              <a:spcAft>
                <a:spcPts val="800"/>
              </a:spcAft>
              <a:buSzPct val="100000"/>
              <a:buChar char="•"/>
            </a:pPr>
            <a:r>
              <a:rPr lang="en-US" sz="1400" b="1" dirty="0">
                <a:solidFill>
                  <a:srgbClr val="14171A"/>
                </a:solidFill>
                <a:latin typeface="Calibri" pitchFamily="34" charset="0"/>
                <a:ea typeface="Calibri" pitchFamily="34" charset="-122"/>
                <a:cs typeface="Calibri" pitchFamily="34" charset="-120"/>
              </a:rPr>
              <a:t>One assertion fails on every run</a:t>
            </a:r>
            <a:endParaRPr lang="en-US" sz="1400" dirty="0"/>
          </a:p>
          <a:p>
            <a:pPr indent="0" marL="0">
              <a:spcAft>
                <a:spcPts val="800"/>
              </a:spcAft>
              <a:buNone/>
            </a:pPr>
            <a:r>
              <a:rPr lang="en-US" sz="1400" dirty="0">
                <a:solidFill>
                  <a:srgbClr val="14171A"/>
                </a:solidFill>
                <a:latin typeface="Calibri" pitchFamily="34" charset="0"/>
                <a:ea typeface="Calibri" pitchFamily="34" charset="-122"/>
                <a:cs typeface="Calibri" pitchFamily="34" charset="-120"/>
              </a:rPr>
              <a:t>the agent doesn't reliably say out loud that it discarded a volunteered condition</a:t>
            </a:r>
            <a:endParaRPr lang="en-US" sz="1400" dirty="0"/>
          </a:p>
          <a:p>
            <a:pPr marL="342900" indent="-342900">
              <a:spcAft>
                <a:spcPts val="800"/>
              </a:spcAft>
              <a:buSzPct val="100000"/>
              <a:buChar char="•"/>
            </a:pPr>
            <a:r>
              <a:rPr lang="en-US" sz="1400" b="1" dirty="0">
                <a:solidFill>
                  <a:srgbClr val="14171A"/>
                </a:solidFill>
                <a:latin typeface="Calibri" pitchFamily="34" charset="0"/>
                <a:ea typeface="Calibri" pitchFamily="34" charset="-122"/>
                <a:cs typeface="Calibri" pitchFamily="34" charset="-120"/>
              </a:rPr>
              <a:t>The second failure alternates</a:t>
            </a:r>
            <a:endParaRPr lang="en-US" sz="1400" dirty="0"/>
          </a:p>
          <a:p>
            <a:pPr indent="0" marL="0">
              <a:spcAft>
                <a:spcPts val="800"/>
              </a:spcAft>
              <a:buNone/>
            </a:pPr>
            <a:r>
              <a:rPr lang="en-US" sz="1400" dirty="0">
                <a:solidFill>
                  <a:srgbClr val="14171A"/>
                </a:solidFill>
                <a:latin typeface="Calibri" pitchFamily="34" charset="0"/>
                <a:ea typeface="Calibri" pitchFamily="34" charset="-122"/>
                <a:cs typeface="Calibri" pitchFamily="34" charset="-120"/>
              </a:rPr>
              <a:t>same build, same prompts, different answers, run to run</a:t>
            </a:r>
            <a:endParaRPr lang="en-US" sz="1400" dirty="0"/>
          </a:p>
        </p:txBody>
      </p:sp>
      <p:sp>
        <p:nvSpPr>
          <p:cNvPr id="5" name="Shape 3"/>
          <p:cNvSpPr/>
          <p:nvPr/>
        </p:nvSpPr>
        <p:spPr>
          <a:xfrm>
            <a:off x="6766560" y="1783080"/>
            <a:ext cx="4617720" cy="2194560"/>
          </a:xfrm>
          <a:prstGeom prst="roundRect">
            <a:avLst>
              <a:gd name="adj" fmla="val 2083"/>
            </a:avLst>
          </a:prstGeom>
          <a:solidFill>
            <a:srgbClr val="FFFFFF"/>
          </a:solidFill>
          <a:ln w="19050">
            <a:solidFill>
              <a:srgbClr val="1F5546"/>
            </a:solidFill>
            <a:prstDash val="solid"/>
          </a:ln>
        </p:spPr>
      </p:sp>
      <p:sp>
        <p:nvSpPr>
          <p:cNvPr id="6" name="Text 4"/>
          <p:cNvSpPr txBox="1"/>
          <p:nvPr/>
        </p:nvSpPr>
        <p:spPr>
          <a:xfrm>
            <a:off x="7022592" y="1993392"/>
            <a:ext cx="4114800" cy="457200"/>
          </a:xfrm>
          <a:prstGeom prst="rect">
            <a:avLst/>
          </a:prstGeom>
          <a:noFill/>
          <a:ln/>
        </p:spPr>
        <p:txBody>
          <a:bodyPr wrap="square" lIns="0" tIns="0" rIns="0" bIns="0" rtlCol="0" anchor="ctr"/>
          <a:lstStyle/>
          <a:p>
            <a:pPr indent="0" marL="0">
              <a:buNone/>
            </a:pPr>
            <a:r>
              <a:rPr lang="en-US" sz="1450" b="1" dirty="0">
                <a:solidFill>
                  <a:srgbClr val="1F5546"/>
                </a:solidFill>
                <a:latin typeface="Cambria" pitchFamily="34" charset="0"/>
                <a:ea typeface="Cambria" pitchFamily="34" charset="-122"/>
                <a:cs typeface="Cambria" pitchFamily="34" charset="-120"/>
              </a:rPr>
              <a:t>Where it's deterministic, it's 100%</a:t>
            </a:r>
            <a:endParaRPr lang="en-US" sz="1450" dirty="0"/>
          </a:p>
        </p:txBody>
      </p:sp>
      <p:sp>
        <p:nvSpPr>
          <p:cNvPr id="7" name="Text 5"/>
          <p:cNvSpPr txBox="1"/>
          <p:nvPr/>
        </p:nvSpPr>
        <p:spPr>
          <a:xfrm>
            <a:off x="7022592" y="2487168"/>
            <a:ext cx="4114800" cy="1280160"/>
          </a:xfrm>
          <a:prstGeom prst="rect">
            <a:avLst/>
          </a:prstGeom>
          <a:noFill/>
          <a:ln/>
        </p:spPr>
        <p:txBody>
          <a:bodyPr wrap="square" lIns="0" tIns="0" rIns="0" bIns="0" rtlCol="0" anchor="ctr"/>
          <a:lstStyle/>
          <a:p>
            <a:pPr indent="0" marL="0">
              <a:buNone/>
            </a:pPr>
            <a:r>
              <a:rPr lang="en-US" sz="1250" dirty="0">
                <a:solidFill>
                  <a:srgbClr val="14171A"/>
                </a:solidFill>
                <a:latin typeface="Calibri" pitchFamily="34" charset="0"/>
                <a:ea typeface="Calibri" pitchFamily="34" charset="-122"/>
                <a:cs typeface="Calibri" pitchFamily="34" charset="-120"/>
              </a:rPr>
              <a:t>The four channels that compose their reply in Apex, web, text, email and Slack, say it every single time. Pinned by a test that exercises all four.</a:t>
            </a:r>
            <a:endParaRPr lang="en-US" sz="1250" dirty="0"/>
          </a:p>
        </p:txBody>
      </p:sp>
      <p:sp>
        <p:nvSpPr>
          <p:cNvPr id="8" name="Text 6"/>
          <p:cNvSpPr txBox="1"/>
          <p:nvPr/>
        </p:nvSpPr>
        <p:spPr>
          <a:xfrm>
            <a:off x="777240" y="4206240"/>
            <a:ext cx="10515600" cy="822960"/>
          </a:xfrm>
          <a:prstGeom prst="rect">
            <a:avLst/>
          </a:prstGeom>
          <a:noFill/>
          <a:ln/>
        </p:spPr>
        <p:txBody>
          <a:bodyPr wrap="square" lIns="0" tIns="0" rIns="0" bIns="0" rtlCol="0" anchor="ctr"/>
          <a:lstStyle/>
          <a:p>
            <a:pPr indent="0" marL="0">
              <a:buNone/>
            </a:pPr>
            <a:r>
              <a:rPr lang="en-US" sz="1450" i="1" dirty="0">
                <a:solidFill>
                  <a:srgbClr val="14171A"/>
                </a:solidFill>
                <a:latin typeface="Cambria" pitchFamily="34" charset="0"/>
                <a:ea typeface="Cambria" pitchFamily="34" charset="-122"/>
                <a:cs typeface="Cambria" pitchFamily="34" charset="-120"/>
              </a:rPr>
              <a:t>"Good" is 23 of 23 with zero variance across five runs. Getting there means moving anything safety critical out of the model’s narration and into code that runs whether or not it remembers.</a:t>
            </a:r>
            <a:endParaRPr lang="en-US" sz="1450" dirty="0"/>
          </a:p>
        </p:txBody>
      </p:sp>
      <p:sp>
        <p:nvSpPr>
          <p:cNvPr id="9" name="Text 7"/>
          <p:cNvSpPr txBox="1"/>
          <p:nvPr/>
        </p:nvSpPr>
        <p:spPr>
          <a:xfrm>
            <a:off x="777240" y="5212080"/>
            <a:ext cx="10698480" cy="457200"/>
          </a:xfrm>
          <a:prstGeom prst="rect">
            <a:avLst/>
          </a:prstGeom>
          <a:noFill/>
          <a:ln/>
        </p:spPr>
        <p:txBody>
          <a:bodyPr wrap="square" lIns="0" tIns="0" rIns="0" bIns="0" rtlCol="0" anchor="ctr"/>
          <a:lstStyle/>
          <a:p>
            <a:pPr indent="0" marL="0">
              <a:buNone/>
            </a:pPr>
            <a:r>
              <a:rPr lang="en-US" sz="1200" dirty="0">
                <a:solidFill>
                  <a:srgbClr val="42474C"/>
                </a:solidFill>
                <a:latin typeface="Courier New" pitchFamily="34" charset="0"/>
                <a:ea typeface="Courier New" pitchFamily="34" charset="-122"/>
                <a:cs typeface="Courier New" pitchFamily="34" charset="-120"/>
              </a:rPr>
              <a:t>129 Apex   |   517 invariants   |   690 accessibility   |   131 Sa11y   |   28 contrast   |   16 reading level   |   all passing, every build</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04  THE HONEST PART</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What is still wrong.</a:t>
            </a:r>
            <a:endParaRPr lang="en-US" sz="3300" dirty="0"/>
          </a:p>
        </p:txBody>
      </p:sp>
      <p:sp>
        <p:nvSpPr>
          <p:cNvPr id="4" name="Text 2"/>
          <p:cNvSpPr txBox="1"/>
          <p:nvPr/>
        </p:nvSpPr>
        <p:spPr>
          <a:xfrm>
            <a:off x="777240" y="1783080"/>
            <a:ext cx="4114800" cy="411480"/>
          </a:xfrm>
          <a:prstGeom prst="rect">
            <a:avLst/>
          </a:prstGeom>
          <a:noFill/>
          <a:ln/>
        </p:spPr>
        <p:txBody>
          <a:bodyPr wrap="square" lIns="0" tIns="0" rIns="0" bIns="0" rtlCol="0" anchor="ctr"/>
          <a:lstStyle/>
          <a:p>
            <a:pPr indent="0" marL="0">
              <a:buNone/>
            </a:pPr>
            <a:r>
              <a:rPr lang="en-US" sz="1350" b="1" dirty="0">
                <a:solidFill>
                  <a:srgbClr val="14171A"/>
                </a:solidFill>
                <a:latin typeface="Cambria" pitchFamily="34" charset="0"/>
                <a:ea typeface="Cambria" pitchFamily="34" charset="-122"/>
                <a:cs typeface="Cambria" pitchFamily="34" charset="-120"/>
              </a:rPr>
              <a:t>No screen-reader user has tested this.</a:t>
            </a:r>
            <a:endParaRPr lang="en-US" sz="1350" dirty="0"/>
          </a:p>
        </p:txBody>
      </p:sp>
      <p:sp>
        <p:nvSpPr>
          <p:cNvPr id="5" name="Text 3"/>
          <p:cNvSpPr txBox="1"/>
          <p:nvPr/>
        </p:nvSpPr>
        <p:spPr>
          <a:xfrm>
            <a:off x="5029200" y="1783080"/>
            <a:ext cx="6355080" cy="868680"/>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Every accessibility claim is machine or browser verified, which isn't the same as a person using it. One session with somebody who uses one daily is worth more than the next five features.</a:t>
            </a:r>
            <a:endParaRPr lang="en-US" sz="1150" dirty="0"/>
          </a:p>
        </p:txBody>
      </p:sp>
      <p:sp>
        <p:nvSpPr>
          <p:cNvPr id="6" name="Text 4"/>
          <p:cNvSpPr txBox="1"/>
          <p:nvPr/>
        </p:nvSpPr>
        <p:spPr>
          <a:xfrm>
            <a:off x="777240" y="2743200"/>
            <a:ext cx="4114800" cy="411480"/>
          </a:xfrm>
          <a:prstGeom prst="rect">
            <a:avLst/>
          </a:prstGeom>
          <a:noFill/>
          <a:ln/>
        </p:spPr>
        <p:txBody>
          <a:bodyPr wrap="square" lIns="0" tIns="0" rIns="0" bIns="0" rtlCol="0" anchor="ctr"/>
          <a:lstStyle/>
          <a:p>
            <a:pPr indent="0" marL="0">
              <a:buNone/>
            </a:pPr>
            <a:r>
              <a:rPr lang="en-US" sz="1350" b="1" dirty="0">
                <a:solidFill>
                  <a:srgbClr val="14171A"/>
                </a:solidFill>
                <a:latin typeface="Cambria" pitchFamily="34" charset="0"/>
                <a:ea typeface="Cambria" pitchFamily="34" charset="-122"/>
                <a:cs typeface="Cambria" pitchFamily="34" charset="-120"/>
              </a:rPr>
              <a:t>The agent’s narration is nondeterministic.</a:t>
            </a:r>
            <a:endParaRPr lang="en-US" sz="1350" dirty="0"/>
          </a:p>
        </p:txBody>
      </p:sp>
      <p:sp>
        <p:nvSpPr>
          <p:cNvPr id="7" name="Text 5"/>
          <p:cNvSpPr txBox="1"/>
          <p:nvPr/>
        </p:nvSpPr>
        <p:spPr>
          <a:xfrm>
            <a:off x="5029200" y="2743200"/>
            <a:ext cx="6355080" cy="868680"/>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It rewrites what an action returns rather than relaying it. Three separate fixes didn't move it.</a:t>
            </a:r>
            <a:endParaRPr lang="en-US" sz="1150" dirty="0"/>
          </a:p>
        </p:txBody>
      </p:sp>
      <p:sp>
        <p:nvSpPr>
          <p:cNvPr id="8" name="Text 6"/>
          <p:cNvSpPr txBox="1"/>
          <p:nvPr/>
        </p:nvSpPr>
        <p:spPr>
          <a:xfrm>
            <a:off x="777240" y="3703320"/>
            <a:ext cx="4114800" cy="411480"/>
          </a:xfrm>
          <a:prstGeom prst="rect">
            <a:avLst/>
          </a:prstGeom>
          <a:noFill/>
          <a:ln/>
        </p:spPr>
        <p:txBody>
          <a:bodyPr wrap="square" lIns="0" tIns="0" rIns="0" bIns="0" rtlCol="0" anchor="ctr"/>
          <a:lstStyle/>
          <a:p>
            <a:pPr indent="0" marL="0">
              <a:buNone/>
            </a:pPr>
            <a:r>
              <a:rPr lang="en-US" sz="1350" b="1" dirty="0">
                <a:solidFill>
                  <a:srgbClr val="14171A"/>
                </a:solidFill>
                <a:latin typeface="Cambria" pitchFamily="34" charset="0"/>
                <a:ea typeface="Cambria" pitchFamily="34" charset="-122"/>
                <a:cs typeface="Cambria" pitchFamily="34" charset="-120"/>
              </a:rPr>
              <a:t>Text and voice run through a relay on a laptop.</a:t>
            </a:r>
            <a:endParaRPr lang="en-US" sz="1350" dirty="0"/>
          </a:p>
        </p:txBody>
      </p:sp>
      <p:sp>
        <p:nvSpPr>
          <p:cNvPr id="9" name="Text 7"/>
          <p:cNvSpPr txBox="1"/>
          <p:nvPr/>
        </p:nvSpPr>
        <p:spPr>
          <a:xfrm>
            <a:off x="5029200" y="3703320"/>
            <a:ext cx="6355080" cy="868680"/>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The number answers through a small relay beside the org. When it's down, the number goes quiet rather than replying wrongly. Hosting it is the first real deployment task.</a:t>
            </a:r>
            <a:endParaRPr lang="en-US" sz="1150" dirty="0"/>
          </a:p>
        </p:txBody>
      </p:sp>
      <p:sp>
        <p:nvSpPr>
          <p:cNvPr id="10" name="Text 8"/>
          <p:cNvSpPr txBox="1"/>
          <p:nvPr/>
        </p:nvSpPr>
        <p:spPr>
          <a:xfrm>
            <a:off x="777240" y="4663440"/>
            <a:ext cx="4114800" cy="411480"/>
          </a:xfrm>
          <a:prstGeom prst="rect">
            <a:avLst/>
          </a:prstGeom>
          <a:noFill/>
          <a:ln/>
        </p:spPr>
        <p:txBody>
          <a:bodyPr wrap="square" lIns="0" tIns="0" rIns="0" bIns="0" rtlCol="0" anchor="ctr"/>
          <a:lstStyle/>
          <a:p>
            <a:pPr indent="0" marL="0">
              <a:buNone/>
            </a:pPr>
            <a:r>
              <a:rPr lang="en-US" sz="1350" b="1" dirty="0">
                <a:solidFill>
                  <a:srgbClr val="14171A"/>
                </a:solidFill>
                <a:latin typeface="Cambria" pitchFamily="34" charset="0"/>
                <a:ea typeface="Cambria" pitchFamily="34" charset="-122"/>
                <a:cs typeface="Cambria" pitchFamily="34" charset="-120"/>
              </a:rPr>
              <a:t>Slack, text and voice all live on one laptop.</a:t>
            </a:r>
            <a:endParaRPr lang="en-US" sz="1350" dirty="0"/>
          </a:p>
        </p:txBody>
      </p:sp>
      <p:sp>
        <p:nvSpPr>
          <p:cNvPr id="11" name="Text 9"/>
          <p:cNvSpPr txBox="1"/>
          <p:nvPr/>
        </p:nvSpPr>
        <p:spPr>
          <a:xfrm>
            <a:off x="5029200" y="4663440"/>
            <a:ext cx="6355080" cy="868680"/>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The Slack app is installed in a real workspace and answers over Socket Mode, but it runs beside the relay. When the laptop sleeps, three channels go quiet at once.</a:t>
            </a:r>
            <a:endParaRPr lang="en-US" sz="1150" dirty="0"/>
          </a:p>
        </p:txBody>
      </p:sp>
      <p:sp>
        <p:nvSpPr>
          <p:cNvPr id="12" name="Text 10"/>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We score 21 of 23. The two failures are named above, with the transcripts.</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777240" y="2286000"/>
            <a:ext cx="1828800" cy="914400"/>
          </a:xfrm>
          <a:prstGeom prst="rect">
            <a:avLst/>
          </a:prstGeom>
          <a:noFill/>
          <a:ln/>
        </p:spPr>
        <p:txBody>
          <a:bodyPr wrap="square" lIns="0" tIns="0" rIns="0" bIns="0" rtlCol="0" anchor="ctr"/>
          <a:lstStyle/>
          <a:p>
            <a:pPr indent="0" marL="0">
              <a:buNone/>
            </a:pPr>
            <a:r>
              <a:rPr lang="en-US" sz="4800" b="1" dirty="0">
                <a:solidFill>
                  <a:srgbClr val="E8C87A"/>
                </a:solidFill>
                <a:latin typeface="Courier New" pitchFamily="34" charset="0"/>
                <a:ea typeface="Courier New" pitchFamily="34" charset="-122"/>
                <a:cs typeface="Courier New" pitchFamily="34" charset="-120"/>
              </a:rPr>
              <a:t>05</a:t>
            </a:r>
            <a:endParaRPr lang="en-US" sz="4800" dirty="0"/>
          </a:p>
        </p:txBody>
      </p:sp>
      <p:sp>
        <p:nvSpPr>
          <p:cNvPr id="3" name="Text 1"/>
          <p:cNvSpPr txBox="1"/>
          <p:nvPr/>
        </p:nvSpPr>
        <p:spPr>
          <a:xfrm>
            <a:off x="777240" y="3154680"/>
            <a:ext cx="10058400" cy="822960"/>
          </a:xfrm>
          <a:prstGeom prst="rect">
            <a:avLst/>
          </a:prstGeom>
          <a:noFill/>
          <a:ln/>
        </p:spPr>
        <p:txBody>
          <a:bodyPr wrap="square" lIns="0" tIns="0" rIns="0" bIns="0" rtlCol="0" anchor="ctr"/>
          <a:lstStyle/>
          <a:p>
            <a:pPr indent="0" marL="0">
              <a:buNone/>
            </a:pPr>
            <a:r>
              <a:rPr lang="en-US" sz="4100" b="1" dirty="0">
                <a:solidFill>
                  <a:srgbClr val="F7F5EF"/>
                </a:solidFill>
                <a:latin typeface="Cambria" pitchFamily="34" charset="0"/>
                <a:ea typeface="Cambria" pitchFamily="34" charset="-122"/>
                <a:cs typeface="Cambria" pitchFamily="34" charset="-120"/>
              </a:rPr>
              <a:t>The offer</a:t>
            </a:r>
            <a:endParaRPr lang="en-US" sz="4100" dirty="0"/>
          </a:p>
        </p:txBody>
      </p:sp>
      <p:sp>
        <p:nvSpPr>
          <p:cNvPr id="4" name="Text 2"/>
          <p:cNvSpPr txBox="1"/>
          <p:nvPr/>
        </p:nvSpPr>
        <p:spPr>
          <a:xfrm>
            <a:off x="777240" y="4114800"/>
            <a:ext cx="9144000" cy="457200"/>
          </a:xfrm>
          <a:prstGeom prst="rect">
            <a:avLst/>
          </a:prstGeom>
          <a:noFill/>
          <a:ln/>
        </p:spPr>
        <p:txBody>
          <a:bodyPr wrap="square" lIns="0" tIns="0" rIns="0" bIns="0" rtlCol="0" anchor="ctr"/>
          <a:lstStyle/>
          <a:p>
            <a:pPr indent="0" marL="0">
              <a:buNone/>
            </a:pPr>
            <a:r>
              <a:rPr lang="en-US" sz="1600" dirty="0">
                <a:solidFill>
                  <a:srgbClr val="A9B0B6"/>
                </a:solidFill>
                <a:latin typeface="Calibri" pitchFamily="34" charset="0"/>
                <a:ea typeface="Calibri" pitchFamily="34" charset="-122"/>
                <a:cs typeface="Calibri" pitchFamily="34" charset="-120"/>
              </a:rPr>
              <a:t>Why this hasn't happened, and why that is over.</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05  THE OFFER</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Why good employers haven't done this.</a:t>
            </a:r>
            <a:endParaRPr lang="en-US" sz="3300" dirty="0"/>
          </a:p>
        </p:txBody>
      </p:sp>
      <p:sp>
        <p:nvSpPr>
          <p:cNvPr id="4" name="Shape 2"/>
          <p:cNvSpPr/>
          <p:nvPr/>
        </p:nvSpPr>
        <p:spPr>
          <a:xfrm>
            <a:off x="777240" y="1737360"/>
            <a:ext cx="50292" cy="640080"/>
          </a:xfrm>
          <a:prstGeom prst="rect">
            <a:avLst/>
          </a:prstGeom>
          <a:solidFill>
            <a:srgbClr val="C9A227"/>
          </a:solidFill>
          <a:ln w="12700">
            <a:solidFill>
              <a:srgbClr val="C9A227"/>
            </a:solidFill>
            <a:prstDash val="solid"/>
          </a:ln>
        </p:spPr>
      </p:sp>
      <p:sp>
        <p:nvSpPr>
          <p:cNvPr id="5" name="Text 3"/>
          <p:cNvSpPr txBox="1"/>
          <p:nvPr/>
        </p:nvSpPr>
        <p:spPr>
          <a:xfrm>
            <a:off x="1005840" y="1755648"/>
            <a:ext cx="4297680" cy="530352"/>
          </a:xfrm>
          <a:prstGeom prst="rect">
            <a:avLst/>
          </a:prstGeom>
          <a:noFill/>
          <a:ln/>
        </p:spPr>
        <p:txBody>
          <a:bodyPr wrap="square" lIns="0" tIns="0" rIns="0" bIns="0" rtlCol="0" anchor="ctr"/>
          <a:lstStyle/>
          <a:p>
            <a:pPr indent="0" marL="0">
              <a:buNone/>
            </a:pPr>
            <a:r>
              <a:rPr lang="en-US" sz="1300" b="1" dirty="0">
                <a:solidFill>
                  <a:srgbClr val="14171A"/>
                </a:solidFill>
                <a:latin typeface="Cambria" pitchFamily="34" charset="0"/>
                <a:ea typeface="Cambria" pitchFamily="34" charset="-122"/>
                <a:cs typeface="Cambria" pitchFamily="34" charset="-120"/>
              </a:rPr>
              <a:t>No budget line says "the asking was too hard."</a:t>
            </a:r>
            <a:endParaRPr lang="en-US" sz="1300" dirty="0"/>
          </a:p>
        </p:txBody>
      </p:sp>
      <p:sp>
        <p:nvSpPr>
          <p:cNvPr id="6" name="Text 4"/>
          <p:cNvSpPr txBox="1"/>
          <p:nvPr/>
        </p:nvSpPr>
        <p:spPr>
          <a:xfrm>
            <a:off x="5532120" y="1755648"/>
            <a:ext cx="5852160" cy="621792"/>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The cost is real and has never been priced, so it has never been funded. You can't get money for a problem with no line item.</a:t>
            </a:r>
            <a:endParaRPr lang="en-US" sz="1150" dirty="0"/>
          </a:p>
        </p:txBody>
      </p:sp>
      <p:sp>
        <p:nvSpPr>
          <p:cNvPr id="7" name="Shape 5"/>
          <p:cNvSpPr/>
          <p:nvPr/>
        </p:nvSpPr>
        <p:spPr>
          <a:xfrm>
            <a:off x="777240" y="2514600"/>
            <a:ext cx="50292" cy="640080"/>
          </a:xfrm>
          <a:prstGeom prst="rect">
            <a:avLst/>
          </a:prstGeom>
          <a:solidFill>
            <a:srgbClr val="C9A227"/>
          </a:solidFill>
          <a:ln w="12700">
            <a:solidFill>
              <a:srgbClr val="C9A227"/>
            </a:solidFill>
            <a:prstDash val="solid"/>
          </a:ln>
        </p:spPr>
      </p:sp>
      <p:sp>
        <p:nvSpPr>
          <p:cNvPr id="8" name="Text 6"/>
          <p:cNvSpPr txBox="1"/>
          <p:nvPr/>
        </p:nvSpPr>
        <p:spPr>
          <a:xfrm>
            <a:off x="1005840" y="2532888"/>
            <a:ext cx="4297680" cy="530352"/>
          </a:xfrm>
          <a:prstGeom prst="rect">
            <a:avLst/>
          </a:prstGeom>
          <a:noFill/>
          <a:ln/>
        </p:spPr>
        <p:txBody>
          <a:bodyPr wrap="square" lIns="0" tIns="0" rIns="0" bIns="0" rtlCol="0" anchor="ctr"/>
          <a:lstStyle/>
          <a:p>
            <a:pPr indent="0" marL="0">
              <a:buNone/>
            </a:pPr>
            <a:r>
              <a:rPr lang="en-US" sz="1300" b="1" dirty="0">
                <a:solidFill>
                  <a:srgbClr val="14171A"/>
                </a:solidFill>
                <a:latin typeface="Cambria" pitchFamily="34" charset="0"/>
                <a:ea typeface="Cambria" pitchFamily="34" charset="-122"/>
                <a:cs typeface="Cambria" pitchFamily="34" charset="-120"/>
              </a:rPr>
              <a:t>Nobody owns it.</a:t>
            </a:r>
            <a:endParaRPr lang="en-US" sz="1300" dirty="0"/>
          </a:p>
        </p:txBody>
      </p:sp>
      <p:sp>
        <p:nvSpPr>
          <p:cNvPr id="9" name="Text 7"/>
          <p:cNvSpPr txBox="1"/>
          <p:nvPr/>
        </p:nvSpPr>
        <p:spPr>
          <a:xfrm>
            <a:off x="5532120" y="2532888"/>
            <a:ext cx="5852160" cy="621792"/>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HR owns the policy. IT owns the systems. The manager owns the person. The request falls in the gap between three desks and waits there.</a:t>
            </a:r>
            <a:endParaRPr lang="en-US" sz="1150" dirty="0"/>
          </a:p>
        </p:txBody>
      </p:sp>
      <p:sp>
        <p:nvSpPr>
          <p:cNvPr id="10" name="Shape 8"/>
          <p:cNvSpPr/>
          <p:nvPr/>
        </p:nvSpPr>
        <p:spPr>
          <a:xfrm>
            <a:off x="777240" y="3291840"/>
            <a:ext cx="50292" cy="640080"/>
          </a:xfrm>
          <a:prstGeom prst="rect">
            <a:avLst/>
          </a:prstGeom>
          <a:solidFill>
            <a:srgbClr val="C9A227"/>
          </a:solidFill>
          <a:ln w="12700">
            <a:solidFill>
              <a:srgbClr val="C9A227"/>
            </a:solidFill>
            <a:prstDash val="solid"/>
          </a:ln>
        </p:spPr>
      </p:sp>
      <p:sp>
        <p:nvSpPr>
          <p:cNvPr id="11" name="Text 9"/>
          <p:cNvSpPr txBox="1"/>
          <p:nvPr/>
        </p:nvSpPr>
        <p:spPr>
          <a:xfrm>
            <a:off x="1005840" y="3310128"/>
            <a:ext cx="4297680" cy="530352"/>
          </a:xfrm>
          <a:prstGeom prst="rect">
            <a:avLst/>
          </a:prstGeom>
          <a:noFill/>
          <a:ln/>
        </p:spPr>
        <p:txBody>
          <a:bodyPr wrap="square" lIns="0" tIns="0" rIns="0" bIns="0" rtlCol="0" anchor="ctr"/>
          <a:lstStyle/>
          <a:p>
            <a:pPr indent="0" marL="0">
              <a:buNone/>
            </a:pPr>
            <a:r>
              <a:rPr lang="en-US" sz="1300" b="1" dirty="0">
                <a:solidFill>
                  <a:srgbClr val="14171A"/>
                </a:solidFill>
                <a:latin typeface="Cambria" pitchFamily="34" charset="0"/>
                <a:ea typeface="Cambria" pitchFamily="34" charset="-122"/>
                <a:cs typeface="Cambria" pitchFamily="34" charset="-120"/>
              </a:rPr>
              <a:t>Caution looks like safety.</a:t>
            </a:r>
            <a:endParaRPr lang="en-US" sz="1300" dirty="0"/>
          </a:p>
        </p:txBody>
      </p:sp>
      <p:sp>
        <p:nvSpPr>
          <p:cNvPr id="12" name="Text 10"/>
          <p:cNvSpPr txBox="1"/>
          <p:nvPr/>
        </p:nvSpPr>
        <p:spPr>
          <a:xfrm>
            <a:off x="5532120" y="3310128"/>
            <a:ext cx="5852160" cy="621792"/>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Handling a disclosure badly carries legal risk, so doing nothing feels safest. It isn't safer, only quieter.</a:t>
            </a:r>
            <a:endParaRPr lang="en-US" sz="1150" dirty="0"/>
          </a:p>
        </p:txBody>
      </p:sp>
      <p:sp>
        <p:nvSpPr>
          <p:cNvPr id="13" name="Shape 11"/>
          <p:cNvSpPr/>
          <p:nvPr/>
        </p:nvSpPr>
        <p:spPr>
          <a:xfrm>
            <a:off x="777240" y="4069080"/>
            <a:ext cx="50292" cy="640080"/>
          </a:xfrm>
          <a:prstGeom prst="rect">
            <a:avLst/>
          </a:prstGeom>
          <a:solidFill>
            <a:srgbClr val="C9A227"/>
          </a:solidFill>
          <a:ln w="12700">
            <a:solidFill>
              <a:srgbClr val="C9A227"/>
            </a:solidFill>
            <a:prstDash val="solid"/>
          </a:ln>
        </p:spPr>
      </p:sp>
      <p:sp>
        <p:nvSpPr>
          <p:cNvPr id="14" name="Text 12"/>
          <p:cNvSpPr txBox="1"/>
          <p:nvPr/>
        </p:nvSpPr>
        <p:spPr>
          <a:xfrm>
            <a:off x="1005840" y="4087368"/>
            <a:ext cx="4297680" cy="530352"/>
          </a:xfrm>
          <a:prstGeom prst="rect">
            <a:avLst/>
          </a:prstGeom>
          <a:noFill/>
          <a:ln/>
        </p:spPr>
        <p:txBody>
          <a:bodyPr wrap="square" lIns="0" tIns="0" rIns="0" bIns="0" rtlCol="0" anchor="ctr"/>
          <a:lstStyle/>
          <a:p>
            <a:pPr indent="0" marL="0">
              <a:buNone/>
            </a:pPr>
            <a:r>
              <a:rPr lang="en-US" sz="1300" b="1" dirty="0">
                <a:solidFill>
                  <a:srgbClr val="14171A"/>
                </a:solidFill>
                <a:latin typeface="Cambria" pitchFamily="34" charset="0"/>
                <a:ea typeface="Cambria" pitchFamily="34" charset="-122"/>
                <a:cs typeface="Cambria" pitchFamily="34" charset="-120"/>
              </a:rPr>
              <a:t>The demand is invisible by design.</a:t>
            </a:r>
            <a:endParaRPr lang="en-US" sz="1300" dirty="0"/>
          </a:p>
        </p:txBody>
      </p:sp>
      <p:sp>
        <p:nvSpPr>
          <p:cNvPr id="15" name="Text 13"/>
          <p:cNvSpPr txBox="1"/>
          <p:nvPr/>
        </p:nvSpPr>
        <p:spPr>
          <a:xfrm>
            <a:off x="5532120" y="4087368"/>
            <a:ext cx="5852160" cy="621792"/>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Three people in a hundred tell you. An empty queue reads as a solved problem, and the silence is taken as evidence.</a:t>
            </a:r>
            <a:endParaRPr lang="en-US" sz="1150" dirty="0"/>
          </a:p>
        </p:txBody>
      </p:sp>
      <p:sp>
        <p:nvSpPr>
          <p:cNvPr id="16" name="Shape 14"/>
          <p:cNvSpPr/>
          <p:nvPr/>
        </p:nvSpPr>
        <p:spPr>
          <a:xfrm>
            <a:off x="777240" y="4846320"/>
            <a:ext cx="50292" cy="640080"/>
          </a:xfrm>
          <a:prstGeom prst="rect">
            <a:avLst/>
          </a:prstGeom>
          <a:solidFill>
            <a:srgbClr val="C9A227"/>
          </a:solidFill>
          <a:ln w="12700">
            <a:solidFill>
              <a:srgbClr val="C9A227"/>
            </a:solidFill>
            <a:prstDash val="solid"/>
          </a:ln>
        </p:spPr>
      </p:sp>
      <p:sp>
        <p:nvSpPr>
          <p:cNvPr id="17" name="Text 15"/>
          <p:cNvSpPr txBox="1"/>
          <p:nvPr/>
        </p:nvSpPr>
        <p:spPr>
          <a:xfrm>
            <a:off x="1005840" y="4864608"/>
            <a:ext cx="4297680" cy="530352"/>
          </a:xfrm>
          <a:prstGeom prst="rect">
            <a:avLst/>
          </a:prstGeom>
          <a:noFill/>
          <a:ln/>
        </p:spPr>
        <p:txBody>
          <a:bodyPr wrap="square" lIns="0" tIns="0" rIns="0" bIns="0" rtlCol="0" anchor="ctr"/>
          <a:lstStyle/>
          <a:p>
            <a:pPr indent="0" marL="0">
              <a:buNone/>
            </a:pPr>
            <a:r>
              <a:rPr lang="en-US" sz="1300" b="1" dirty="0">
                <a:solidFill>
                  <a:srgbClr val="14171A"/>
                </a:solidFill>
                <a:latin typeface="Cambria" pitchFamily="34" charset="0"/>
                <a:ea typeface="Cambria" pitchFamily="34" charset="-122"/>
                <a:cs typeface="Cambria" pitchFamily="34" charset="-120"/>
              </a:rPr>
              <a:t>Every tool started from the diagnosis.</a:t>
            </a:r>
            <a:endParaRPr lang="en-US" sz="1300" dirty="0"/>
          </a:p>
        </p:txBody>
      </p:sp>
      <p:sp>
        <p:nvSpPr>
          <p:cNvPr id="18" name="Text 16"/>
          <p:cNvSpPr txBox="1"/>
          <p:nvPr/>
        </p:nvSpPr>
        <p:spPr>
          <a:xfrm>
            <a:off x="5532120" y="4864608"/>
            <a:ext cx="5852160" cy="621792"/>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HR systems have a field for it, and the newer accommodation platforms hold it on the employee's behalf. Building one with no field at all meant building something new.</a:t>
            </a:r>
            <a:endParaRPr lang="en-US" sz="1150" dirty="0"/>
          </a:p>
        </p:txBody>
      </p:sp>
      <p:sp>
        <p:nvSpPr>
          <p:cNvPr id="19" name="Text 17"/>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None of this was malice, and each one was a reason. From today, none of them is an excuse, because the thing exists, it's open, and it costs nothing to try.</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05  THE OFFER</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Open to any organisation. Here is what it needs.</a:t>
            </a:r>
            <a:endParaRPr lang="en-US" sz="3300" dirty="0"/>
          </a:p>
        </p:txBody>
      </p:sp>
      <p:sp>
        <p:nvSpPr>
          <p:cNvPr id="4" name="Shape 2"/>
          <p:cNvSpPr/>
          <p:nvPr/>
        </p:nvSpPr>
        <p:spPr>
          <a:xfrm>
            <a:off x="777240" y="1755648"/>
            <a:ext cx="5074920" cy="3246120"/>
          </a:xfrm>
          <a:prstGeom prst="roundRect">
            <a:avLst>
              <a:gd name="adj" fmla="val 1408"/>
            </a:avLst>
          </a:prstGeom>
          <a:solidFill>
            <a:srgbClr val="FFFFFF"/>
          </a:solidFill>
          <a:ln w="19050">
            <a:solidFill>
              <a:srgbClr val="1F5546"/>
            </a:solidFill>
            <a:prstDash val="solid"/>
          </a:ln>
        </p:spPr>
      </p:sp>
      <p:sp>
        <p:nvSpPr>
          <p:cNvPr id="5" name="Text 3"/>
          <p:cNvSpPr txBox="1"/>
          <p:nvPr/>
        </p:nvSpPr>
        <p:spPr>
          <a:xfrm>
            <a:off x="1024128" y="1938528"/>
            <a:ext cx="4572000" cy="329184"/>
          </a:xfrm>
          <a:prstGeom prst="rect">
            <a:avLst/>
          </a:prstGeom>
          <a:noFill/>
          <a:ln/>
        </p:spPr>
        <p:txBody>
          <a:bodyPr wrap="square" lIns="0" tIns="0" rIns="0" bIns="0" rtlCol="0" anchor="ctr"/>
          <a:lstStyle/>
          <a:p>
            <a:pPr indent="0" marL="0">
              <a:buNone/>
            </a:pPr>
            <a:r>
              <a:rPr lang="en-US" sz="1500" b="1" dirty="0">
                <a:solidFill>
                  <a:srgbClr val="1F5546"/>
                </a:solidFill>
                <a:latin typeface="Cambria" pitchFamily="34" charset="0"/>
                <a:ea typeface="Cambria" pitchFamily="34" charset="-122"/>
                <a:cs typeface="Cambria" pitchFamily="34" charset="-120"/>
              </a:rPr>
              <a:t>What you get</a:t>
            </a:r>
            <a:endParaRPr lang="en-US" sz="1500" dirty="0"/>
          </a:p>
        </p:txBody>
      </p:sp>
      <p:sp>
        <p:nvSpPr>
          <p:cNvPr id="6" name="Text 4"/>
          <p:cNvSpPr txBox="1"/>
          <p:nvPr/>
        </p:nvSpPr>
        <p:spPr>
          <a:xfrm>
            <a:off x="1024128" y="2395728"/>
            <a:ext cx="4572000" cy="246888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14171A"/>
                </a:solidFill>
                <a:latin typeface="Calibri" pitchFamily="34" charset="0"/>
                <a:ea typeface="Calibri" pitchFamily="34" charset="-122"/>
                <a:cs typeface="Calibri" pitchFamily="34" charset="-120"/>
              </a:rPr>
              <a:t>The whole system, at no cost</a:t>
            </a:r>
            <a:endParaRPr lang="en-US" sz="1250" dirty="0"/>
          </a:p>
          <a:p>
            <a:pPr marL="342900" indent="-342900">
              <a:spcAft>
                <a:spcPts val="900"/>
              </a:spcAft>
              <a:buSzPct val="100000"/>
              <a:buChar char="•"/>
            </a:pPr>
            <a:r>
              <a:rPr lang="en-US" sz="1250" dirty="0">
                <a:solidFill>
                  <a:srgbClr val="14171A"/>
                </a:solidFill>
                <a:latin typeface="Calibri" pitchFamily="34" charset="0"/>
                <a:ea typeface="Calibri" pitchFamily="34" charset="-122"/>
                <a:cs typeface="Calibri" pitchFamily="34" charset="-120"/>
              </a:rPr>
              <a:t>The code, and the library with every row’s source</a:t>
            </a:r>
            <a:endParaRPr lang="en-US" sz="1250" dirty="0"/>
          </a:p>
          <a:p>
            <a:pPr marL="342900" indent="-342900">
              <a:spcAft>
                <a:spcPts val="900"/>
              </a:spcAft>
              <a:buSzPct val="100000"/>
              <a:buChar char="•"/>
            </a:pPr>
            <a:r>
              <a:rPr lang="en-US" sz="1250" dirty="0">
                <a:solidFill>
                  <a:srgbClr val="14171A"/>
                </a:solidFill>
                <a:latin typeface="Calibri" pitchFamily="34" charset="0"/>
                <a:ea typeface="Calibri" pitchFamily="34" charset="-122"/>
                <a:cs typeface="Calibri" pitchFamily="34" charset="-120"/>
              </a:rPr>
              <a:t>The deployment into your own org, which holds your data, not ours</a:t>
            </a:r>
            <a:endParaRPr lang="en-US" sz="1250" dirty="0"/>
          </a:p>
          <a:p>
            <a:pPr marL="342900" indent="-342900">
              <a:spcAft>
                <a:spcPts val="900"/>
              </a:spcAft>
              <a:buSzPct val="100000"/>
              <a:buChar char="•"/>
            </a:pPr>
            <a:r>
              <a:rPr lang="en-US" sz="1250" dirty="0">
                <a:solidFill>
                  <a:srgbClr val="14171A"/>
                </a:solidFill>
                <a:latin typeface="Calibri" pitchFamily="34" charset="0"/>
                <a:ea typeface="Calibri" pitchFamily="34" charset="-122"/>
                <a:cs typeface="Calibri" pitchFamily="34" charset="-120"/>
              </a:rPr>
              <a:t>Both audits, so you can check us rather than trust us</a:t>
            </a:r>
            <a:endParaRPr lang="en-US" sz="1250" dirty="0"/>
          </a:p>
          <a:p>
            <a:pPr marL="342900" indent="-342900">
              <a:spcAft>
                <a:spcPts val="900"/>
              </a:spcAft>
              <a:buSzPct val="100000"/>
              <a:buChar char="•"/>
            </a:pPr>
            <a:r>
              <a:rPr lang="en-US" sz="1250" dirty="0">
                <a:solidFill>
                  <a:srgbClr val="14171A"/>
                </a:solidFill>
                <a:latin typeface="Calibri" pitchFamily="34" charset="0"/>
                <a:ea typeface="Calibri" pitchFamily="34" charset="-122"/>
                <a:cs typeface="Calibri" pitchFamily="34" charset="-120"/>
              </a:rPr>
              <a:t>MIT licence, no seat count, no lock-in</a:t>
            </a:r>
            <a:endParaRPr lang="en-US" sz="1250" dirty="0"/>
          </a:p>
        </p:txBody>
      </p:sp>
      <p:sp>
        <p:nvSpPr>
          <p:cNvPr id="7" name="Shape 5"/>
          <p:cNvSpPr/>
          <p:nvPr/>
        </p:nvSpPr>
        <p:spPr>
          <a:xfrm>
            <a:off x="6309360" y="1755648"/>
            <a:ext cx="5074920" cy="3246120"/>
          </a:xfrm>
          <a:prstGeom prst="roundRect">
            <a:avLst>
              <a:gd name="adj" fmla="val 1408"/>
            </a:avLst>
          </a:prstGeom>
          <a:solidFill>
            <a:srgbClr val="FFFFFF"/>
          </a:solidFill>
          <a:ln w="19050">
            <a:solidFill>
              <a:srgbClr val="14171A"/>
            </a:solidFill>
            <a:prstDash val="solid"/>
          </a:ln>
        </p:spPr>
      </p:sp>
      <p:sp>
        <p:nvSpPr>
          <p:cNvPr id="8" name="Text 6"/>
          <p:cNvSpPr txBox="1"/>
          <p:nvPr/>
        </p:nvSpPr>
        <p:spPr>
          <a:xfrm>
            <a:off x="6556248" y="1938528"/>
            <a:ext cx="4572000" cy="329184"/>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What it needs to work</a:t>
            </a:r>
            <a:endParaRPr lang="en-US" sz="1500" dirty="0"/>
          </a:p>
        </p:txBody>
      </p:sp>
      <p:sp>
        <p:nvSpPr>
          <p:cNvPr id="9" name="Text 7"/>
          <p:cNvSpPr txBox="1"/>
          <p:nvPr/>
        </p:nvSpPr>
        <p:spPr>
          <a:xfrm>
            <a:off x="6556248" y="2395728"/>
            <a:ext cx="4572000" cy="246888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14171A"/>
                </a:solidFill>
                <a:latin typeface="Calibri" pitchFamily="34" charset="0"/>
                <a:ea typeface="Calibri" pitchFamily="34" charset="-122"/>
                <a:cs typeface="Calibri" pitchFamily="34" charset="-120"/>
              </a:rPr>
              <a:t>Name one owner. A person, not a department</a:t>
            </a:r>
            <a:endParaRPr lang="en-US" sz="1250" dirty="0"/>
          </a:p>
          <a:p>
            <a:pPr marL="342900" indent="-342900">
              <a:spcAft>
                <a:spcPts val="900"/>
              </a:spcAft>
              <a:buSzPct val="100000"/>
              <a:buChar char="•"/>
            </a:pPr>
            <a:r>
              <a:rPr lang="en-US" sz="1250" dirty="0">
                <a:solidFill>
                  <a:srgbClr val="14171A"/>
                </a:solidFill>
                <a:latin typeface="Calibri" pitchFamily="34" charset="0"/>
                <a:ea typeface="Calibri" pitchFamily="34" charset="-122"/>
                <a:cs typeface="Calibri" pitchFamily="34" charset="-120"/>
              </a:rPr>
              <a:t>Answer within five working days. The wait is the cost</a:t>
            </a:r>
            <a:endParaRPr lang="en-US" sz="1250" dirty="0"/>
          </a:p>
          <a:p>
            <a:pPr marL="342900" indent="-342900">
              <a:spcAft>
                <a:spcPts val="900"/>
              </a:spcAft>
              <a:buSzPct val="100000"/>
              <a:buChar char="•"/>
            </a:pPr>
            <a:r>
              <a:rPr lang="en-US" sz="1250" dirty="0">
                <a:solidFill>
                  <a:srgbClr val="14171A"/>
                </a:solidFill>
                <a:latin typeface="Calibri" pitchFamily="34" charset="0"/>
                <a:ea typeface="Calibri" pitchFamily="34" charset="-122"/>
                <a:cs typeface="Calibri" pitchFamily="34" charset="-120"/>
              </a:rPr>
              <a:t>Publish what you said yes to, in aggregate, with no names</a:t>
            </a:r>
            <a:endParaRPr lang="en-US" sz="1250" dirty="0"/>
          </a:p>
          <a:p>
            <a:pPr marL="342900" indent="-342900">
              <a:spcAft>
                <a:spcPts val="900"/>
              </a:spcAft>
              <a:buSzPct val="100000"/>
              <a:buChar char="•"/>
            </a:pPr>
            <a:r>
              <a:rPr lang="en-US" sz="1250" dirty="0">
                <a:solidFill>
                  <a:srgbClr val="14171A"/>
                </a:solidFill>
                <a:latin typeface="Calibri" pitchFamily="34" charset="0"/>
                <a:ea typeface="Calibri" pitchFamily="34" charset="-122"/>
                <a:cs typeface="Calibri" pitchFamily="34" charset="-120"/>
              </a:rPr>
              <a:t>Let a disabled employee test it before you launch it</a:t>
            </a:r>
            <a:endParaRPr lang="en-US" sz="1250" dirty="0"/>
          </a:p>
          <a:p>
            <a:pPr marL="342900" indent="-342900">
              <a:spcAft>
                <a:spcPts val="900"/>
              </a:spcAft>
              <a:buSzPct val="100000"/>
              <a:buChar char="•"/>
            </a:pPr>
            <a:r>
              <a:rPr lang="en-US" sz="1250" dirty="0">
                <a:solidFill>
                  <a:srgbClr val="14171A"/>
                </a:solidFill>
                <a:latin typeface="Calibri" pitchFamily="34" charset="0"/>
                <a:ea typeface="Calibri" pitchFamily="34" charset="-122"/>
                <a:cs typeface="Calibri" pitchFamily="34" charset="-120"/>
              </a:rPr>
              <a:t>Tell us what broke</a:t>
            </a:r>
            <a:endParaRPr lang="en-US" sz="1250" dirty="0"/>
          </a:p>
        </p:txBody>
      </p:sp>
      <p:sp>
        <p:nvSpPr>
          <p:cNvPr id="10" name="Text 8"/>
          <p:cNvSpPr txBox="1"/>
          <p:nvPr/>
        </p:nvSpPr>
        <p:spPr>
          <a:xfrm>
            <a:off x="777240" y="5084064"/>
            <a:ext cx="10607040" cy="566928"/>
          </a:xfrm>
          <a:prstGeom prst="rect">
            <a:avLst/>
          </a:prstGeom>
          <a:noFill/>
          <a:ln/>
        </p:spPr>
        <p:txBody>
          <a:bodyPr wrap="square" lIns="0" tIns="0" rIns="0" bIns="0" rtlCol="0" anchor="ctr"/>
          <a:lstStyle/>
          <a:p>
            <a:pPr indent="0" marL="0">
              <a:buNone/>
            </a:pPr>
            <a:r>
              <a:rPr lang="en-US" sz="1350" dirty="0">
                <a:solidFill>
                  <a:srgbClr val="42474C"/>
                </a:solidFill>
                <a:latin typeface="Calibri" pitchFamily="34" charset="0"/>
                <a:ea typeface="Calibri" pitchFamily="34" charset="-122"/>
                <a:cs typeface="Calibri" pitchFamily="34" charset="-120"/>
              </a:rPr>
              <a:t>We aren't asking for a case study or a logo. Those five things are what actually makes an accommodation arrive, and an organisation unwilling to do them wouldn't have got value from the software either.</a:t>
            </a:r>
            <a:endParaRPr lang="en-US" sz="1350" dirty="0"/>
          </a:p>
        </p:txBody>
      </p:sp>
      <p:sp>
        <p:nvSpPr>
          <p:cNvPr id="11" name="Text 9"/>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Sixty-one in a hundred cost nothing. An organisation that runs this will find that out on its own data, and then nobody gets to say it was the money.</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777240" y="2286000"/>
            <a:ext cx="1828800" cy="914400"/>
          </a:xfrm>
          <a:prstGeom prst="rect">
            <a:avLst/>
          </a:prstGeom>
          <a:noFill/>
          <a:ln/>
        </p:spPr>
        <p:txBody>
          <a:bodyPr wrap="square" lIns="0" tIns="0" rIns="0" bIns="0" rtlCol="0" anchor="ctr"/>
          <a:lstStyle/>
          <a:p>
            <a:pPr indent="0" marL="0">
              <a:buNone/>
            </a:pPr>
            <a:r>
              <a:rPr lang="en-US" sz="4800" b="1" dirty="0">
                <a:solidFill>
                  <a:srgbClr val="E8C87A"/>
                </a:solidFill>
                <a:latin typeface="Courier New" pitchFamily="34" charset="0"/>
                <a:ea typeface="Courier New" pitchFamily="34" charset="-122"/>
                <a:cs typeface="Courier New" pitchFamily="34" charset="-120"/>
              </a:rPr>
              <a:t>A</a:t>
            </a:r>
            <a:endParaRPr lang="en-US" sz="4800" dirty="0"/>
          </a:p>
        </p:txBody>
      </p:sp>
      <p:sp>
        <p:nvSpPr>
          <p:cNvPr id="3" name="Text 1"/>
          <p:cNvSpPr txBox="1"/>
          <p:nvPr/>
        </p:nvSpPr>
        <p:spPr>
          <a:xfrm>
            <a:off x="777240" y="3154680"/>
            <a:ext cx="10058400" cy="822960"/>
          </a:xfrm>
          <a:prstGeom prst="rect">
            <a:avLst/>
          </a:prstGeom>
          <a:noFill/>
          <a:ln/>
        </p:spPr>
        <p:txBody>
          <a:bodyPr wrap="square" lIns="0" tIns="0" rIns="0" bIns="0" rtlCol="0" anchor="ctr"/>
          <a:lstStyle/>
          <a:p>
            <a:pPr indent="0" marL="0">
              <a:buNone/>
            </a:pPr>
            <a:r>
              <a:rPr lang="en-US" sz="4100" b="1" dirty="0">
                <a:solidFill>
                  <a:srgbClr val="F7F5EF"/>
                </a:solidFill>
                <a:latin typeface="Cambria" pitchFamily="34" charset="0"/>
                <a:ea typeface="Cambria" pitchFamily="34" charset="-122"/>
                <a:cs typeface="Cambria" pitchFamily="34" charset="-120"/>
              </a:rPr>
              <a:t>Appendix</a:t>
            </a:r>
            <a:endParaRPr lang="en-US" sz="4100" dirty="0"/>
          </a:p>
        </p:txBody>
      </p:sp>
      <p:sp>
        <p:nvSpPr>
          <p:cNvPr id="4" name="Text 2"/>
          <p:cNvSpPr txBox="1"/>
          <p:nvPr/>
        </p:nvSpPr>
        <p:spPr>
          <a:xfrm>
            <a:off x="777240" y="4114800"/>
            <a:ext cx="9144000" cy="457200"/>
          </a:xfrm>
          <a:prstGeom prst="rect">
            <a:avLst/>
          </a:prstGeom>
          <a:noFill/>
          <a:ln/>
        </p:spPr>
        <p:txBody>
          <a:bodyPr wrap="square" lIns="0" tIns="0" rIns="0" bIns="0" rtlCol="0" anchor="ctr"/>
          <a:lstStyle/>
          <a:p>
            <a:pPr indent="0" marL="0">
              <a:buNone/>
            </a:pPr>
            <a:r>
              <a:rPr lang="en-US" sz="1600" dirty="0">
                <a:solidFill>
                  <a:srgbClr val="A9B0B6"/>
                </a:solidFill>
                <a:latin typeface="Calibri" pitchFamily="34" charset="0"/>
                <a:ea typeface="Calibri" pitchFamily="34" charset="-122"/>
                <a:cs typeface="Calibri" pitchFamily="34" charset="-120"/>
              </a:rPr>
              <a:t>Every figure, its source, and the command that proves it.</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APPENDIX  |  SOURCES</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Every figure, and where it came from.</a:t>
            </a:r>
            <a:endParaRPr lang="en-US" sz="3300" dirty="0"/>
          </a:p>
        </p:txBody>
      </p:sp>
      <p:sp>
        <p:nvSpPr>
          <p:cNvPr id="4" name="Shape 2"/>
          <p:cNvSpPr/>
          <p:nvPr/>
        </p:nvSpPr>
        <p:spPr>
          <a:xfrm>
            <a:off x="777240" y="1755648"/>
            <a:ext cx="4114800" cy="475488"/>
          </a:xfrm>
          <a:prstGeom prst="rect">
            <a:avLst/>
          </a:prstGeom>
          <a:solidFill>
            <a:srgbClr val="E7E3D8"/>
          </a:solidFill>
          <a:ln w="12700">
            <a:solidFill>
              <a:srgbClr val="D3CEC0"/>
            </a:solidFill>
            <a:prstDash val="solid"/>
          </a:ln>
        </p:spPr>
      </p:sp>
      <p:sp>
        <p:nvSpPr>
          <p:cNvPr id="5" name="Text 3"/>
          <p:cNvSpPr txBox="1"/>
          <p:nvPr/>
        </p:nvSpPr>
        <p:spPr>
          <a:xfrm>
            <a:off x="923544" y="1892808"/>
            <a:ext cx="3840480" cy="274320"/>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1.3 billion, 16% of the world</a:t>
            </a:r>
            <a:endParaRPr lang="en-US" sz="1200" dirty="0"/>
          </a:p>
        </p:txBody>
      </p:sp>
      <p:sp>
        <p:nvSpPr>
          <p:cNvPr id="6" name="Text 4"/>
          <p:cNvSpPr txBox="1"/>
          <p:nvPr/>
        </p:nvSpPr>
        <p:spPr>
          <a:xfrm>
            <a:off x="5120640" y="1892808"/>
            <a:ext cx="6309360" cy="310896"/>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WHO, Global report on health equity for persons with disabilities, 2022</a:t>
            </a:r>
            <a:endParaRPr lang="en-US" sz="1150" dirty="0"/>
          </a:p>
        </p:txBody>
      </p:sp>
      <p:sp>
        <p:nvSpPr>
          <p:cNvPr id="7" name="Shape 5"/>
          <p:cNvSpPr/>
          <p:nvPr/>
        </p:nvSpPr>
        <p:spPr>
          <a:xfrm>
            <a:off x="777240" y="2304288"/>
            <a:ext cx="4114800" cy="475488"/>
          </a:xfrm>
          <a:prstGeom prst="rect">
            <a:avLst/>
          </a:prstGeom>
          <a:solidFill>
            <a:srgbClr val="E7E3D8"/>
          </a:solidFill>
          <a:ln w="12700">
            <a:solidFill>
              <a:srgbClr val="D3CEC0"/>
            </a:solidFill>
            <a:prstDash val="solid"/>
          </a:ln>
        </p:spPr>
      </p:sp>
      <p:sp>
        <p:nvSpPr>
          <p:cNvPr id="8" name="Text 6"/>
          <p:cNvSpPr txBox="1"/>
          <p:nvPr/>
        </p:nvSpPr>
        <p:spPr>
          <a:xfrm>
            <a:off x="923544" y="2441448"/>
            <a:ext cx="3840480" cy="274320"/>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27% of Canadians aged 15+</a:t>
            </a:r>
            <a:endParaRPr lang="en-US" sz="1200" dirty="0"/>
          </a:p>
        </p:txBody>
      </p:sp>
      <p:sp>
        <p:nvSpPr>
          <p:cNvPr id="9" name="Text 7"/>
          <p:cNvSpPr txBox="1"/>
          <p:nvPr/>
        </p:nvSpPr>
        <p:spPr>
          <a:xfrm>
            <a:off x="5120640" y="2441448"/>
            <a:ext cx="6309360" cy="310896"/>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Statistics Canada, Canadian Survey on Disability</a:t>
            </a:r>
            <a:endParaRPr lang="en-US" sz="1150" dirty="0"/>
          </a:p>
        </p:txBody>
      </p:sp>
      <p:sp>
        <p:nvSpPr>
          <p:cNvPr id="10" name="Shape 8"/>
          <p:cNvSpPr/>
          <p:nvPr/>
        </p:nvSpPr>
        <p:spPr>
          <a:xfrm>
            <a:off x="777240" y="2852928"/>
            <a:ext cx="4114800" cy="475488"/>
          </a:xfrm>
          <a:prstGeom prst="rect">
            <a:avLst/>
          </a:prstGeom>
          <a:solidFill>
            <a:srgbClr val="E7E3D8"/>
          </a:solidFill>
          <a:ln w="12700">
            <a:solidFill>
              <a:srgbClr val="D3CEC0"/>
            </a:solidFill>
            <a:prstDash val="solid"/>
          </a:ln>
        </p:spPr>
      </p:sp>
      <p:sp>
        <p:nvSpPr>
          <p:cNvPr id="11" name="Text 9"/>
          <p:cNvSpPr txBox="1"/>
          <p:nvPr/>
        </p:nvSpPr>
        <p:spPr>
          <a:xfrm>
            <a:off x="923544" y="2990088"/>
            <a:ext cx="3840480" cy="274320"/>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35.4% have an unmet need</a:t>
            </a:r>
            <a:endParaRPr lang="en-US" sz="1200" dirty="0"/>
          </a:p>
        </p:txBody>
      </p:sp>
      <p:sp>
        <p:nvSpPr>
          <p:cNvPr id="12" name="Text 10"/>
          <p:cNvSpPr txBox="1"/>
          <p:nvPr/>
        </p:nvSpPr>
        <p:spPr>
          <a:xfrm>
            <a:off x="5120640" y="2990088"/>
            <a:ext cx="6309360" cy="310896"/>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Statistics Canada, the strongest single figure in this deck</a:t>
            </a:r>
            <a:endParaRPr lang="en-US" sz="1150" dirty="0"/>
          </a:p>
        </p:txBody>
      </p:sp>
      <p:sp>
        <p:nvSpPr>
          <p:cNvPr id="13" name="Shape 11"/>
          <p:cNvSpPr/>
          <p:nvPr/>
        </p:nvSpPr>
        <p:spPr>
          <a:xfrm>
            <a:off x="777240" y="3401568"/>
            <a:ext cx="4114800" cy="475488"/>
          </a:xfrm>
          <a:prstGeom prst="rect">
            <a:avLst/>
          </a:prstGeom>
          <a:solidFill>
            <a:srgbClr val="E7E3D8"/>
          </a:solidFill>
          <a:ln w="12700">
            <a:solidFill>
              <a:srgbClr val="D3CEC0"/>
            </a:solidFill>
            <a:prstDash val="solid"/>
          </a:ln>
        </p:spPr>
      </p:sp>
      <p:sp>
        <p:nvSpPr>
          <p:cNvPr id="14" name="Text 12"/>
          <p:cNvSpPr txBox="1"/>
          <p:nvPr/>
        </p:nvSpPr>
        <p:spPr>
          <a:xfrm>
            <a:off x="923544" y="3538728"/>
            <a:ext cx="3840480" cy="274320"/>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22.8% employed, 30% part time</a:t>
            </a:r>
            <a:endParaRPr lang="en-US" sz="1200" dirty="0"/>
          </a:p>
        </p:txBody>
      </p:sp>
      <p:sp>
        <p:nvSpPr>
          <p:cNvPr id="15" name="Text 13"/>
          <p:cNvSpPr txBox="1"/>
          <p:nvPr/>
        </p:nvSpPr>
        <p:spPr>
          <a:xfrm>
            <a:off x="5120640" y="3538728"/>
            <a:ext cx="6309360" cy="310896"/>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US Bureau of Labor Statistics, 2025 data, released March 2026</a:t>
            </a:r>
            <a:endParaRPr lang="en-US" sz="1150" dirty="0"/>
          </a:p>
        </p:txBody>
      </p:sp>
      <p:sp>
        <p:nvSpPr>
          <p:cNvPr id="16" name="Shape 14"/>
          <p:cNvSpPr/>
          <p:nvPr/>
        </p:nvSpPr>
        <p:spPr>
          <a:xfrm>
            <a:off x="777240" y="3950208"/>
            <a:ext cx="4114800" cy="475488"/>
          </a:xfrm>
          <a:prstGeom prst="rect">
            <a:avLst/>
          </a:prstGeom>
          <a:solidFill>
            <a:srgbClr val="E7E3D8"/>
          </a:solidFill>
          <a:ln w="12700">
            <a:solidFill>
              <a:srgbClr val="D3CEC0"/>
            </a:solidFill>
            <a:prstDash val="solid"/>
          </a:ln>
        </p:spPr>
      </p:sp>
      <p:sp>
        <p:nvSpPr>
          <p:cNvPr id="17" name="Text 15"/>
          <p:cNvSpPr txBox="1"/>
          <p:nvPr/>
        </p:nvSpPr>
        <p:spPr>
          <a:xfrm>
            <a:off x="923544" y="4087368"/>
            <a:ext cx="3840480" cy="274320"/>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3.5% told their employer, 2025</a:t>
            </a:r>
            <a:endParaRPr lang="en-US" sz="1200" dirty="0"/>
          </a:p>
        </p:txBody>
      </p:sp>
      <p:sp>
        <p:nvSpPr>
          <p:cNvPr id="18" name="Text 16"/>
          <p:cNvSpPr txBox="1"/>
          <p:nvPr/>
        </p:nvSpPr>
        <p:spPr>
          <a:xfrm>
            <a:off x="5120640" y="4087368"/>
            <a:ext cx="6309360" cy="310896"/>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Disability:IN 2025 index, 655 employer submissions; Coqual found 3.2% among white-collar workers</a:t>
            </a:r>
            <a:endParaRPr lang="en-US" sz="1150" dirty="0"/>
          </a:p>
        </p:txBody>
      </p:sp>
      <p:sp>
        <p:nvSpPr>
          <p:cNvPr id="19" name="Shape 17"/>
          <p:cNvSpPr/>
          <p:nvPr/>
        </p:nvSpPr>
        <p:spPr>
          <a:xfrm>
            <a:off x="777240" y="4498848"/>
            <a:ext cx="4114800" cy="475488"/>
          </a:xfrm>
          <a:prstGeom prst="rect">
            <a:avLst/>
          </a:prstGeom>
          <a:solidFill>
            <a:srgbClr val="E7E3D8"/>
          </a:solidFill>
          <a:ln w="12700">
            <a:solidFill>
              <a:srgbClr val="D3CEC0"/>
            </a:solidFill>
            <a:prstDash val="solid"/>
          </a:ln>
        </p:spPr>
      </p:sp>
      <p:sp>
        <p:nvSpPr>
          <p:cNvPr id="20" name="Text 18"/>
          <p:cNvSpPr txBox="1"/>
          <p:nvPr/>
        </p:nvSpPr>
        <p:spPr>
          <a:xfrm>
            <a:off x="923544" y="4636008"/>
            <a:ext cx="3840480" cy="274320"/>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98% report flexible or remote accommodations</a:t>
            </a:r>
            <a:endParaRPr lang="en-US" sz="1200" dirty="0"/>
          </a:p>
        </p:txBody>
      </p:sp>
      <p:sp>
        <p:nvSpPr>
          <p:cNvPr id="21" name="Text 19"/>
          <p:cNvSpPr txBox="1"/>
          <p:nvPr/>
        </p:nvSpPr>
        <p:spPr>
          <a:xfrm>
            <a:off x="5120640" y="4636008"/>
            <a:ext cx="6309360" cy="310896"/>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Disability:IN 2026 index, 421 organisations</a:t>
            </a:r>
            <a:endParaRPr lang="en-US" sz="1150" dirty="0"/>
          </a:p>
        </p:txBody>
      </p:sp>
      <p:sp>
        <p:nvSpPr>
          <p:cNvPr id="22" name="Shape 20"/>
          <p:cNvSpPr/>
          <p:nvPr/>
        </p:nvSpPr>
        <p:spPr>
          <a:xfrm>
            <a:off x="777240" y="5047488"/>
            <a:ext cx="4114800" cy="475488"/>
          </a:xfrm>
          <a:prstGeom prst="rect">
            <a:avLst/>
          </a:prstGeom>
          <a:solidFill>
            <a:srgbClr val="E7E3D8"/>
          </a:solidFill>
          <a:ln w="12700">
            <a:solidFill>
              <a:srgbClr val="D3CEC0"/>
            </a:solidFill>
            <a:prstDash val="solid"/>
          </a:ln>
        </p:spPr>
      </p:sp>
      <p:sp>
        <p:nvSpPr>
          <p:cNvPr id="23" name="Text 21"/>
          <p:cNvSpPr txBox="1"/>
          <p:nvPr/>
        </p:nvSpPr>
        <p:spPr>
          <a:xfrm>
            <a:off x="923544" y="5184648"/>
            <a:ext cx="3840480" cy="274320"/>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61% of accommodations cost nothing</a:t>
            </a:r>
            <a:endParaRPr lang="en-US" sz="1200" dirty="0"/>
          </a:p>
        </p:txBody>
      </p:sp>
      <p:sp>
        <p:nvSpPr>
          <p:cNvPr id="24" name="Text 22"/>
          <p:cNvSpPr txBox="1"/>
          <p:nvPr/>
        </p:nvSpPr>
        <p:spPr>
          <a:xfrm>
            <a:off x="5120640" y="5184648"/>
            <a:ext cx="6309360" cy="310896"/>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Job Accommodation Network, 1,425 employers through 2024</a:t>
            </a:r>
            <a:endParaRPr lang="en-US" sz="1150" dirty="0"/>
          </a:p>
        </p:txBody>
      </p:sp>
      <p:sp>
        <p:nvSpPr>
          <p:cNvPr id="25" name="Text 23"/>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They narrow rather than contradict. The wider the definition, the more people find they are counted, and the more of them have never told anyone at work.</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APPENDIX  |  VERIFICATION</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Don't take any of it on trust.</a:t>
            </a:r>
            <a:endParaRPr lang="en-US" sz="3300" dirty="0"/>
          </a:p>
        </p:txBody>
      </p:sp>
      <p:sp>
        <p:nvSpPr>
          <p:cNvPr id="4" name="Text 2"/>
          <p:cNvSpPr txBox="1"/>
          <p:nvPr/>
        </p:nvSpPr>
        <p:spPr>
          <a:xfrm>
            <a:off x="777240" y="1810512"/>
            <a:ext cx="914400" cy="329184"/>
          </a:xfrm>
          <a:prstGeom prst="rect">
            <a:avLst/>
          </a:prstGeom>
          <a:noFill/>
          <a:ln/>
        </p:spPr>
        <p:txBody>
          <a:bodyPr wrap="square" lIns="0" tIns="0" rIns="0" bIns="0" rtlCol="0" anchor="ctr"/>
          <a:lstStyle/>
          <a:p>
            <a:pPr algn="r" indent="0" marL="0">
              <a:buNone/>
            </a:pPr>
            <a:r>
              <a:rPr lang="en-US" sz="1600" b="1" dirty="0">
                <a:solidFill>
                  <a:srgbClr val="9A6608"/>
                </a:solidFill>
                <a:latin typeface="Courier New" pitchFamily="34" charset="0"/>
                <a:ea typeface="Courier New" pitchFamily="34" charset="-122"/>
                <a:cs typeface="Courier New" pitchFamily="34" charset="-120"/>
              </a:rPr>
              <a:t>517</a:t>
            </a:r>
            <a:endParaRPr lang="en-US" sz="1600" dirty="0"/>
          </a:p>
        </p:txBody>
      </p:sp>
      <p:sp>
        <p:nvSpPr>
          <p:cNvPr id="5" name="Text 3"/>
          <p:cNvSpPr txBox="1"/>
          <p:nvPr/>
        </p:nvSpPr>
        <p:spPr>
          <a:xfrm>
            <a:off x="1874520" y="1865376"/>
            <a:ext cx="3840480" cy="292608"/>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structural invariants</a:t>
            </a:r>
            <a:endParaRPr lang="en-US" sz="1200" dirty="0"/>
          </a:p>
        </p:txBody>
      </p:sp>
      <p:sp>
        <p:nvSpPr>
          <p:cNvPr id="6" name="Shape 4"/>
          <p:cNvSpPr/>
          <p:nvPr/>
        </p:nvSpPr>
        <p:spPr>
          <a:xfrm>
            <a:off x="5806440" y="1755648"/>
            <a:ext cx="5577840" cy="438912"/>
          </a:xfrm>
          <a:prstGeom prst="rect">
            <a:avLst/>
          </a:prstGeom>
          <a:solidFill>
            <a:srgbClr val="E7E3D8"/>
          </a:solidFill>
          <a:ln w="12700">
            <a:solidFill>
              <a:srgbClr val="D3CEC0"/>
            </a:solidFill>
            <a:prstDash val="solid"/>
          </a:ln>
        </p:spPr>
      </p:sp>
      <p:sp>
        <p:nvSpPr>
          <p:cNvPr id="7" name="Text 5"/>
          <p:cNvSpPr txBox="1"/>
          <p:nvPr/>
        </p:nvSpPr>
        <p:spPr>
          <a:xfrm>
            <a:off x="5961888" y="1892808"/>
            <a:ext cx="5303520" cy="274320"/>
          </a:xfrm>
          <a:prstGeom prst="rect">
            <a:avLst/>
          </a:prstGeom>
          <a:noFill/>
          <a:ln/>
        </p:spPr>
        <p:txBody>
          <a:bodyPr wrap="square" lIns="0" tIns="0" rIns="0" bIns="0" rtlCol="0" anchor="ctr"/>
          <a:lstStyle/>
          <a:p>
            <a:pPr indent="0" marL="0">
              <a:buNone/>
            </a:pPr>
            <a:r>
              <a:rPr lang="en-US" sz="1050" dirty="0">
                <a:solidFill>
                  <a:srgbClr val="14171A"/>
                </a:solidFill>
                <a:latin typeface="Courier New" pitchFamily="34" charset="0"/>
                <a:ea typeface="Courier New" pitchFamily="34" charset="-122"/>
                <a:cs typeface="Courier New" pitchFamily="34" charset="-120"/>
              </a:rPr>
              <a:t>python3 tests/invariants.py</a:t>
            </a:r>
            <a:endParaRPr lang="en-US" sz="1050" dirty="0"/>
          </a:p>
        </p:txBody>
      </p:sp>
      <p:sp>
        <p:nvSpPr>
          <p:cNvPr id="8" name="Text 6"/>
          <p:cNvSpPr txBox="1"/>
          <p:nvPr/>
        </p:nvSpPr>
        <p:spPr>
          <a:xfrm>
            <a:off x="777240" y="2359152"/>
            <a:ext cx="914400" cy="329184"/>
          </a:xfrm>
          <a:prstGeom prst="rect">
            <a:avLst/>
          </a:prstGeom>
          <a:noFill/>
          <a:ln/>
        </p:spPr>
        <p:txBody>
          <a:bodyPr wrap="square" lIns="0" tIns="0" rIns="0" bIns="0" rtlCol="0" anchor="ctr"/>
          <a:lstStyle/>
          <a:p>
            <a:pPr algn="r" indent="0" marL="0">
              <a:buNone/>
            </a:pPr>
            <a:r>
              <a:rPr lang="en-US" sz="1600" b="1" dirty="0">
                <a:solidFill>
                  <a:srgbClr val="9A6608"/>
                </a:solidFill>
                <a:latin typeface="Courier New" pitchFamily="34" charset="0"/>
                <a:ea typeface="Courier New" pitchFamily="34" charset="-122"/>
                <a:cs typeface="Courier New" pitchFamily="34" charset="-120"/>
              </a:rPr>
              <a:t>129</a:t>
            </a:r>
            <a:endParaRPr lang="en-US" sz="1600" dirty="0"/>
          </a:p>
        </p:txBody>
      </p:sp>
      <p:sp>
        <p:nvSpPr>
          <p:cNvPr id="9" name="Text 7"/>
          <p:cNvSpPr txBox="1"/>
          <p:nvPr/>
        </p:nvSpPr>
        <p:spPr>
          <a:xfrm>
            <a:off x="1874520" y="2414016"/>
            <a:ext cx="3840480" cy="292608"/>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Apex tests</a:t>
            </a:r>
            <a:endParaRPr lang="en-US" sz="1200" dirty="0"/>
          </a:p>
        </p:txBody>
      </p:sp>
      <p:sp>
        <p:nvSpPr>
          <p:cNvPr id="10" name="Shape 8"/>
          <p:cNvSpPr/>
          <p:nvPr/>
        </p:nvSpPr>
        <p:spPr>
          <a:xfrm>
            <a:off x="5806440" y="2304288"/>
            <a:ext cx="5577840" cy="438912"/>
          </a:xfrm>
          <a:prstGeom prst="rect">
            <a:avLst/>
          </a:prstGeom>
          <a:solidFill>
            <a:srgbClr val="E7E3D8"/>
          </a:solidFill>
          <a:ln w="12700">
            <a:solidFill>
              <a:srgbClr val="D3CEC0"/>
            </a:solidFill>
            <a:prstDash val="solid"/>
          </a:ln>
        </p:spPr>
      </p:sp>
      <p:sp>
        <p:nvSpPr>
          <p:cNvPr id="11" name="Text 9"/>
          <p:cNvSpPr txBox="1"/>
          <p:nvPr/>
        </p:nvSpPr>
        <p:spPr>
          <a:xfrm>
            <a:off x="5961888" y="2441448"/>
            <a:ext cx="5303520" cy="274320"/>
          </a:xfrm>
          <a:prstGeom prst="rect">
            <a:avLst/>
          </a:prstGeom>
          <a:noFill/>
          <a:ln/>
        </p:spPr>
        <p:txBody>
          <a:bodyPr wrap="square" lIns="0" tIns="0" rIns="0" bIns="0" rtlCol="0" anchor="ctr"/>
          <a:lstStyle/>
          <a:p>
            <a:pPr indent="0" marL="0">
              <a:buNone/>
            </a:pPr>
            <a:r>
              <a:rPr lang="en-US" sz="1050" dirty="0">
                <a:solidFill>
                  <a:srgbClr val="14171A"/>
                </a:solidFill>
                <a:latin typeface="Courier New" pitchFamily="34" charset="0"/>
                <a:ea typeface="Courier New" pitchFamily="34" charset="-122"/>
                <a:cs typeface="Courier New" pitchFamily="34" charset="-120"/>
              </a:rPr>
              <a:t>sf apex run test -o curbcut -l RunLocalTests</a:t>
            </a:r>
            <a:endParaRPr lang="en-US" sz="1050" dirty="0"/>
          </a:p>
        </p:txBody>
      </p:sp>
      <p:sp>
        <p:nvSpPr>
          <p:cNvPr id="12" name="Text 10"/>
          <p:cNvSpPr txBox="1"/>
          <p:nvPr/>
        </p:nvSpPr>
        <p:spPr>
          <a:xfrm>
            <a:off x="777240" y="2907792"/>
            <a:ext cx="914400" cy="329184"/>
          </a:xfrm>
          <a:prstGeom prst="rect">
            <a:avLst/>
          </a:prstGeom>
          <a:noFill/>
          <a:ln/>
        </p:spPr>
        <p:txBody>
          <a:bodyPr wrap="square" lIns="0" tIns="0" rIns="0" bIns="0" rtlCol="0" anchor="ctr"/>
          <a:lstStyle/>
          <a:p>
            <a:pPr algn="r" indent="0" marL="0">
              <a:buNone/>
            </a:pPr>
            <a:r>
              <a:rPr lang="en-US" sz="1600" b="1" dirty="0">
                <a:solidFill>
                  <a:srgbClr val="9A6608"/>
                </a:solidFill>
                <a:latin typeface="Courier New" pitchFamily="34" charset="0"/>
                <a:ea typeface="Courier New" pitchFamily="34" charset="-122"/>
                <a:cs typeface="Courier New" pitchFamily="34" charset="-120"/>
              </a:rPr>
              <a:t>516</a:t>
            </a:r>
            <a:endParaRPr lang="en-US" sz="1600" dirty="0"/>
          </a:p>
        </p:txBody>
      </p:sp>
      <p:sp>
        <p:nvSpPr>
          <p:cNvPr id="13" name="Text 11"/>
          <p:cNvSpPr txBox="1"/>
          <p:nvPr/>
        </p:nvSpPr>
        <p:spPr>
          <a:xfrm>
            <a:off x="1874520" y="2962656"/>
            <a:ext cx="3840480" cy="292608"/>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accessibility checks, live pages</a:t>
            </a:r>
            <a:endParaRPr lang="en-US" sz="1200" dirty="0"/>
          </a:p>
        </p:txBody>
      </p:sp>
      <p:sp>
        <p:nvSpPr>
          <p:cNvPr id="14" name="Shape 12"/>
          <p:cNvSpPr/>
          <p:nvPr/>
        </p:nvSpPr>
        <p:spPr>
          <a:xfrm>
            <a:off x="5806440" y="2852928"/>
            <a:ext cx="5577840" cy="438912"/>
          </a:xfrm>
          <a:prstGeom prst="rect">
            <a:avLst/>
          </a:prstGeom>
          <a:solidFill>
            <a:srgbClr val="E7E3D8"/>
          </a:solidFill>
          <a:ln w="12700">
            <a:solidFill>
              <a:srgbClr val="D3CEC0"/>
            </a:solidFill>
            <a:prstDash val="solid"/>
          </a:ln>
        </p:spPr>
      </p:sp>
      <p:sp>
        <p:nvSpPr>
          <p:cNvPr id="15" name="Text 13"/>
          <p:cNvSpPr txBox="1"/>
          <p:nvPr/>
        </p:nvSpPr>
        <p:spPr>
          <a:xfrm>
            <a:off x="5961888" y="2990088"/>
            <a:ext cx="5303520" cy="274320"/>
          </a:xfrm>
          <a:prstGeom prst="rect">
            <a:avLst/>
          </a:prstGeom>
          <a:noFill/>
          <a:ln/>
        </p:spPr>
        <p:txBody>
          <a:bodyPr wrap="square" lIns="0" tIns="0" rIns="0" bIns="0" rtlCol="0" anchor="ctr"/>
          <a:lstStyle/>
          <a:p>
            <a:pPr indent="0" marL="0">
              <a:buNone/>
            </a:pPr>
            <a:r>
              <a:rPr lang="en-US" sz="1050" dirty="0">
                <a:solidFill>
                  <a:srgbClr val="14171A"/>
                </a:solidFill>
                <a:latin typeface="Courier New" pitchFamily="34" charset="0"/>
                <a:ea typeface="Courier New" pitchFamily="34" charset="-122"/>
                <a:cs typeface="Courier New" pitchFamily="34" charset="-120"/>
              </a:rPr>
              <a:t>python3 tests/a11y_audit.py</a:t>
            </a:r>
            <a:endParaRPr lang="en-US" sz="1050" dirty="0"/>
          </a:p>
        </p:txBody>
      </p:sp>
      <p:sp>
        <p:nvSpPr>
          <p:cNvPr id="16" name="Text 14"/>
          <p:cNvSpPr txBox="1"/>
          <p:nvPr/>
        </p:nvSpPr>
        <p:spPr>
          <a:xfrm>
            <a:off x="777240" y="3456432"/>
            <a:ext cx="914400" cy="329184"/>
          </a:xfrm>
          <a:prstGeom prst="rect">
            <a:avLst/>
          </a:prstGeom>
          <a:noFill/>
          <a:ln/>
        </p:spPr>
        <p:txBody>
          <a:bodyPr wrap="square" lIns="0" tIns="0" rIns="0" bIns="0" rtlCol="0" anchor="ctr"/>
          <a:lstStyle/>
          <a:p>
            <a:pPr algn="r" indent="0" marL="0">
              <a:buNone/>
            </a:pPr>
            <a:r>
              <a:rPr lang="en-US" sz="1600" b="1" dirty="0">
                <a:solidFill>
                  <a:srgbClr val="9A6608"/>
                </a:solidFill>
                <a:latin typeface="Courier New" pitchFamily="34" charset="0"/>
                <a:ea typeface="Courier New" pitchFamily="34" charset="-122"/>
                <a:cs typeface="Courier New" pitchFamily="34" charset="-120"/>
              </a:rPr>
              <a:t>131</a:t>
            </a:r>
            <a:endParaRPr lang="en-US" sz="1600" dirty="0"/>
          </a:p>
        </p:txBody>
      </p:sp>
      <p:sp>
        <p:nvSpPr>
          <p:cNvPr id="17" name="Text 15"/>
          <p:cNvSpPr txBox="1"/>
          <p:nvPr/>
        </p:nvSpPr>
        <p:spPr>
          <a:xfrm>
            <a:off x="1874520" y="3511296"/>
            <a:ext cx="3840480" cy="292608"/>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Sa11y, Salesforce’s own matcher</a:t>
            </a:r>
            <a:endParaRPr lang="en-US" sz="1200" dirty="0"/>
          </a:p>
        </p:txBody>
      </p:sp>
      <p:sp>
        <p:nvSpPr>
          <p:cNvPr id="18" name="Shape 16"/>
          <p:cNvSpPr/>
          <p:nvPr/>
        </p:nvSpPr>
        <p:spPr>
          <a:xfrm>
            <a:off x="5806440" y="3401568"/>
            <a:ext cx="5577840" cy="438912"/>
          </a:xfrm>
          <a:prstGeom prst="rect">
            <a:avLst/>
          </a:prstGeom>
          <a:solidFill>
            <a:srgbClr val="E7E3D8"/>
          </a:solidFill>
          <a:ln w="12700">
            <a:solidFill>
              <a:srgbClr val="D3CEC0"/>
            </a:solidFill>
            <a:prstDash val="solid"/>
          </a:ln>
        </p:spPr>
      </p:sp>
      <p:sp>
        <p:nvSpPr>
          <p:cNvPr id="19" name="Text 17"/>
          <p:cNvSpPr txBox="1"/>
          <p:nvPr/>
        </p:nvSpPr>
        <p:spPr>
          <a:xfrm>
            <a:off x="5961888" y="3538728"/>
            <a:ext cx="5303520" cy="274320"/>
          </a:xfrm>
          <a:prstGeom prst="rect">
            <a:avLst/>
          </a:prstGeom>
          <a:noFill/>
          <a:ln/>
        </p:spPr>
        <p:txBody>
          <a:bodyPr wrap="square" lIns="0" tIns="0" rIns="0" bIns="0" rtlCol="0" anchor="ctr"/>
          <a:lstStyle/>
          <a:p>
            <a:pPr indent="0" marL="0">
              <a:buNone/>
            </a:pPr>
            <a:r>
              <a:rPr lang="en-US" sz="1050" dirty="0">
                <a:solidFill>
                  <a:srgbClr val="14171A"/>
                </a:solidFill>
                <a:latin typeface="Courier New" pitchFamily="34" charset="0"/>
                <a:ea typeface="Courier New" pitchFamily="34" charset="-122"/>
                <a:cs typeface="Courier New" pitchFamily="34" charset="-120"/>
              </a:rPr>
              <a:t>npm run test:a11y</a:t>
            </a:r>
            <a:endParaRPr lang="en-US" sz="1050" dirty="0"/>
          </a:p>
        </p:txBody>
      </p:sp>
      <p:sp>
        <p:nvSpPr>
          <p:cNvPr id="20" name="Text 18"/>
          <p:cNvSpPr txBox="1"/>
          <p:nvPr/>
        </p:nvSpPr>
        <p:spPr>
          <a:xfrm>
            <a:off x="777240" y="4005072"/>
            <a:ext cx="914400" cy="329184"/>
          </a:xfrm>
          <a:prstGeom prst="rect">
            <a:avLst/>
          </a:prstGeom>
          <a:noFill/>
          <a:ln/>
        </p:spPr>
        <p:txBody>
          <a:bodyPr wrap="square" lIns="0" tIns="0" rIns="0" bIns="0" rtlCol="0" anchor="ctr"/>
          <a:lstStyle/>
          <a:p>
            <a:pPr algn="r" indent="0" marL="0">
              <a:buNone/>
            </a:pPr>
            <a:r>
              <a:rPr lang="en-US" sz="1600" b="1" dirty="0">
                <a:solidFill>
                  <a:srgbClr val="9A6608"/>
                </a:solidFill>
                <a:latin typeface="Courier New" pitchFamily="34" charset="0"/>
                <a:ea typeface="Courier New" pitchFamily="34" charset="-122"/>
                <a:cs typeface="Courier New" pitchFamily="34" charset="-120"/>
              </a:rPr>
              <a:t>21</a:t>
            </a:r>
            <a:endParaRPr lang="en-US" sz="1600" dirty="0"/>
          </a:p>
        </p:txBody>
      </p:sp>
      <p:sp>
        <p:nvSpPr>
          <p:cNvPr id="21" name="Text 19"/>
          <p:cNvSpPr txBox="1"/>
          <p:nvPr/>
        </p:nvSpPr>
        <p:spPr>
          <a:xfrm>
            <a:off x="1874520" y="4059936"/>
            <a:ext cx="3840480" cy="292608"/>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responsible AI checks</a:t>
            </a:r>
            <a:endParaRPr lang="en-US" sz="1200" dirty="0"/>
          </a:p>
        </p:txBody>
      </p:sp>
      <p:sp>
        <p:nvSpPr>
          <p:cNvPr id="22" name="Shape 20"/>
          <p:cNvSpPr/>
          <p:nvPr/>
        </p:nvSpPr>
        <p:spPr>
          <a:xfrm>
            <a:off x="5806440" y="3950208"/>
            <a:ext cx="5577840" cy="438912"/>
          </a:xfrm>
          <a:prstGeom prst="rect">
            <a:avLst/>
          </a:prstGeom>
          <a:solidFill>
            <a:srgbClr val="E7E3D8"/>
          </a:solidFill>
          <a:ln w="12700">
            <a:solidFill>
              <a:srgbClr val="D3CEC0"/>
            </a:solidFill>
            <a:prstDash val="solid"/>
          </a:ln>
        </p:spPr>
      </p:sp>
      <p:sp>
        <p:nvSpPr>
          <p:cNvPr id="23" name="Text 21"/>
          <p:cNvSpPr txBox="1"/>
          <p:nvPr/>
        </p:nvSpPr>
        <p:spPr>
          <a:xfrm>
            <a:off x="5961888" y="4087368"/>
            <a:ext cx="5303520" cy="274320"/>
          </a:xfrm>
          <a:prstGeom prst="rect">
            <a:avLst/>
          </a:prstGeom>
          <a:noFill/>
          <a:ln/>
        </p:spPr>
        <p:txBody>
          <a:bodyPr wrap="square" lIns="0" tIns="0" rIns="0" bIns="0" rtlCol="0" anchor="ctr"/>
          <a:lstStyle/>
          <a:p>
            <a:pPr indent="0" marL="0">
              <a:buNone/>
            </a:pPr>
            <a:r>
              <a:rPr lang="en-US" sz="1050" dirty="0">
                <a:solidFill>
                  <a:srgbClr val="14171A"/>
                </a:solidFill>
                <a:latin typeface="Courier New" pitchFamily="34" charset="0"/>
                <a:ea typeface="Courier New" pitchFamily="34" charset="-122"/>
                <a:cs typeface="Courier New" pitchFamily="34" charset="-120"/>
              </a:rPr>
              <a:t>python3 tests/rai_self_check.py</a:t>
            </a:r>
            <a:endParaRPr lang="en-US" sz="1050" dirty="0"/>
          </a:p>
        </p:txBody>
      </p:sp>
      <p:sp>
        <p:nvSpPr>
          <p:cNvPr id="24" name="Text 22"/>
          <p:cNvSpPr txBox="1"/>
          <p:nvPr/>
        </p:nvSpPr>
        <p:spPr>
          <a:xfrm>
            <a:off x="777240" y="4553712"/>
            <a:ext cx="914400" cy="329184"/>
          </a:xfrm>
          <a:prstGeom prst="rect">
            <a:avLst/>
          </a:prstGeom>
          <a:noFill/>
          <a:ln/>
        </p:spPr>
        <p:txBody>
          <a:bodyPr wrap="square" lIns="0" tIns="0" rIns="0" bIns="0" rtlCol="0" anchor="ctr"/>
          <a:lstStyle/>
          <a:p>
            <a:pPr algn="r" indent="0" marL="0">
              <a:buNone/>
            </a:pPr>
            <a:r>
              <a:rPr lang="en-US" sz="1600" b="1" dirty="0">
                <a:solidFill>
                  <a:srgbClr val="9A6608"/>
                </a:solidFill>
                <a:latin typeface="Courier New" pitchFamily="34" charset="0"/>
                <a:ea typeface="Courier New" pitchFamily="34" charset="-122"/>
                <a:cs typeface="Courier New" pitchFamily="34" charset="-120"/>
              </a:rPr>
              <a:t>28</a:t>
            </a:r>
            <a:endParaRPr lang="en-US" sz="1600" dirty="0"/>
          </a:p>
        </p:txBody>
      </p:sp>
      <p:sp>
        <p:nvSpPr>
          <p:cNvPr id="25" name="Text 23"/>
          <p:cNvSpPr txBox="1"/>
          <p:nvPr/>
        </p:nvSpPr>
        <p:spPr>
          <a:xfrm>
            <a:off x="1874520" y="4608576"/>
            <a:ext cx="3840480" cy="292608"/>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contrast checks, both themes</a:t>
            </a:r>
            <a:endParaRPr lang="en-US" sz="1200" dirty="0"/>
          </a:p>
        </p:txBody>
      </p:sp>
      <p:sp>
        <p:nvSpPr>
          <p:cNvPr id="26" name="Shape 24"/>
          <p:cNvSpPr/>
          <p:nvPr/>
        </p:nvSpPr>
        <p:spPr>
          <a:xfrm>
            <a:off x="5806440" y="4498848"/>
            <a:ext cx="5577840" cy="438912"/>
          </a:xfrm>
          <a:prstGeom prst="rect">
            <a:avLst/>
          </a:prstGeom>
          <a:solidFill>
            <a:srgbClr val="E7E3D8"/>
          </a:solidFill>
          <a:ln w="12700">
            <a:solidFill>
              <a:srgbClr val="D3CEC0"/>
            </a:solidFill>
            <a:prstDash val="solid"/>
          </a:ln>
        </p:spPr>
      </p:sp>
      <p:sp>
        <p:nvSpPr>
          <p:cNvPr id="27" name="Text 25"/>
          <p:cNvSpPr txBox="1"/>
          <p:nvPr/>
        </p:nvSpPr>
        <p:spPr>
          <a:xfrm>
            <a:off x="5961888" y="4636008"/>
            <a:ext cx="5303520" cy="274320"/>
          </a:xfrm>
          <a:prstGeom prst="rect">
            <a:avLst/>
          </a:prstGeom>
          <a:noFill/>
          <a:ln/>
        </p:spPr>
        <p:txBody>
          <a:bodyPr wrap="square" lIns="0" tIns="0" rIns="0" bIns="0" rtlCol="0" anchor="ctr"/>
          <a:lstStyle/>
          <a:p>
            <a:pPr indent="0" marL="0">
              <a:buNone/>
            </a:pPr>
            <a:r>
              <a:rPr lang="en-US" sz="1050" dirty="0">
                <a:solidFill>
                  <a:srgbClr val="14171A"/>
                </a:solidFill>
                <a:latin typeface="Courier New" pitchFamily="34" charset="0"/>
                <a:ea typeface="Courier New" pitchFamily="34" charset="-122"/>
                <a:cs typeface="Courier New" pitchFamily="34" charset="-120"/>
              </a:rPr>
              <a:t>python3 tests/contrast_audit.py</a:t>
            </a:r>
            <a:endParaRPr lang="en-US" sz="1050" dirty="0"/>
          </a:p>
        </p:txBody>
      </p:sp>
      <p:sp>
        <p:nvSpPr>
          <p:cNvPr id="28" name="Text 26"/>
          <p:cNvSpPr txBox="1"/>
          <p:nvPr/>
        </p:nvSpPr>
        <p:spPr>
          <a:xfrm>
            <a:off x="777240" y="5102352"/>
            <a:ext cx="914400" cy="329184"/>
          </a:xfrm>
          <a:prstGeom prst="rect">
            <a:avLst/>
          </a:prstGeom>
          <a:noFill/>
          <a:ln/>
        </p:spPr>
        <p:txBody>
          <a:bodyPr wrap="square" lIns="0" tIns="0" rIns="0" bIns="0" rtlCol="0" anchor="ctr"/>
          <a:lstStyle/>
          <a:p>
            <a:pPr algn="r" indent="0" marL="0">
              <a:buNone/>
            </a:pPr>
            <a:r>
              <a:rPr lang="en-US" sz="1600" b="1" dirty="0">
                <a:solidFill>
                  <a:srgbClr val="9A6608"/>
                </a:solidFill>
                <a:latin typeface="Courier New" pitchFamily="34" charset="0"/>
                <a:ea typeface="Courier New" pitchFamily="34" charset="-122"/>
                <a:cs typeface="Courier New" pitchFamily="34" charset="-120"/>
              </a:rPr>
              <a:t>21/23</a:t>
            </a:r>
            <a:endParaRPr lang="en-US" sz="1600" dirty="0"/>
          </a:p>
        </p:txBody>
      </p:sp>
      <p:sp>
        <p:nvSpPr>
          <p:cNvPr id="29" name="Text 27"/>
          <p:cNvSpPr txBox="1"/>
          <p:nvPr/>
        </p:nvSpPr>
        <p:spPr>
          <a:xfrm>
            <a:off x="1874520" y="5157216"/>
            <a:ext cx="3840480" cy="292608"/>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adversarial assertions, deliberately not 23</a:t>
            </a:r>
            <a:endParaRPr lang="en-US" sz="1200" dirty="0"/>
          </a:p>
        </p:txBody>
      </p:sp>
      <p:sp>
        <p:nvSpPr>
          <p:cNvPr id="30" name="Shape 28"/>
          <p:cNvSpPr/>
          <p:nvPr/>
        </p:nvSpPr>
        <p:spPr>
          <a:xfrm>
            <a:off x="5806440" y="5047488"/>
            <a:ext cx="5577840" cy="438912"/>
          </a:xfrm>
          <a:prstGeom prst="rect">
            <a:avLst/>
          </a:prstGeom>
          <a:solidFill>
            <a:srgbClr val="E7E3D8"/>
          </a:solidFill>
          <a:ln w="12700">
            <a:solidFill>
              <a:srgbClr val="D3CEC0"/>
            </a:solidFill>
            <a:prstDash val="solid"/>
          </a:ln>
        </p:spPr>
      </p:sp>
      <p:sp>
        <p:nvSpPr>
          <p:cNvPr id="31" name="Text 29"/>
          <p:cNvSpPr txBox="1"/>
          <p:nvPr/>
        </p:nvSpPr>
        <p:spPr>
          <a:xfrm>
            <a:off x="5961888" y="5184648"/>
            <a:ext cx="5303520" cy="274320"/>
          </a:xfrm>
          <a:prstGeom prst="rect">
            <a:avLst/>
          </a:prstGeom>
          <a:noFill/>
          <a:ln/>
        </p:spPr>
        <p:txBody>
          <a:bodyPr wrap="square" lIns="0" tIns="0" rIns="0" bIns="0" rtlCol="0" anchor="ctr"/>
          <a:lstStyle/>
          <a:p>
            <a:pPr indent="0" marL="0">
              <a:buNone/>
            </a:pPr>
            <a:r>
              <a:rPr lang="en-US" sz="1050" dirty="0">
                <a:solidFill>
                  <a:srgbClr val="14171A"/>
                </a:solidFill>
                <a:latin typeface="Courier New" pitchFamily="34" charset="0"/>
                <a:ea typeface="Courier New" pitchFamily="34" charset="-122"/>
                <a:cs typeface="Courier New" pitchFamily="34" charset="-120"/>
              </a:rPr>
              <a:t>node tests/headless_agent_api.mjs</a:t>
            </a:r>
            <a:endParaRPr lang="en-US" sz="1050" dirty="0"/>
          </a:p>
        </p:txBody>
      </p:sp>
      <p:sp>
        <p:nvSpPr>
          <p:cNvPr id="32" name="Text 30"/>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Every figure in this deck was read from the deployed org or from the run that produced it. The commands are on this slide.</a:t>
            </a:r>
            <a:endParaRPr lang="en-US" sz="1600" dirty="0"/>
          </a:p>
        </p:txBody>
      </p:sp>
      <p:sp>
        <p:nvSpPr>
          <p:cNvPr id="33" name="Text 31"/>
          <p:cNvSpPr txBox="1"/>
          <p:nvPr/>
        </p:nvSpPr>
        <p:spPr>
          <a:xfrm>
            <a:off x="777240" y="6419088"/>
            <a:ext cx="1069848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Org 00DgK00000YIJ5SUAX   ·   Curb_Cut v7 and Curb_Cut_Desk v5, both Active   ·   github.com/parthsevak2/curb-cut</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777240" y="1691640"/>
            <a:ext cx="10332720" cy="822960"/>
          </a:xfrm>
          <a:prstGeom prst="rect">
            <a:avLst/>
          </a:prstGeom>
          <a:noFill/>
          <a:ln/>
        </p:spPr>
        <p:txBody>
          <a:bodyPr wrap="square" lIns="0" tIns="0" rIns="0" bIns="0" rtlCol="0" anchor="ctr"/>
          <a:lstStyle/>
          <a:p>
            <a:pPr indent="0" marL="0">
              <a:buNone/>
            </a:pPr>
            <a:r>
              <a:rPr lang="en-US" sz="3800" b="1" dirty="0">
                <a:solidFill>
                  <a:srgbClr val="F7F5EF"/>
                </a:solidFill>
                <a:latin typeface="Cambria" pitchFamily="34" charset="0"/>
                <a:ea typeface="Cambria" pitchFamily="34" charset="-122"/>
                <a:cs typeface="Cambria" pitchFamily="34" charset="-120"/>
              </a:rPr>
              <a:t>You already know what it costs to ask.</a:t>
            </a:r>
            <a:endParaRPr lang="en-US" sz="3800" dirty="0"/>
          </a:p>
        </p:txBody>
      </p:sp>
      <p:sp>
        <p:nvSpPr>
          <p:cNvPr id="3" name="Text 1"/>
          <p:cNvSpPr txBox="1"/>
          <p:nvPr/>
        </p:nvSpPr>
        <p:spPr>
          <a:xfrm>
            <a:off x="777240" y="2697480"/>
            <a:ext cx="9875520" cy="914400"/>
          </a:xfrm>
          <a:prstGeom prst="rect">
            <a:avLst/>
          </a:prstGeom>
          <a:noFill/>
          <a:ln/>
        </p:spPr>
        <p:txBody>
          <a:bodyPr wrap="square" lIns="0" tIns="0" rIns="0" bIns="0" rtlCol="0" anchor="ctr"/>
          <a:lstStyle/>
          <a:p>
            <a:pPr indent="0" marL="0">
              <a:buNone/>
            </a:pPr>
            <a:r>
              <a:rPr lang="en-US" sz="1800" dirty="0">
                <a:solidFill>
                  <a:srgbClr val="D8DAD6"/>
                </a:solidFill>
                <a:latin typeface="Calibri" pitchFamily="34" charset="0"/>
                <a:ea typeface="Calibri" pitchFamily="34" charset="-122"/>
                <a:cs typeface="Calibri" pitchFamily="34" charset="-120"/>
              </a:rPr>
              <a:t>You felt it in the small version, over a chair or an hour. Nobody should have to prove anything to get those, and nobody should have to spend themselves asking.</a:t>
            </a:r>
            <a:endParaRPr lang="en-US" sz="1800" dirty="0"/>
          </a:p>
        </p:txBody>
      </p:sp>
      <p:sp>
        <p:nvSpPr>
          <p:cNvPr id="4" name="Text 2"/>
          <p:cNvSpPr txBox="1"/>
          <p:nvPr/>
        </p:nvSpPr>
        <p:spPr>
          <a:xfrm>
            <a:off x="777240" y="3840480"/>
            <a:ext cx="9601200" cy="640080"/>
          </a:xfrm>
          <a:prstGeom prst="rect">
            <a:avLst/>
          </a:prstGeom>
          <a:noFill/>
          <a:ln/>
        </p:spPr>
        <p:txBody>
          <a:bodyPr wrap="square" lIns="0" tIns="0" rIns="0" bIns="0" rtlCol="0" anchor="ctr"/>
          <a:lstStyle/>
          <a:p>
            <a:pPr indent="0" marL="0">
              <a:buNone/>
            </a:pPr>
            <a:r>
              <a:rPr lang="en-US" sz="2500" i="1" dirty="0">
                <a:solidFill>
                  <a:srgbClr val="E8C87A"/>
                </a:solidFill>
                <a:latin typeface="Cambria" pitchFamily="34" charset="0"/>
                <a:ea typeface="Cambria" pitchFamily="34" charset="-122"/>
                <a:cs typeface="Cambria" pitchFamily="34" charset="-120"/>
              </a:rPr>
              <a:t>They only have to be able to ask.</a:t>
            </a:r>
            <a:endParaRPr lang="en-US" sz="2500" dirty="0"/>
          </a:p>
        </p:txBody>
      </p:sp>
      <p:sp>
        <p:nvSpPr>
          <p:cNvPr id="5" name="Text 3"/>
          <p:cNvSpPr txBox="1"/>
          <p:nvPr/>
        </p:nvSpPr>
        <p:spPr>
          <a:xfrm>
            <a:off x="777240" y="4846320"/>
            <a:ext cx="5486400" cy="320040"/>
          </a:xfrm>
          <a:prstGeom prst="rect">
            <a:avLst/>
          </a:prstGeom>
          <a:noFill/>
          <a:ln/>
        </p:spPr>
        <p:txBody>
          <a:bodyPr wrap="square" lIns="0" tIns="0" rIns="0" bIns="0" rtlCol="0" anchor="ctr"/>
          <a:lstStyle/>
          <a:p>
            <a:pPr indent="0" marL="0">
              <a:buNone/>
            </a:pPr>
            <a:r>
              <a:rPr lang="en-US" sz="1150" dirty="0">
                <a:solidFill>
                  <a:srgbClr val="A9B0B6"/>
                </a:solidFill>
                <a:latin typeface="Courier New" pitchFamily="34" charset="0"/>
                <a:ea typeface="Courier New" pitchFamily="34" charset="-122"/>
                <a:cs typeface="Courier New" pitchFamily="34" charset="-120"/>
              </a:rPr>
              <a:t>Verify anything in this deck:</a:t>
            </a:r>
            <a:endParaRPr lang="en-US" sz="1150" dirty="0"/>
          </a:p>
        </p:txBody>
      </p:sp>
      <p:sp>
        <p:nvSpPr>
          <p:cNvPr id="6" name="Text 4"/>
          <p:cNvSpPr txBox="1"/>
          <p:nvPr/>
        </p:nvSpPr>
        <p:spPr>
          <a:xfrm>
            <a:off x="777240" y="5138928"/>
            <a:ext cx="7772400" cy="914400"/>
          </a:xfrm>
          <a:prstGeom prst="rect">
            <a:avLst/>
          </a:prstGeom>
          <a:noFill/>
          <a:ln/>
        </p:spPr>
        <p:txBody>
          <a:bodyPr wrap="square" lIns="0" tIns="0" rIns="0" bIns="0" rtlCol="0" anchor="ctr"/>
          <a:lstStyle/>
          <a:p>
            <a:pPr indent="0" marL="0">
              <a:buNone/>
            </a:pPr>
            <a:r>
              <a:rPr lang="en-US" sz="1050" dirty="0">
                <a:solidFill>
                  <a:srgbClr val="D8DAD6"/>
                </a:solidFill>
                <a:latin typeface="Courier New" pitchFamily="34" charset="0"/>
                <a:ea typeface="Courier New" pitchFamily="34" charset="-122"/>
                <a:cs typeface="Courier New" pitchFamily="34" charset="-120"/>
              </a:rPr>
              <a:t>python3 tests/invariants.py          517 checks</a:t>
            </a:r>
            <a:endParaRPr lang="en-US" sz="1050" dirty="0"/>
          </a:p>
          <a:p>
            <a:pPr indent="0" marL="0">
              <a:buNone/>
            </a:pPr>
            <a:r>
              <a:rPr lang="en-US" sz="1050" dirty="0">
                <a:solidFill>
                  <a:srgbClr val="D8DAD6"/>
                </a:solidFill>
                <a:latin typeface="Courier New" pitchFamily="34" charset="0"/>
                <a:ea typeface="Courier New" pitchFamily="34" charset="-122"/>
                <a:cs typeface="Courier New" pitchFamily="34" charset="-120"/>
              </a:rPr>
              <a:t>sf apex run test -l RunLocalTests     129 tests</a:t>
            </a:r>
            <a:endParaRPr lang="en-US" sz="1050" dirty="0"/>
          </a:p>
          <a:p>
            <a:pPr indent="0" marL="0">
              <a:buNone/>
            </a:pPr>
            <a:r>
              <a:rPr lang="en-US" sz="1050" dirty="0">
                <a:solidFill>
                  <a:srgbClr val="D8DAD6"/>
                </a:solidFill>
                <a:latin typeface="Courier New" pitchFamily="34" charset="0"/>
                <a:ea typeface="Courier New" pitchFamily="34" charset="-122"/>
                <a:cs typeface="Courier New" pitchFamily="34" charset="-120"/>
              </a:rPr>
              <a:t>python3 tests/a11y_audit.py          527 checks, against the live pages</a:t>
            </a:r>
            <a:endParaRPr lang="en-US" sz="1050" dirty="0"/>
          </a:p>
        </p:txBody>
      </p:sp>
      <p:sp>
        <p:nvSpPr>
          <p:cNvPr id="7" name="Text 5"/>
          <p:cNvSpPr txBox="1"/>
          <p:nvPr/>
        </p:nvSpPr>
        <p:spPr>
          <a:xfrm>
            <a:off x="777240" y="6172200"/>
            <a:ext cx="10058400" cy="320040"/>
          </a:xfrm>
          <a:prstGeom prst="rect">
            <a:avLst/>
          </a:prstGeom>
          <a:noFill/>
          <a:ln/>
        </p:spPr>
        <p:txBody>
          <a:bodyPr wrap="square" lIns="0" tIns="0" rIns="0" bIns="0" rtlCol="0" anchor="ctr"/>
          <a:lstStyle/>
          <a:p>
            <a:pPr indent="0" marL="0">
              <a:buNone/>
            </a:pPr>
            <a:r>
              <a:rPr lang="en-US" sz="1150" dirty="0">
                <a:solidFill>
                  <a:srgbClr val="A9B0B6"/>
                </a:solidFill>
                <a:latin typeface="Courier New" pitchFamily="34" charset="0"/>
                <a:ea typeface="Courier New" pitchFamily="34" charset="-122"/>
                <a:cs typeface="Courier New" pitchFamily="34" charset="-120"/>
              </a:rPr>
              <a:t>orgfarm-7a04c62cb9.my.salesforce-sites.com/curbcut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Curb Cut</dc:title>
  <dc:subject>PptxGenJS Presentation</dc:subject>
  <dc:creator>Parth Sevak</dc:creator>
  <cp:lastModifiedBy>Parth Sevak</cp:lastModifiedBy>
  <cp:revision>1</cp:revision>
  <dcterms:created xsi:type="dcterms:W3CDTF">2026-09-20T01:37:29Z</dcterms:created>
  <dcterms:modified xsi:type="dcterms:W3CDTF">2026-09-20T01:37:29Z</dcterms:modified>
</cp:coreProperties>
</file>