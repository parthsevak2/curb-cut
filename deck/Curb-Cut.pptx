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Don't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Don't rush it and don't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wasn't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about one in four adults, that calculation isn't occasional. It's a standing condition of the job, and the price of getting it wrong isn't an awkward moment. It's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doesn't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isn't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itself, but the form, the login, the policy nobody can find, and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shouldn't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won't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haven't done this, and what it needs from the ones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hasn't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 in 4</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 adults</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CDC definition</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CDC; Statistics Canada 27%,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 2025</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usually work part time, against 17%</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employed people with a disability, 2025</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3.5%</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told their employer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median across 655 large employers, 2025</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Disability:IN 2025 index</a:t>
            </a:r>
            <a:endParaRPr lang="en-US" sz="950" dirty="0"/>
          </a:p>
        </p:txBody>
      </p:sp>
      <p:sp>
        <p:nvSpPr>
          <p:cNvPr id="24" name="Text 22"/>
          <p:cNvSpPr txBox="1"/>
          <p:nvPr/>
        </p:nvSpPr>
        <p:spPr>
          <a:xfrm>
            <a:off x="777240" y="4297680"/>
            <a:ext cx="10698480" cy="5486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people this affects are more likely to be paid by the hour, to work part time, and to be in service, production and transport jobs. By 2026, 98% of participating employers report flexible or remote accommodations; the latest self-identification rate, 2025, did not rise.</a:t>
            </a:r>
            <a:endParaRPr lang="en-US" sz="12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cdc.gov  |  bls.gov People with a Disability 2025, released 3 March 2026  |  disabilityin.org 2025 and 2026 Disability Index  |  statcan.gc.ca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person asking pays nothing. The employer or a deployer group runs it.</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Hourly, shift and minimum-wage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nearly twice as likely to be part time; no work email, no desk, no HR office on the floor</a:t>
            </a:r>
            <a:endParaRPr lang="en-US" sz="1200" dirty="0"/>
          </a:p>
        </p:txBody>
      </p:sp>
      <p:sp>
        <p:nvSpPr>
          <p:cNvPr id="8" name="Shape 6"/>
          <p:cNvSpPr/>
          <p:nvPr/>
        </p:nvSpPr>
        <p:spPr>
          <a:xfrm>
            <a:off x="777240" y="292608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83464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10" name="Text 8"/>
          <p:cNvSpPr txBox="1"/>
          <p:nvPr/>
        </p:nvSpPr>
        <p:spPr>
          <a:xfrm>
            <a:off x="5212080" y="286207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11" name="Shape 9"/>
          <p:cNvSpPr/>
          <p:nvPr/>
        </p:nvSpPr>
        <p:spPr>
          <a:xfrm>
            <a:off x="777240" y="336499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27355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3" name="Text 11"/>
          <p:cNvSpPr txBox="1"/>
          <p:nvPr/>
        </p:nvSpPr>
        <p:spPr>
          <a:xfrm>
            <a:off x="5212080" y="330098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4" name="Shape 12"/>
          <p:cNvSpPr/>
          <p:nvPr/>
        </p:nvSpPr>
        <p:spPr>
          <a:xfrm>
            <a:off x="777240" y="380390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71246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6" name="Text 14"/>
          <p:cNvSpPr txBox="1"/>
          <p:nvPr/>
        </p:nvSpPr>
        <p:spPr>
          <a:xfrm>
            <a:off x="5212080" y="373989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7" name="Shape 15"/>
          <p:cNvSpPr/>
          <p:nvPr/>
        </p:nvSpPr>
        <p:spPr>
          <a:xfrm>
            <a:off x="777240" y="4242816"/>
            <a:ext cx="54864" cy="365760"/>
          </a:xfrm>
          <a:prstGeom prst="rect">
            <a:avLst/>
          </a:prstGeom>
          <a:solidFill>
            <a:srgbClr val="C9A227"/>
          </a:solidFill>
          <a:ln w="12700">
            <a:solidFill>
              <a:srgbClr val="C9A227"/>
            </a:solidFill>
            <a:prstDash val="solid"/>
          </a:ln>
        </p:spPr>
      </p:sp>
      <p:sp>
        <p:nvSpPr>
          <p:cNvPr id="18" name="Text 16"/>
          <p:cNvSpPr txBox="1"/>
          <p:nvPr/>
        </p:nvSpPr>
        <p:spPr>
          <a:xfrm>
            <a:off x="1051560" y="4151376"/>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9" name="Text 17"/>
          <p:cNvSpPr txBox="1"/>
          <p:nvPr/>
        </p:nvSpPr>
        <p:spPr>
          <a:xfrm>
            <a:off x="5212080" y="4178808"/>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20" name="Text 18"/>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21" name="Text 19"/>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22" name="Text 20"/>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3" name="Text 21"/>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4" name="Text 22"/>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5" name="Text 23"/>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6" name="Text 24"/>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7" name="Text 25"/>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Employers aren't short of money for this. They're short of a process, and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The data layer has no diagnosis field.</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TELEMETRY</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It can say it's failing somebody, without ever knowing what they said.</a:t>
            </a:r>
            <a:endParaRPr lang="en-US" sz="3300" dirty="0"/>
          </a:p>
        </p:txBody>
      </p:sp>
      <p:sp>
        <p:nvSpPr>
          <p:cNvPr id="4" name="Shape 2"/>
          <p:cNvSpPr/>
          <p:nvPr/>
        </p:nvSpPr>
        <p:spPr>
          <a:xfrm>
            <a:off x="777240" y="1810512"/>
            <a:ext cx="5166360" cy="2651760"/>
          </a:xfrm>
          <a:prstGeom prst="roundRect">
            <a:avLst>
              <a:gd name="adj" fmla="val 1724"/>
            </a:avLst>
          </a:prstGeom>
          <a:solidFill>
            <a:srgbClr val="FFFFFF"/>
          </a:solidFill>
          <a:ln w="19050">
            <a:solidFill>
              <a:srgbClr val="1F5546"/>
            </a:solidFill>
            <a:prstDash val="solid"/>
          </a:ln>
        </p:spPr>
      </p:sp>
      <p:sp>
        <p:nvSpPr>
          <p:cNvPr id="5" name="Text 3"/>
          <p:cNvSpPr txBox="1"/>
          <p:nvPr/>
        </p:nvSpPr>
        <p:spPr>
          <a:xfrm>
            <a:off x="1024128" y="1975104"/>
            <a:ext cx="4663440" cy="310896"/>
          </a:xfrm>
          <a:prstGeom prst="rect">
            <a:avLst/>
          </a:prstGeom>
          <a:noFill/>
          <a:ln/>
        </p:spPr>
        <p:txBody>
          <a:bodyPr wrap="square" lIns="0" tIns="0" rIns="0" bIns="0" rtlCol="0" anchor="ctr"/>
          <a:lstStyle/>
          <a:p>
            <a:pPr indent="0" marL="0">
              <a:buNone/>
            </a:pPr>
            <a:r>
              <a:rPr lang="en-US" sz="1100" b="1" spc="120" kern="0" dirty="0">
                <a:solidFill>
                  <a:srgbClr val="1F5546"/>
                </a:solidFill>
                <a:latin typeface="Courier New" pitchFamily="34" charset="0"/>
                <a:ea typeface="Courier New" pitchFamily="34" charset="-122"/>
                <a:cs typeface="Courier New" pitchFamily="34" charset="-120"/>
              </a:rPr>
              <a:t>WHAT THE LEDGER HOLDS</a:t>
            </a:r>
            <a:endParaRPr lang="en-US" sz="1100" dirty="0"/>
          </a:p>
        </p:txBody>
      </p:sp>
      <p:sp>
        <p:nvSpPr>
          <p:cNvPr id="6" name="Text 4"/>
          <p:cNvSpPr txBox="1"/>
          <p:nvPr/>
        </p:nvSpPr>
        <p:spPr>
          <a:xfrm>
            <a:off x="102412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When the attempt was made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Which channel, which direction</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Whether it arrived, and why not</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salted hash of the handle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How much of today’s quota is spent</a:t>
            </a:r>
            <a:endParaRPr lang="en-US" sz="1250" dirty="0"/>
          </a:p>
        </p:txBody>
      </p:sp>
      <p:sp>
        <p:nvSpPr>
          <p:cNvPr id="7" name="Shape 5"/>
          <p:cNvSpPr/>
          <p:nvPr/>
        </p:nvSpPr>
        <p:spPr>
          <a:xfrm>
            <a:off x="6217920" y="1810512"/>
            <a:ext cx="5166360" cy="2651760"/>
          </a:xfrm>
          <a:prstGeom prst="roundRect">
            <a:avLst>
              <a:gd name="adj" fmla="val 1724"/>
            </a:avLst>
          </a:prstGeom>
          <a:solidFill>
            <a:srgbClr val="FFFFFF"/>
          </a:solidFill>
          <a:ln w="19050">
            <a:solidFill>
              <a:srgbClr val="8A2F24"/>
            </a:solidFill>
            <a:prstDash val="solid"/>
          </a:ln>
        </p:spPr>
      </p:sp>
      <p:sp>
        <p:nvSpPr>
          <p:cNvPr id="8" name="Text 6"/>
          <p:cNvSpPr txBox="1"/>
          <p:nvPr/>
        </p:nvSpPr>
        <p:spPr>
          <a:xfrm>
            <a:off x="6464808" y="1975104"/>
            <a:ext cx="4663440" cy="310896"/>
          </a:xfrm>
          <a:prstGeom prst="rect">
            <a:avLst/>
          </a:prstGeom>
          <a:noFill/>
          <a:ln/>
        </p:spPr>
        <p:txBody>
          <a:bodyPr wrap="square" lIns="0" tIns="0" rIns="0" bIns="0" rtlCol="0" anchor="ctr"/>
          <a:lstStyle/>
          <a:p>
            <a:pPr indent="0" marL="0">
              <a:buNone/>
            </a:pPr>
            <a:r>
              <a:rPr lang="en-US" sz="1100" b="1" spc="120" kern="0" dirty="0">
                <a:solidFill>
                  <a:srgbClr val="8A2F24"/>
                </a:solidFill>
                <a:latin typeface="Courier New" pitchFamily="34" charset="0"/>
                <a:ea typeface="Courier New" pitchFamily="34" charset="-122"/>
                <a:cs typeface="Courier New" pitchFamily="34" charset="-120"/>
              </a:rPr>
              <a:t>WHAT IT CANNOT HOLD</a:t>
            </a:r>
            <a:endParaRPr lang="en-US" sz="1100" dirty="0"/>
          </a:p>
        </p:txBody>
      </p:sp>
      <p:sp>
        <p:nvSpPr>
          <p:cNvPr id="9" name="Text 7"/>
          <p:cNvSpPr txBox="1"/>
          <p:nvPr/>
        </p:nvSpPr>
        <p:spPr>
          <a:xfrm>
            <a:off x="646480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The message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raw phone number or address</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name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Anything about a body</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reason for turning a disclosure off</a:t>
            </a:r>
            <a:endParaRPr lang="en-US" sz="1250" dirty="0"/>
          </a:p>
        </p:txBody>
      </p:sp>
      <p:sp>
        <p:nvSpPr>
          <p:cNvPr id="10" name="Text 8"/>
          <p:cNvSpPr txBox="1"/>
          <p:nvPr/>
        </p:nvSpPr>
        <p:spPr>
          <a:xfrm>
            <a:off x="777240" y="4645152"/>
            <a:ext cx="10607040" cy="822960"/>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Six classes write to it. None can write a body, because there's no field for one. Five reports and one dashboard sit on top of it for the person on duty: who is waiting, what didn't arrive, who needs an interpreter.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ledger records delivery, never the message, so an employer can't use it to read a conversation.</a:t>
            </a:r>
            <a:endParaRPr lang="en-US" sz="1600" dirty="0"/>
          </a:p>
        </p:txBody>
      </p:sp>
      <p:sp>
        <p:nvSpPr>
          <p:cNvPr id="12" name="Text 10"/>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Message_Log__c   ·   9 fields, no body   ·   How_People_Reach_Us, Messages_That_Did_Not_Arrive, Who_Is_Waiting, Needs_An_Interpreter, Awaiting_A_Decision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are Apex. The model only phrases the reply.</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via relay</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won't send. Agreeing in writing days later isn't the same as choosing in the moment.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code alphabet leaves out O 0 I 1 S 5, so it survives a cracked screen or being read aloud.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It isn't encrypted or locked behind a permission. It simply isn't there.</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don't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"isn't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Five checks now fail the build if any of these comes back: advertised-keyword-is-routed, kindness, privacy-page-does-not-overclaim, redaction-spares-identity-words, adversarial-silence-is-not-success.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couldn't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can't inspect media. So it couldn't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axe returned incomplete on colour contrast because jsdom has no canvas. We measured contrast ourselves instead: 28 pairs, all passing.</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couldn't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don't.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--selftest breaks five checks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doesn't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it's deterministic, it's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128 Apex   |   517 invariants   |   690 accessibility   |   131 Sa11y   |   28 contrast   |   16 reading level   |   all passing, every build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isn't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didn't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and voice run through a relay on a laptop.</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number answers through a small relay beside the org. When it's down, the number goes quiet rather than replying wrongly. Hosting it is the first real deployment task.</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Slack, text and voice all live on one laptop.</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Slack app is installed in a real workspace and answers over Socket Mode, but it runs beside the relay. When the laptop sleeps, three channels go quiet at once.</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score 21 of 23. The two failures are named above, with the transcripts.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hasn't happened, and why that is over.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haven't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isn't safer,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started from the diagnosis.</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have a field for it, and the newer accommodation platforms hold it on the employee's behalf. Building one with no field at all meant building something new.</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was malice, and each one was a reason. From today, none of them is an excuse, because the thing exists, it's open, and it costs nothing to try.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Open to any organisation. Here is what it needs.</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MIT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it needs to work</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aren't asking for a case study or a logo. Those five things are what actually makes an accommodation arrive, and an organisation unwilling to do them wouldn't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An organisation that runs this will find that out on its own data, and then nobody gets to say it was the money.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30% part time</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 data, released March 2026</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 told their employer, 2025</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2025 index, 655 employer submissions; Coqual found 3.2% among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98% report flexible or remote accommodations</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2026 index, 421 organisations</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Don't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517</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128</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690</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in this deck was read from the deployed org or from the run that produced it. The commands are on this slide.</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517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128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527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2026-09-08T14:51:19Z</dcterms:created>
  <dcterms:modified xsi:type="dcterms:W3CDTF">2026-09-08T14:51:19Z</dcterms:modified>
</cp:coreProperties>
</file>