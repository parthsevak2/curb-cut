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about one in four adults,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it needs from the ones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 in 4</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 adults</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CDC definition</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CDC; Statistics Canada 27%,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 2025</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usually work part time, against 17%</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employed people with a disability, 2025</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3.5%</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told their employer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median across 655 large employers, 2025</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Disability:IN 2025 index</a:t>
            </a:r>
            <a:endParaRPr lang="en-US" sz="950" dirty="0"/>
          </a:p>
        </p:txBody>
      </p:sp>
      <p:sp>
        <p:nvSpPr>
          <p:cNvPr id="24" name="Text 22"/>
          <p:cNvSpPr txBox="1"/>
          <p:nvPr/>
        </p:nvSpPr>
        <p:spPr>
          <a:xfrm>
            <a:off x="777240" y="4297680"/>
            <a:ext cx="10698480" cy="5486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people this affects are more likely to be paid by the hour, to work part time, and to be in service, production and transport jobs. By 2026, 98% of participating employers report flexible or remote accommodations; the latest self-identification rate, 2025, did not rise.</a:t>
            </a:r>
            <a:endParaRPr lang="en-US" sz="12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cdc.gov  |  bls.gov People with a Disability 2025, released 3 March 2026  |  disabilityin.org 2025 and 2026 Disability Index  |  statcan.gc.ca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person asking pays nothing. The employer or a deployer group runs it.</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Hourly, shift and minimum-wage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nearly twice as likely to be part time; no work email, no desk, no HR office on the floor</a:t>
            </a:r>
            <a:endParaRPr lang="en-US" sz="1200" dirty="0"/>
          </a:p>
        </p:txBody>
      </p:sp>
      <p:sp>
        <p:nvSpPr>
          <p:cNvPr id="8" name="Shape 6"/>
          <p:cNvSpPr/>
          <p:nvPr/>
        </p:nvSpPr>
        <p:spPr>
          <a:xfrm>
            <a:off x="777240" y="292608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83464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10" name="Text 8"/>
          <p:cNvSpPr txBox="1"/>
          <p:nvPr/>
        </p:nvSpPr>
        <p:spPr>
          <a:xfrm>
            <a:off x="5212080" y="286207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11" name="Shape 9"/>
          <p:cNvSpPr/>
          <p:nvPr/>
        </p:nvSpPr>
        <p:spPr>
          <a:xfrm>
            <a:off x="777240" y="336499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27355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3" name="Text 11"/>
          <p:cNvSpPr txBox="1"/>
          <p:nvPr/>
        </p:nvSpPr>
        <p:spPr>
          <a:xfrm>
            <a:off x="5212080" y="330098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4" name="Shape 12"/>
          <p:cNvSpPr/>
          <p:nvPr/>
        </p:nvSpPr>
        <p:spPr>
          <a:xfrm>
            <a:off x="777240" y="380390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71246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6" name="Text 14"/>
          <p:cNvSpPr txBox="1"/>
          <p:nvPr/>
        </p:nvSpPr>
        <p:spPr>
          <a:xfrm>
            <a:off x="5212080" y="373989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7" name="Shape 15"/>
          <p:cNvSpPr/>
          <p:nvPr/>
        </p:nvSpPr>
        <p:spPr>
          <a:xfrm>
            <a:off x="777240" y="4242816"/>
            <a:ext cx="54864" cy="365760"/>
          </a:xfrm>
          <a:prstGeom prst="rect">
            <a:avLst/>
          </a:prstGeom>
          <a:solidFill>
            <a:srgbClr val="C9A227"/>
          </a:solidFill>
          <a:ln w="12700">
            <a:solidFill>
              <a:srgbClr val="C9A227"/>
            </a:solidFill>
            <a:prstDash val="solid"/>
          </a:ln>
        </p:spPr>
      </p:sp>
      <p:sp>
        <p:nvSpPr>
          <p:cNvPr id="18" name="Text 16"/>
          <p:cNvSpPr txBox="1"/>
          <p:nvPr/>
        </p:nvSpPr>
        <p:spPr>
          <a:xfrm>
            <a:off x="1051560" y="4151376"/>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9" name="Text 17"/>
          <p:cNvSpPr txBox="1"/>
          <p:nvPr/>
        </p:nvSpPr>
        <p:spPr>
          <a:xfrm>
            <a:off x="5212080" y="4178808"/>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20" name="Text 18"/>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21" name="Text 19"/>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22" name="Text 20"/>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3" name="Text 21"/>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4" name="Text 22"/>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5" name="Text 23"/>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6" name="Text 24"/>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7" name="Text 25"/>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Employers aren't short of money for this. They're short of a process, and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The data layer has no diagnosis field.</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ledger records delivery, never the message, so an employer can't use it to read a conversation.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are Apex. The model only phrases the reply.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code alphabet leaves out O 0 I 1 S 5, so it survives a cracked screen or being read aloud.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Five checks now fail the build if any of these comes back: advertised-keyword-is-routed, kindness, privacy-page-does-not-overclaim, redaction-spares-identity-words, adversarial-silence-is-not-success.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axe returned incomplete on colour contrast because jsdom has no canvas. We measured contrast ourselves instead: 28 pairs, all passing.</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--selftest breaks five checks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128 Apex   |   517 invariants   |   530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score 21 of 23. The two failures are named above, with the transcripts.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started from the diagnosis.</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have a field for it, and the newer accommodation platforms hold it on the employee's behalf. Building one with no field at all meant building something new.</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Open to any organisation. Here is what it needs.</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MIT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it needs to work</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An organisation that runs this will find that out on its own data,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30% part time</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 data, released March 2026</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 told their employer, 2025</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2025 index, 655 employer submissions; Coqual found 3.2% among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98% report flexible or remote accommodations</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2026 index, 421 organisations</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508</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127</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530</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in this deck was read from the deployed org or from the run that produced it. The commands are on this slide.</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508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128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527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2026-09-08T14:23:22Z</dcterms:created>
  <dcterms:modified xsi:type="dcterms:W3CDTF">2026-09-08T14:23:22Z</dcterms:modified>
</cp:coreProperties>
</file>